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8" r:id="rId3"/>
    <p:sldId id="372" r:id="rId4"/>
    <p:sldId id="371" r:id="rId5"/>
    <p:sldId id="370" r:id="rId6"/>
    <p:sldId id="378" r:id="rId7"/>
    <p:sldId id="335" r:id="rId8"/>
    <p:sldId id="289" r:id="rId9"/>
    <p:sldId id="299" r:id="rId10"/>
    <p:sldId id="297" r:id="rId11"/>
    <p:sldId id="364" r:id="rId12"/>
    <p:sldId id="298" r:id="rId13"/>
    <p:sldId id="300" r:id="rId14"/>
    <p:sldId id="301" r:id="rId15"/>
    <p:sldId id="288" r:id="rId16"/>
    <p:sldId id="366" r:id="rId17"/>
    <p:sldId id="365" r:id="rId18"/>
    <p:sldId id="379" r:id="rId19"/>
    <p:sldId id="302" r:id="rId20"/>
    <p:sldId id="363" r:id="rId21"/>
    <p:sldId id="295" r:id="rId22"/>
    <p:sldId id="304" r:id="rId23"/>
    <p:sldId id="287" r:id="rId24"/>
    <p:sldId id="355" r:id="rId25"/>
    <p:sldId id="357" r:id="rId26"/>
    <p:sldId id="358" r:id="rId27"/>
    <p:sldId id="374" r:id="rId28"/>
    <p:sldId id="373" r:id="rId29"/>
    <p:sldId id="380" r:id="rId30"/>
    <p:sldId id="359" r:id="rId31"/>
    <p:sldId id="375" r:id="rId32"/>
    <p:sldId id="381" r:id="rId33"/>
    <p:sldId id="360" r:id="rId34"/>
    <p:sldId id="361" r:id="rId35"/>
    <p:sldId id="377" r:id="rId36"/>
    <p:sldId id="367" r:id="rId37"/>
    <p:sldId id="362" r:id="rId38"/>
    <p:sldId id="368" r:id="rId39"/>
    <p:sldId id="369" r:id="rId40"/>
    <p:sldId id="382" r:id="rId41"/>
    <p:sldId id="309" r:id="rId42"/>
    <p:sldId id="353" r:id="rId43"/>
    <p:sldId id="338" r:id="rId44"/>
    <p:sldId id="337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4" r:id="rId60"/>
    <p:sldId id="291" r:id="rId61"/>
    <p:sldId id="292" r:id="rId62"/>
    <p:sldId id="293" r:id="rId63"/>
    <p:sldId id="259" r:id="rId64"/>
    <p:sldId id="257" r:id="rId6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7" autoAdjust="0"/>
    <p:restoredTop sz="72055" autoAdjust="0"/>
  </p:normalViewPr>
  <p:slideViewPr>
    <p:cSldViewPr snapToGrid="0" showGuides="1">
      <p:cViewPr varScale="1">
        <p:scale>
          <a:sx n="90" d="100"/>
          <a:sy n="90" d="100"/>
        </p:scale>
        <p:origin x="2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45B35-5990-4A22-9246-3EAB55A12994}" type="datetimeFigureOut">
              <a:rPr lang="da-DK" smtClean="0"/>
              <a:t>23.09.2026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AB761-37ED-4EFA-99FC-D346B55B115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390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Triangle" TargetMode="External"/><Relationship Id="rId13" Type="http://schemas.openxmlformats.org/officeDocument/2006/relationships/hyperlink" Target="https://en.wikipedia.org/wiki/Dipstick" TargetMode="External"/><Relationship Id="rId18" Type="http://schemas.openxmlformats.org/officeDocument/2006/relationships/hyperlink" Target="https://en.wikipedia.org/wiki/Rachelle_Beinart" TargetMode="External"/><Relationship Id="rId3" Type="http://schemas.openxmlformats.org/officeDocument/2006/relationships/hyperlink" Target="https://en.wikipedia.org/wiki/Dave_Thompson_(comedian)" TargetMode="External"/><Relationship Id="rId7" Type="http://schemas.openxmlformats.org/officeDocument/2006/relationships/hyperlink" Target="https://en.wikipedia.org/wiki/Terrycloth" TargetMode="External"/><Relationship Id="rId12" Type="http://schemas.openxmlformats.org/officeDocument/2006/relationships/hyperlink" Target="https://en.wikipedia.org/wiki/Teletubbies#cite_note-Zap2it_Cast-16" TargetMode="External"/><Relationship Id="rId17" Type="http://schemas.openxmlformats.org/officeDocument/2006/relationships/hyperlink" Target="https://en.wikipedia.org/wiki/Pui_Fan_Lee" TargetMode="External"/><Relationship Id="rId2" Type="http://schemas.openxmlformats.org/officeDocument/2006/relationships/slide" Target="../slides/slide20.xml"/><Relationship Id="rId16" Type="http://schemas.openxmlformats.org/officeDocument/2006/relationships/hyperlink" Target="https://en.wikipedia.org/wiki/Nikky_Smedley" TargetMode="External"/><Relationship Id="rId20" Type="http://schemas.openxmlformats.org/officeDocument/2006/relationships/hyperlink" Target="https://en.wikipedia.org/wiki/Cantonese_people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Teletubbies#cite_note-15" TargetMode="External"/><Relationship Id="rId11" Type="http://schemas.openxmlformats.org/officeDocument/2006/relationships/hyperlink" Target="https://en.wikipedia.org/wiki/Nick_Kellington" TargetMode="External"/><Relationship Id="rId5" Type="http://schemas.openxmlformats.org/officeDocument/2006/relationships/hyperlink" Target="https://en.wikipedia.org/wiki/Jeremiah_Krage" TargetMode="External"/><Relationship Id="rId15" Type="http://schemas.openxmlformats.org/officeDocument/2006/relationships/hyperlink" Target="https://en.wikipedia.org/wiki/Teletubbies#cite_note-16things-17" TargetMode="External"/><Relationship Id="rId10" Type="http://schemas.openxmlformats.org/officeDocument/2006/relationships/hyperlink" Target="https://en.wikipedia.org/wiki/John_Simmit" TargetMode="External"/><Relationship Id="rId19" Type="http://schemas.openxmlformats.org/officeDocument/2006/relationships/hyperlink" Target="https://en.wikipedia.org/wiki/Soap_bubble" TargetMode="External"/><Relationship Id="rId4" Type="http://schemas.openxmlformats.org/officeDocument/2006/relationships/hyperlink" Target="https://en.wikipedia.org/wiki/Simon_Shelton" TargetMode="External"/><Relationship Id="rId9" Type="http://schemas.openxmlformats.org/officeDocument/2006/relationships/hyperlink" Target="https://en.wikipedia.org/wiki/Antenna_(radio)" TargetMode="External"/><Relationship Id="rId14" Type="http://schemas.openxmlformats.org/officeDocument/2006/relationships/hyperlink" Target="https://en.wikipedia.org/wiki/Black_people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286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92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For PDF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1182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4044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5628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629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2812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790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0711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05C8-C845-643E-3A3B-F4DBFC6A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75138-DFBB-F527-FC01-F8814A53C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30F9F-66A2-F08B-BF59-FDD6853B8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53000-9EF6-07D8-3A71-CD0691EFB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1504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C6B3-F8BB-694C-CAA7-35F3809F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7224F-416E-21A5-C4C6-C0AA912CA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F027B-DB74-9E0E-3F59-722BD56A9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527E0-6AF2-99CC-B3F1-91B026DE6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3393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CF43-1409-2EF5-20FA-B4688112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C39C5-D6A2-29A2-8A45-7E31FC4C0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8011B-83C6-74A4-B64B-317FCA1DA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 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3952C-B376-B738-2584-FA362FFBD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7247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Wikipedia:</a:t>
            </a:r>
          </a:p>
          <a:p>
            <a:r>
              <a:rPr lang="en-US" b="1" dirty="0" err="1"/>
              <a:t>Tinky</a:t>
            </a:r>
            <a:r>
              <a:rPr lang="en-US" b="1" dirty="0"/>
              <a:t> </a:t>
            </a:r>
            <a:r>
              <a:rPr lang="en-US" b="1" dirty="0" err="1"/>
              <a:t>Winky</a:t>
            </a:r>
            <a:r>
              <a:rPr lang="en-US" dirty="0"/>
              <a:t> (played by </a:t>
            </a:r>
            <a:r>
              <a:rPr lang="en-US" dirty="0">
                <a:hlinkClick r:id="rId3" tooltip="Dave Thompson (comedian)"/>
              </a:rPr>
              <a:t>Dave Thompson</a:t>
            </a:r>
            <a:r>
              <a:rPr lang="en-US" dirty="0"/>
              <a:t> and </a:t>
            </a:r>
            <a:r>
              <a:rPr lang="en-US" dirty="0">
                <a:hlinkClick r:id="rId4" tooltip="Simon Shelton"/>
              </a:rPr>
              <a:t>Simon Shelton</a:t>
            </a:r>
            <a:r>
              <a:rPr lang="en-US" dirty="0"/>
              <a:t> in the original series and by </a:t>
            </a:r>
            <a:r>
              <a:rPr lang="en-US" dirty="0">
                <a:hlinkClick r:id="rId5" tooltip="Jeremiah Krage"/>
              </a:rPr>
              <a:t>Jeremiah </a:t>
            </a:r>
            <a:r>
              <a:rPr lang="en-US" dirty="0" err="1">
                <a:hlinkClick r:id="rId5" tooltip="Jeremiah Krage"/>
              </a:rPr>
              <a:t>Krage</a:t>
            </a:r>
            <a:r>
              <a:rPr lang="en-US" dirty="0"/>
              <a:t> in the revival series)</a:t>
            </a:r>
            <a:r>
              <a:rPr lang="en-US" baseline="30000" dirty="0">
                <a:hlinkClick r:id="rId6"/>
              </a:rPr>
              <a:t>[15]</a:t>
            </a:r>
            <a:r>
              <a:rPr lang="en-US" dirty="0"/>
              <a:t> is the first </a:t>
            </a:r>
            <a:r>
              <a:rPr lang="en-US" dirty="0" err="1"/>
              <a:t>Teletubby</a:t>
            </a:r>
            <a:r>
              <a:rPr lang="en-US" dirty="0"/>
              <a:t>, as well as the largest and oldest of the group. He is covered in purple </a:t>
            </a:r>
            <a:r>
              <a:rPr lang="en-US" dirty="0">
                <a:hlinkClick r:id="rId7" tooltip="Terrycloth"/>
              </a:rPr>
              <a:t>terrycloth</a:t>
            </a:r>
            <a:r>
              <a:rPr lang="en-US" dirty="0"/>
              <a:t> and has a </a:t>
            </a:r>
            <a:r>
              <a:rPr lang="en-US" dirty="0">
                <a:hlinkClick r:id="rId8" tooltip="Triangle"/>
              </a:rPr>
              <a:t>triangular</a:t>
            </a:r>
            <a:r>
              <a:rPr lang="en-US" dirty="0"/>
              <a:t> </a:t>
            </a:r>
            <a:r>
              <a:rPr lang="en-US" dirty="0">
                <a:hlinkClick r:id="rId9" tooltip="Antenna (radio)"/>
              </a:rPr>
              <a:t>antenna</a:t>
            </a:r>
            <a:r>
              <a:rPr lang="en-US" dirty="0"/>
              <a:t> on his head. He often carries a red bag. </a:t>
            </a:r>
          </a:p>
          <a:p>
            <a:r>
              <a:rPr lang="en-US" b="1" dirty="0" err="1"/>
              <a:t>Dipsy</a:t>
            </a:r>
            <a:r>
              <a:rPr lang="en-US" dirty="0"/>
              <a:t> (played by </a:t>
            </a:r>
            <a:r>
              <a:rPr lang="en-US" dirty="0">
                <a:hlinkClick r:id="rId10" tooltip="John Simmit"/>
              </a:rPr>
              <a:t>John </a:t>
            </a:r>
            <a:r>
              <a:rPr lang="en-US" dirty="0" err="1">
                <a:hlinkClick r:id="rId10" tooltip="John Simmit"/>
              </a:rPr>
              <a:t>Simmit</a:t>
            </a:r>
            <a:r>
              <a:rPr lang="en-US" dirty="0"/>
              <a:t> in the original series and by </a:t>
            </a:r>
            <a:r>
              <a:rPr lang="en-US" dirty="0">
                <a:hlinkClick r:id="rId11" tooltip="Nick Kellington"/>
              </a:rPr>
              <a:t>Nick </a:t>
            </a:r>
            <a:r>
              <a:rPr lang="en-US" dirty="0" err="1">
                <a:hlinkClick r:id="rId11" tooltip="Nick Kellington"/>
              </a:rPr>
              <a:t>Kellington</a:t>
            </a:r>
            <a:r>
              <a:rPr lang="en-US" dirty="0"/>
              <a:t> in the revival series)</a:t>
            </a:r>
            <a:r>
              <a:rPr lang="en-US" baseline="30000" dirty="0">
                <a:hlinkClick r:id="rId12"/>
              </a:rPr>
              <a:t>[16]</a:t>
            </a:r>
            <a:r>
              <a:rPr lang="en-US" dirty="0"/>
              <a:t> is the second </a:t>
            </a:r>
            <a:r>
              <a:rPr lang="en-US" dirty="0" err="1"/>
              <a:t>Teletubby</a:t>
            </a:r>
            <a:r>
              <a:rPr lang="en-US" dirty="0"/>
              <a:t>. He is green and named after his antenna, which resembles a </a:t>
            </a:r>
            <a:r>
              <a:rPr lang="en-US" dirty="0">
                <a:hlinkClick r:id="rId13" tooltip="Dipstick"/>
              </a:rPr>
              <a:t>dipstick</a:t>
            </a:r>
            <a:r>
              <a:rPr lang="en-US" dirty="0"/>
              <a:t>. </a:t>
            </a:r>
            <a:r>
              <a:rPr lang="en-US" dirty="0" err="1"/>
              <a:t>Dipsy</a:t>
            </a:r>
            <a:r>
              <a:rPr lang="en-US" dirty="0"/>
              <a:t> is the most stubborn of the </a:t>
            </a:r>
            <a:r>
              <a:rPr lang="en-US" dirty="0" err="1"/>
              <a:t>Teletubbies</a:t>
            </a:r>
            <a:r>
              <a:rPr lang="en-US" dirty="0"/>
              <a:t>, and will occasionally refuse to go along with the others' group opinion. His face is notably darker than the rest of the </a:t>
            </a:r>
            <a:r>
              <a:rPr lang="en-US" dirty="0" err="1"/>
              <a:t>Teletubbies</a:t>
            </a:r>
            <a:r>
              <a:rPr lang="en-US" dirty="0"/>
              <a:t>, and the creators have stated that he is </a:t>
            </a:r>
            <a:r>
              <a:rPr lang="en-US" dirty="0">
                <a:hlinkClick r:id="rId14" tooltip="Black people"/>
              </a:rPr>
              <a:t>black</a:t>
            </a:r>
            <a:r>
              <a:rPr lang="en-US" dirty="0"/>
              <a:t>.</a:t>
            </a:r>
            <a:r>
              <a:rPr lang="en-US" baseline="30000" dirty="0">
                <a:hlinkClick r:id="rId15"/>
              </a:rPr>
              <a:t>[17]</a:t>
            </a:r>
            <a:r>
              <a:rPr lang="en-US" dirty="0"/>
              <a:t>He often wears a large hat with a black and white pattern. </a:t>
            </a:r>
          </a:p>
          <a:p>
            <a:r>
              <a:rPr lang="en-US" b="1" dirty="0" err="1"/>
              <a:t>Laa-Laa</a:t>
            </a:r>
            <a:r>
              <a:rPr lang="en-US" dirty="0"/>
              <a:t> (played by </a:t>
            </a:r>
            <a:r>
              <a:rPr lang="en-US" dirty="0" err="1">
                <a:hlinkClick r:id="rId16" tooltip="Nikky Smedley"/>
              </a:rPr>
              <a:t>Nikky</a:t>
            </a:r>
            <a:r>
              <a:rPr lang="en-US" dirty="0">
                <a:hlinkClick r:id="rId16" tooltip="Nikky Smedley"/>
              </a:rPr>
              <a:t> </a:t>
            </a:r>
            <a:r>
              <a:rPr lang="en-US" dirty="0" err="1">
                <a:hlinkClick r:id="rId16" tooltip="Nikky Smedley"/>
              </a:rPr>
              <a:t>Smedley</a:t>
            </a:r>
            <a:r>
              <a:rPr lang="en-US" dirty="0"/>
              <a:t> in the original series and by Rebecca Hyland in the revival series)</a:t>
            </a:r>
            <a:r>
              <a:rPr lang="en-US" baseline="30000" dirty="0">
                <a:hlinkClick r:id="rId12"/>
              </a:rPr>
              <a:t>[16]</a:t>
            </a:r>
            <a:r>
              <a:rPr lang="en-US" dirty="0"/>
              <a:t> is the third </a:t>
            </a:r>
            <a:r>
              <a:rPr lang="en-US" dirty="0" err="1"/>
              <a:t>Teletubby</a:t>
            </a:r>
            <a:r>
              <a:rPr lang="en-US" dirty="0"/>
              <a:t>. She is yellow and has a curly antenna. </a:t>
            </a:r>
            <a:r>
              <a:rPr lang="en-US" dirty="0" err="1"/>
              <a:t>Laa-Laa</a:t>
            </a:r>
            <a:r>
              <a:rPr lang="en-US" dirty="0"/>
              <a:t> is very sweet, likes to sing and dance, and is often shown looking out for the other </a:t>
            </a:r>
            <a:r>
              <a:rPr lang="en-US" dirty="0" err="1"/>
              <a:t>Teletubbies</a:t>
            </a:r>
            <a:r>
              <a:rPr lang="en-US" dirty="0"/>
              <a:t>. Her </a:t>
            </a:r>
            <a:r>
              <a:rPr lang="en-US" dirty="0" err="1"/>
              <a:t>favourite</a:t>
            </a:r>
            <a:r>
              <a:rPr lang="en-US" dirty="0"/>
              <a:t> toy is an orange rubber ball. </a:t>
            </a:r>
          </a:p>
          <a:p>
            <a:r>
              <a:rPr lang="en-US" b="1" dirty="0"/>
              <a:t>Po</a:t>
            </a:r>
            <a:r>
              <a:rPr lang="en-US" dirty="0"/>
              <a:t> (played by </a:t>
            </a:r>
            <a:r>
              <a:rPr lang="en-US" dirty="0">
                <a:hlinkClick r:id="rId17" tooltip="Pui Fan Lee"/>
              </a:rPr>
              <a:t>Pui Fan Lee</a:t>
            </a:r>
            <a:r>
              <a:rPr lang="en-US" dirty="0"/>
              <a:t> in the original series and by </a:t>
            </a:r>
            <a:r>
              <a:rPr lang="en-US" dirty="0">
                <a:hlinkClick r:id="rId18" tooltip="Rachelle Beinart"/>
              </a:rPr>
              <a:t>Rachelle Beinart</a:t>
            </a:r>
            <a:r>
              <a:rPr lang="en-US" dirty="0"/>
              <a:t> in the revival series)</a:t>
            </a:r>
            <a:r>
              <a:rPr lang="en-US" baseline="30000" dirty="0">
                <a:hlinkClick r:id="rId12"/>
              </a:rPr>
              <a:t>[16]</a:t>
            </a:r>
            <a:r>
              <a:rPr lang="en-US" dirty="0"/>
              <a:t> is the fourth Teletubby, as well as the shortest and youngest. She is red and has an antenna shaped like a stick used for blowing </a:t>
            </a:r>
            <a:r>
              <a:rPr lang="en-US" dirty="0">
                <a:hlinkClick r:id="rId19" tooltip="Soap bubble"/>
              </a:rPr>
              <a:t>soap bubbles</a:t>
            </a:r>
            <a:r>
              <a:rPr lang="en-US" dirty="0"/>
              <a:t>. Po normally speaks in a soft voice and has been stated by the show's creators to be </a:t>
            </a:r>
            <a:r>
              <a:rPr lang="en-US" dirty="0">
                <a:hlinkClick r:id="rId20" tooltip="Cantonese people"/>
              </a:rPr>
              <a:t>Cantonese</a:t>
            </a:r>
            <a:r>
              <a:rPr lang="en-US" dirty="0"/>
              <a:t>.</a:t>
            </a:r>
            <a:r>
              <a:rPr lang="en-US" baseline="30000" dirty="0">
                <a:hlinkClick r:id="rId15"/>
              </a:rPr>
              <a:t>[17]</a:t>
            </a:r>
            <a:r>
              <a:rPr lang="en-US" dirty="0"/>
              <a:t>Her </a:t>
            </a:r>
            <a:r>
              <a:rPr lang="en-US" dirty="0" err="1"/>
              <a:t>favourite</a:t>
            </a:r>
            <a:r>
              <a:rPr lang="en-US" dirty="0"/>
              <a:t> toy is a red and blue scooter.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1066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Dipsy </a:t>
            </a:r>
            <a:r>
              <a:rPr lang="da-DK" dirty="0" err="1"/>
              <a:t>wants</a:t>
            </a:r>
            <a:r>
              <a:rPr lang="da-DK" dirty="0"/>
              <a:t> to </a:t>
            </a:r>
            <a:r>
              <a:rPr lang="da-DK" dirty="0" err="1"/>
              <a:t>play</a:t>
            </a:r>
            <a:r>
              <a:rPr lang="da-DK" dirty="0"/>
              <a:t> with Lala and Po.</a:t>
            </a:r>
          </a:p>
          <a:p>
            <a:r>
              <a:rPr lang="da-DK" dirty="0"/>
              <a:t>So</a:t>
            </a:r>
            <a:r>
              <a:rPr lang="da-DK" baseline="0" dirty="0"/>
              <a:t> </a:t>
            </a:r>
            <a:r>
              <a:rPr lang="da-DK" baseline="0" dirty="0" err="1"/>
              <a:t>does</a:t>
            </a:r>
            <a:r>
              <a:rPr lang="da-DK" baseline="0" dirty="0"/>
              <a:t> Tinky Winky.</a:t>
            </a:r>
          </a:p>
          <a:p>
            <a:r>
              <a:rPr lang="da-DK" baseline="0" dirty="0"/>
              <a:t>Dipsy asks Lala </a:t>
            </a:r>
            <a:r>
              <a:rPr lang="da-DK" baseline="0" dirty="0" err="1"/>
              <a:t>first</a:t>
            </a:r>
            <a:r>
              <a:rPr lang="da-DK" baseline="0" dirty="0"/>
              <a:t> and </a:t>
            </a:r>
            <a:r>
              <a:rPr lang="da-DK" baseline="0" dirty="0" err="1"/>
              <a:t>then</a:t>
            </a:r>
            <a:r>
              <a:rPr lang="da-DK" baseline="0" dirty="0"/>
              <a:t> Po.</a:t>
            </a:r>
          </a:p>
          <a:p>
            <a:r>
              <a:rPr lang="da-DK" baseline="0" dirty="0"/>
              <a:t>But Tinky Winky asks Po </a:t>
            </a:r>
            <a:r>
              <a:rPr lang="da-DK" baseline="0" dirty="0" err="1"/>
              <a:t>first</a:t>
            </a:r>
            <a:r>
              <a:rPr lang="da-DK" baseline="0" dirty="0"/>
              <a:t> and </a:t>
            </a:r>
            <a:r>
              <a:rPr lang="da-DK" baseline="0" dirty="0" err="1"/>
              <a:t>then</a:t>
            </a:r>
            <a:r>
              <a:rPr lang="da-DK" baseline="0" dirty="0"/>
              <a:t> Lala.</a:t>
            </a:r>
          </a:p>
          <a:p>
            <a:endParaRPr lang="da-DK" baseline="0" dirty="0"/>
          </a:p>
          <a:p>
            <a:r>
              <a:rPr lang="da-DK" baseline="0" dirty="0"/>
              <a:t>Uh-Oh! </a:t>
            </a:r>
            <a:r>
              <a:rPr lang="da-DK" baseline="0" dirty="0" err="1"/>
              <a:t>Deadlock</a:t>
            </a:r>
            <a:r>
              <a:rPr lang="da-DK" baseline="0" dirty="0"/>
              <a:t>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3320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Dipsy </a:t>
            </a:r>
            <a:r>
              <a:rPr lang="da-DK" dirty="0" err="1"/>
              <a:t>wants</a:t>
            </a:r>
            <a:r>
              <a:rPr lang="da-DK" dirty="0"/>
              <a:t> to </a:t>
            </a:r>
            <a:r>
              <a:rPr lang="da-DK" dirty="0" err="1"/>
              <a:t>play</a:t>
            </a:r>
            <a:r>
              <a:rPr lang="da-DK" dirty="0"/>
              <a:t> with Lala and Po.</a:t>
            </a:r>
          </a:p>
          <a:p>
            <a:r>
              <a:rPr lang="da-DK" dirty="0"/>
              <a:t>So</a:t>
            </a:r>
            <a:r>
              <a:rPr lang="da-DK" baseline="0" dirty="0"/>
              <a:t> </a:t>
            </a:r>
            <a:r>
              <a:rPr lang="da-DK" baseline="0" dirty="0" err="1"/>
              <a:t>does</a:t>
            </a:r>
            <a:r>
              <a:rPr lang="da-DK" baseline="0" dirty="0"/>
              <a:t> Tinky Winky.</a:t>
            </a:r>
          </a:p>
          <a:p>
            <a:r>
              <a:rPr lang="da-DK" baseline="0" dirty="0"/>
              <a:t>Dipsy asks Lala </a:t>
            </a:r>
            <a:r>
              <a:rPr lang="da-DK" baseline="0" dirty="0" err="1"/>
              <a:t>first</a:t>
            </a:r>
            <a:r>
              <a:rPr lang="da-DK" baseline="0" dirty="0"/>
              <a:t> and </a:t>
            </a:r>
            <a:r>
              <a:rPr lang="da-DK" baseline="0" dirty="0" err="1"/>
              <a:t>then</a:t>
            </a:r>
            <a:r>
              <a:rPr lang="da-DK" baseline="0" dirty="0"/>
              <a:t> Po.</a:t>
            </a:r>
          </a:p>
          <a:p>
            <a:r>
              <a:rPr lang="da-DK" baseline="0" dirty="0"/>
              <a:t>But Tinky Winky asks Po </a:t>
            </a:r>
            <a:r>
              <a:rPr lang="da-DK" baseline="0" dirty="0" err="1"/>
              <a:t>first</a:t>
            </a:r>
            <a:r>
              <a:rPr lang="da-DK" baseline="0" dirty="0"/>
              <a:t> and </a:t>
            </a:r>
            <a:r>
              <a:rPr lang="da-DK" baseline="0" dirty="0" err="1"/>
              <a:t>then</a:t>
            </a:r>
            <a:r>
              <a:rPr lang="da-DK" baseline="0" dirty="0"/>
              <a:t> Lala.</a:t>
            </a:r>
          </a:p>
          <a:p>
            <a:endParaRPr lang="da-DK" baseline="0" dirty="0"/>
          </a:p>
          <a:p>
            <a:r>
              <a:rPr lang="da-DK" baseline="0" dirty="0"/>
              <a:t>Uh-Oh! </a:t>
            </a:r>
            <a:r>
              <a:rPr lang="da-DK" baseline="0" dirty="0" err="1"/>
              <a:t>Deadlock</a:t>
            </a:r>
            <a:r>
              <a:rPr lang="da-DK" baseline="0" dirty="0"/>
              <a:t>!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9469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3851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6223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6544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D55EE-C0C2-780B-9673-38B99055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85ECE-94D8-24CB-1974-8AF6E0030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581C0-0E75-35FD-E154-FB2A070ED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A922D-3EF0-FD67-E04D-52B7D1506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8757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4742-5C45-F256-7911-AA76F282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2A0A9-9FBB-D275-E9D2-844C3F55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18BD3-C4F3-8F27-2791-6C65F119A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7896-3856-524C-5E07-CED7F4C62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8740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9F22-8DF1-874E-1810-B57E842B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73269-74D7-A4CD-C8FD-401EEA79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A9A7-2AE5-AB48-B54F-654B652D8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For 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CC823-C0D3-207E-1D1E-BD410B39B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9016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8532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7661B-09CB-35B0-3268-BD1D6DE5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83EE8-4C3A-E7AE-AA32-84EEF15F3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C4D8F-6028-07DC-975A-E24F4ECE6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7AE37-3773-BEA4-4148-E8DDAF990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5654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B838-A180-4C1E-BAAF-7B892459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6C96E-95E2-BC4B-10CC-ED1CC17DC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1A88D-2016-D5F8-5C7F-FAE20E71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 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4258-654D-AC2B-1659-ACF034973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3515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baseline="0" dirty="0"/>
              <a:t> </a:t>
            </a:r>
            <a:r>
              <a:rPr lang="da-DK" baseline="0" dirty="0" err="1"/>
              <a:t>needs</a:t>
            </a:r>
            <a:r>
              <a:rPr lang="da-DK" baseline="0" dirty="0"/>
              <a:t> to know the </a:t>
            </a:r>
            <a:r>
              <a:rPr lang="da-DK" baseline="0" dirty="0" err="1"/>
              <a:t>MainWindow</a:t>
            </a:r>
            <a:r>
              <a:rPr lang="da-DK" baseline="0" dirty="0"/>
              <a:t>, in </a:t>
            </a:r>
            <a:r>
              <a:rPr lang="da-DK" baseline="0" dirty="0" err="1"/>
              <a:t>order</a:t>
            </a:r>
            <a:r>
              <a:rPr lang="da-DK" baseline="0" dirty="0"/>
              <a:t> to set a new </a:t>
            </a:r>
            <a:r>
              <a:rPr lang="da-DK" baseline="0" dirty="0" err="1"/>
              <a:t>value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41133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public </a:t>
            </a:r>
            <a:r>
              <a:rPr lang="da-DK" dirty="0" err="1"/>
              <a:t>partial</a:t>
            </a:r>
            <a:r>
              <a:rPr lang="da-DK" dirty="0"/>
              <a:t> </a:t>
            </a:r>
            <a:r>
              <a:rPr lang="da-DK" dirty="0" err="1"/>
              <a:t>class</a:t>
            </a:r>
            <a:r>
              <a:rPr lang="da-DK" dirty="0"/>
              <a:t> </a:t>
            </a:r>
            <a:r>
              <a:rPr lang="da-DK" dirty="0" err="1"/>
              <a:t>MainWindow</a:t>
            </a:r>
            <a:r>
              <a:rPr lang="da-DK" dirty="0"/>
              <a:t> : </a:t>
            </a:r>
            <a:r>
              <a:rPr lang="da-DK" dirty="0" err="1"/>
              <a:t>Window</a:t>
            </a:r>
            <a:endParaRPr lang="da-DK" dirty="0"/>
          </a:p>
          <a:p>
            <a:r>
              <a:rPr lang="da-DK" dirty="0"/>
              <a:t>{</a:t>
            </a:r>
          </a:p>
          <a:p>
            <a:r>
              <a:rPr lang="da-DK" dirty="0"/>
              <a:t>  public </a:t>
            </a:r>
            <a:r>
              <a:rPr lang="da-DK" dirty="0" err="1"/>
              <a:t>MainWindow</a:t>
            </a:r>
            <a:r>
              <a:rPr lang="da-DK" dirty="0"/>
              <a:t>()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InitializeComponent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public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UpdateCounter</a:t>
            </a:r>
            <a:r>
              <a:rPr lang="da-DK" dirty="0"/>
              <a:t>(</a:t>
            </a:r>
            <a:r>
              <a:rPr lang="da-DK" dirty="0" err="1"/>
              <a:t>int</a:t>
            </a:r>
            <a:r>
              <a:rPr lang="da-DK" dirty="0"/>
              <a:t> </a:t>
            </a:r>
            <a:r>
              <a:rPr lang="da-DK" dirty="0" err="1"/>
              <a:t>count</a:t>
            </a:r>
            <a:r>
              <a:rPr lang="da-DK" dirty="0"/>
              <a:t>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if (</a:t>
            </a:r>
            <a:r>
              <a:rPr lang="da-DK" dirty="0" err="1"/>
              <a:t>Dispatcher.CheckAccess</a:t>
            </a:r>
            <a:r>
              <a:rPr lang="da-DK" dirty="0"/>
              <a:t>())</a:t>
            </a:r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  </a:t>
            </a:r>
            <a:r>
              <a:rPr lang="da-DK" dirty="0" err="1"/>
              <a:t>else</a:t>
            </a:r>
            <a:endParaRPr lang="da-DK" dirty="0"/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Dispatcher.BeginInvoke</a:t>
            </a:r>
            <a:r>
              <a:rPr lang="da-DK" dirty="0"/>
              <a:t>(</a:t>
            </a:r>
            <a:r>
              <a:rPr lang="da-DK" dirty="0" err="1"/>
              <a:t>DispatcherPriority.Normal</a:t>
            </a:r>
            <a:r>
              <a:rPr lang="da-DK" dirty="0"/>
              <a:t>, new Action(</a:t>
            </a:r>
          </a:p>
          <a:p>
            <a:r>
              <a:rPr lang="da-DK" dirty="0"/>
              <a:t>        () =&gt;</a:t>
            </a:r>
          </a:p>
          <a:p>
            <a:r>
              <a:rPr lang="da-DK" dirty="0"/>
              <a:t>        {</a:t>
            </a:r>
          </a:p>
          <a:p>
            <a:r>
              <a:rPr lang="da-DK" dirty="0"/>
              <a:t>    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    })</a:t>
            </a:r>
          </a:p>
          <a:p>
            <a:r>
              <a:rPr lang="da-DK" dirty="0"/>
              <a:t>      );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private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ButtonStart_Click</a:t>
            </a:r>
            <a:r>
              <a:rPr lang="da-DK" dirty="0"/>
              <a:t>(</a:t>
            </a:r>
            <a:r>
              <a:rPr lang="da-DK" dirty="0" err="1"/>
              <a:t>object</a:t>
            </a:r>
            <a:r>
              <a:rPr lang="da-DK" dirty="0"/>
              <a:t> sender, </a:t>
            </a:r>
            <a:r>
              <a:rPr lang="da-DK" dirty="0" err="1"/>
              <a:t>RoutedEventArgs</a:t>
            </a:r>
            <a:r>
              <a:rPr lang="da-DK" dirty="0"/>
              <a:t> e)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Counter</a:t>
            </a:r>
            <a:r>
              <a:rPr lang="da-DK" dirty="0"/>
              <a:t> </a:t>
            </a:r>
            <a:r>
              <a:rPr lang="da-DK" dirty="0" err="1"/>
              <a:t>counter</a:t>
            </a:r>
            <a:r>
              <a:rPr lang="da-DK" dirty="0"/>
              <a:t> = new </a:t>
            </a:r>
            <a:r>
              <a:rPr lang="da-DK" dirty="0" err="1"/>
              <a:t>Counter</a:t>
            </a:r>
            <a:r>
              <a:rPr lang="da-DK" dirty="0"/>
              <a:t>(</a:t>
            </a:r>
            <a:r>
              <a:rPr lang="da-DK" dirty="0" err="1"/>
              <a:t>this</a:t>
            </a:r>
            <a:r>
              <a:rPr lang="da-DK" dirty="0"/>
              <a:t>);</a:t>
            </a:r>
          </a:p>
          <a:p>
            <a:endParaRPr lang="da-DK" dirty="0"/>
          </a:p>
          <a:p>
            <a:r>
              <a:rPr lang="da-DK" dirty="0"/>
              <a:t>    Thread </a:t>
            </a:r>
            <a:r>
              <a:rPr lang="da-DK" dirty="0" err="1"/>
              <a:t>theThread</a:t>
            </a:r>
            <a:r>
              <a:rPr lang="da-DK" dirty="0"/>
              <a:t> = new Thread(</a:t>
            </a:r>
            <a:r>
              <a:rPr lang="da-DK" dirty="0" err="1"/>
              <a:t>counter.Run</a:t>
            </a:r>
            <a:r>
              <a:rPr lang="da-DK" dirty="0"/>
              <a:t>);</a:t>
            </a:r>
          </a:p>
          <a:p>
            <a:r>
              <a:rPr lang="da-DK" dirty="0"/>
              <a:t>    </a:t>
            </a:r>
            <a:r>
              <a:rPr lang="da-DK" dirty="0" err="1"/>
              <a:t>theThread.IsBackground</a:t>
            </a:r>
            <a:r>
              <a:rPr lang="da-DK" dirty="0"/>
              <a:t> = true;</a:t>
            </a:r>
          </a:p>
          <a:p>
            <a:r>
              <a:rPr lang="da-DK" dirty="0"/>
              <a:t>    </a:t>
            </a:r>
          </a:p>
          <a:p>
            <a:r>
              <a:rPr lang="da-DK" dirty="0"/>
              <a:t>    </a:t>
            </a:r>
            <a:r>
              <a:rPr lang="da-DK" dirty="0" err="1"/>
              <a:t>theThread.Start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r>
              <a:rPr lang="da-DK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4743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916E-0D75-2FE3-F2D7-F88FB061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18FFB-3D51-5F94-8344-7B59616AF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5FBB9-1DC7-BBED-8E30-CBE7207A1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public </a:t>
            </a:r>
            <a:r>
              <a:rPr lang="da-DK" dirty="0" err="1"/>
              <a:t>partial</a:t>
            </a:r>
            <a:r>
              <a:rPr lang="da-DK" dirty="0"/>
              <a:t> </a:t>
            </a:r>
            <a:r>
              <a:rPr lang="da-DK" dirty="0" err="1"/>
              <a:t>class</a:t>
            </a:r>
            <a:r>
              <a:rPr lang="da-DK" dirty="0"/>
              <a:t> </a:t>
            </a:r>
            <a:r>
              <a:rPr lang="da-DK" dirty="0" err="1"/>
              <a:t>MainWindow</a:t>
            </a:r>
            <a:r>
              <a:rPr lang="da-DK" dirty="0"/>
              <a:t> : </a:t>
            </a:r>
            <a:r>
              <a:rPr lang="da-DK" dirty="0" err="1"/>
              <a:t>Window</a:t>
            </a:r>
            <a:endParaRPr lang="da-DK" dirty="0"/>
          </a:p>
          <a:p>
            <a:r>
              <a:rPr lang="da-DK" dirty="0"/>
              <a:t>{</a:t>
            </a:r>
          </a:p>
          <a:p>
            <a:r>
              <a:rPr lang="da-DK" dirty="0"/>
              <a:t>  public </a:t>
            </a:r>
            <a:r>
              <a:rPr lang="da-DK" dirty="0" err="1"/>
              <a:t>MainWindow</a:t>
            </a:r>
            <a:r>
              <a:rPr lang="da-DK" dirty="0"/>
              <a:t>()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InitializeComponent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public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UpdateCounter</a:t>
            </a:r>
            <a:r>
              <a:rPr lang="da-DK" dirty="0"/>
              <a:t>(</a:t>
            </a:r>
            <a:r>
              <a:rPr lang="da-DK" dirty="0" err="1"/>
              <a:t>int</a:t>
            </a:r>
            <a:r>
              <a:rPr lang="da-DK" dirty="0"/>
              <a:t> </a:t>
            </a:r>
            <a:r>
              <a:rPr lang="da-DK" dirty="0" err="1"/>
              <a:t>count</a:t>
            </a:r>
            <a:r>
              <a:rPr lang="da-DK" dirty="0"/>
              <a:t>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if (</a:t>
            </a:r>
            <a:r>
              <a:rPr lang="da-DK" dirty="0" err="1"/>
              <a:t>Dispatcher.CheckAccess</a:t>
            </a:r>
            <a:r>
              <a:rPr lang="da-DK" dirty="0"/>
              <a:t>())</a:t>
            </a:r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  </a:t>
            </a:r>
            <a:r>
              <a:rPr lang="da-DK" dirty="0" err="1"/>
              <a:t>else</a:t>
            </a:r>
            <a:endParaRPr lang="da-DK" dirty="0"/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Dispatcher.BeginInvoke</a:t>
            </a:r>
            <a:r>
              <a:rPr lang="da-DK" dirty="0"/>
              <a:t>(</a:t>
            </a:r>
            <a:r>
              <a:rPr lang="da-DK" dirty="0" err="1"/>
              <a:t>DispatcherPriority.Normal</a:t>
            </a:r>
            <a:r>
              <a:rPr lang="da-DK" dirty="0"/>
              <a:t>, new Action(</a:t>
            </a:r>
          </a:p>
          <a:p>
            <a:r>
              <a:rPr lang="da-DK" dirty="0"/>
              <a:t>        () =&gt;</a:t>
            </a:r>
          </a:p>
          <a:p>
            <a:r>
              <a:rPr lang="da-DK" dirty="0"/>
              <a:t>        {</a:t>
            </a:r>
          </a:p>
          <a:p>
            <a:r>
              <a:rPr lang="da-DK" dirty="0"/>
              <a:t>    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    })</a:t>
            </a:r>
          </a:p>
          <a:p>
            <a:r>
              <a:rPr lang="da-DK" dirty="0"/>
              <a:t>      );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private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ButtonStart_Click</a:t>
            </a:r>
            <a:r>
              <a:rPr lang="da-DK" dirty="0"/>
              <a:t>(</a:t>
            </a:r>
            <a:r>
              <a:rPr lang="da-DK" dirty="0" err="1"/>
              <a:t>object</a:t>
            </a:r>
            <a:r>
              <a:rPr lang="da-DK" dirty="0"/>
              <a:t> sender, </a:t>
            </a:r>
            <a:r>
              <a:rPr lang="da-DK" dirty="0" err="1"/>
              <a:t>RoutedEventArgs</a:t>
            </a:r>
            <a:r>
              <a:rPr lang="da-DK" dirty="0"/>
              <a:t> e)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Counter</a:t>
            </a:r>
            <a:r>
              <a:rPr lang="da-DK" dirty="0"/>
              <a:t> </a:t>
            </a:r>
            <a:r>
              <a:rPr lang="da-DK" dirty="0" err="1"/>
              <a:t>counter</a:t>
            </a:r>
            <a:r>
              <a:rPr lang="da-DK" dirty="0"/>
              <a:t> = new </a:t>
            </a:r>
            <a:r>
              <a:rPr lang="da-DK" dirty="0" err="1"/>
              <a:t>Counter</a:t>
            </a:r>
            <a:r>
              <a:rPr lang="da-DK" dirty="0"/>
              <a:t>(</a:t>
            </a:r>
            <a:r>
              <a:rPr lang="da-DK" dirty="0" err="1"/>
              <a:t>this</a:t>
            </a:r>
            <a:r>
              <a:rPr lang="da-DK" dirty="0"/>
              <a:t>);</a:t>
            </a:r>
          </a:p>
          <a:p>
            <a:endParaRPr lang="da-DK" dirty="0"/>
          </a:p>
          <a:p>
            <a:r>
              <a:rPr lang="da-DK" dirty="0"/>
              <a:t>    Thread </a:t>
            </a:r>
            <a:r>
              <a:rPr lang="da-DK" dirty="0" err="1"/>
              <a:t>theThread</a:t>
            </a:r>
            <a:r>
              <a:rPr lang="da-DK" dirty="0"/>
              <a:t> = new Thread(</a:t>
            </a:r>
            <a:r>
              <a:rPr lang="da-DK" dirty="0" err="1"/>
              <a:t>counter.Run</a:t>
            </a:r>
            <a:r>
              <a:rPr lang="da-DK" dirty="0"/>
              <a:t>);</a:t>
            </a:r>
          </a:p>
          <a:p>
            <a:r>
              <a:rPr lang="da-DK" dirty="0"/>
              <a:t>    </a:t>
            </a:r>
            <a:r>
              <a:rPr lang="da-DK" dirty="0" err="1"/>
              <a:t>theThread.IsBackground</a:t>
            </a:r>
            <a:r>
              <a:rPr lang="da-DK" dirty="0"/>
              <a:t> = true;</a:t>
            </a:r>
          </a:p>
          <a:p>
            <a:r>
              <a:rPr lang="da-DK" dirty="0"/>
              <a:t>    </a:t>
            </a:r>
          </a:p>
          <a:p>
            <a:r>
              <a:rPr lang="da-DK" dirty="0"/>
              <a:t>    </a:t>
            </a:r>
            <a:r>
              <a:rPr lang="da-DK" dirty="0" err="1"/>
              <a:t>theThread.Start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r>
              <a:rPr lang="da-DK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09C2E-F02E-718E-91B3-DF41E81DB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9144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5AE1-9FE2-5E38-7B35-4F6F57A2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1043D-D01E-56A0-C96D-D8BEE0309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8C078-7B02-D4D7-7B68-F8E656B63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808080"/>
                </a:solidFill>
                <a:effectLst/>
              </a:rPr>
              <a:t>void </a:t>
            </a:r>
            <a:r>
              <a:rPr lang="en-GB" dirty="0">
                <a:solidFill>
                  <a:srgbClr val="00627A"/>
                </a:solidFill>
                <a:effectLst/>
              </a:rPr>
              <a:t>Start</a:t>
            </a:r>
            <a:r>
              <a:rPr lang="en-GB" dirty="0">
                <a:solidFill>
                  <a:srgbClr val="080808"/>
                </a:solidFill>
                <a:effectLst/>
              </a:rPr>
              <a:t>()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871094"/>
                </a:solidFill>
                <a:effectLst/>
              </a:rPr>
              <a:t>_running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</a:rPr>
              <a:t>true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871094"/>
                </a:solidFill>
                <a:effectLst/>
              </a:rPr>
              <a:t>_thread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>
                <a:solidFill>
                  <a:srgbClr val="080808"/>
                </a:solidFill>
                <a:effectLst/>
              </a:rPr>
              <a:t>Thread(() =&gt;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var </a:t>
            </a:r>
            <a:r>
              <a:rPr lang="en-GB" dirty="0">
                <a:solidFill>
                  <a:srgbClr val="000000"/>
                </a:solidFill>
                <a:effectLst/>
              </a:rPr>
              <a:t>pointer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var </a:t>
            </a:r>
            <a:r>
              <a:rPr lang="en-GB" dirty="0">
                <a:solidFill>
                  <a:srgbClr val="000000"/>
                </a:solidFill>
                <a:effectLst/>
              </a:rPr>
              <a:t>random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>
                <a:solidFill>
                  <a:srgbClr val="080808"/>
                </a:solidFill>
                <a:effectLst/>
              </a:rPr>
              <a:t>Random();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871094"/>
                </a:solidFill>
                <a:effectLst/>
              </a:rPr>
              <a:t>_running</a:t>
            </a:r>
            <a:r>
              <a:rPr lang="en-GB" dirty="0">
                <a:solidFill>
                  <a:srgbClr val="080808"/>
                </a:solidFill>
                <a:effectLst/>
              </a:rPr>
              <a:t>)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var </a:t>
            </a:r>
            <a:r>
              <a:rPr lang="en-GB" dirty="0">
                <a:solidFill>
                  <a:srgbClr val="000000"/>
                </a:solidFill>
                <a:effectLst/>
              </a:rPr>
              <a:t>application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 err="1">
                <a:solidFill>
                  <a:srgbClr val="080808"/>
                </a:solidFill>
                <a:effectLst/>
              </a:rPr>
              <a:t>Application.Current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</a:rPr>
              <a:t>application</a:t>
            </a:r>
            <a:r>
              <a:rPr lang="en-GB" dirty="0" err="1">
                <a:solidFill>
                  <a:srgbClr val="080808"/>
                </a:solidFill>
                <a:effectLst/>
              </a:rPr>
              <a:t>.Dispatcher.DispatchAsync</a:t>
            </a:r>
            <a:r>
              <a:rPr lang="en-GB" dirty="0">
                <a:solidFill>
                  <a:srgbClr val="080808"/>
                </a:solidFill>
                <a:effectLst/>
              </a:rPr>
              <a:t>(() =&gt;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</a:rPr>
              <a:t>for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 err="1">
                <a:solidFill>
                  <a:srgbClr val="000000"/>
                </a:solidFill>
                <a:effectLst/>
              </a:rPr>
              <a:t>i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>
                <a:solidFill>
                  <a:srgbClr val="080808"/>
                </a:solidFill>
                <a:effectLst/>
              </a:rPr>
              <a:t>; </a:t>
            </a:r>
            <a:r>
              <a:rPr lang="en-GB" dirty="0" err="1">
                <a:solidFill>
                  <a:srgbClr val="000000"/>
                </a:solidFill>
                <a:effectLst/>
              </a:rPr>
              <a:t>i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</a:rPr>
              <a:t>&lt; 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ToUpdate</a:t>
            </a:r>
            <a:r>
              <a:rPr lang="en-GB" dirty="0">
                <a:solidFill>
                  <a:srgbClr val="080808"/>
                </a:solidFill>
                <a:effectLst/>
              </a:rPr>
              <a:t>; </a:t>
            </a:r>
            <a:r>
              <a:rPr lang="en-GB" dirty="0" err="1">
                <a:solidFill>
                  <a:srgbClr val="000000"/>
                </a:solidFill>
                <a:effectLst/>
              </a:rPr>
              <a:t>i</a:t>
            </a:r>
            <a:r>
              <a:rPr lang="en-GB" dirty="0">
                <a:solidFill>
                  <a:srgbClr val="080808"/>
                </a:solidFill>
                <a:effectLst/>
              </a:rPr>
              <a:t>++)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{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        </a:t>
            </a:r>
            <a:r>
              <a:rPr lang="en-GB" dirty="0">
                <a:solidFill>
                  <a:srgbClr val="0033B3"/>
                </a:solidFill>
                <a:effectLst/>
              </a:rPr>
              <a:t>var </a:t>
            </a:r>
            <a:r>
              <a:rPr lang="en-GB" dirty="0" err="1">
                <a:solidFill>
                  <a:srgbClr val="000000"/>
                </a:solidFill>
                <a:effectLst/>
              </a:rPr>
              <a:t>nextVal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80 </a:t>
            </a:r>
            <a:r>
              <a:rPr lang="en-GB" dirty="0">
                <a:solidFill>
                  <a:srgbClr val="080808"/>
                </a:solidFill>
                <a:effectLst/>
              </a:rPr>
              <a:t>+ </a:t>
            </a:r>
            <a:r>
              <a:rPr lang="en-GB" dirty="0">
                <a:solidFill>
                  <a:srgbClr val="808080"/>
                </a:solidFill>
                <a:effectLst/>
              </a:rPr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random</a:t>
            </a:r>
            <a:r>
              <a:rPr lang="en-GB" dirty="0" err="1">
                <a:solidFill>
                  <a:srgbClr val="080808"/>
                </a:solidFill>
                <a:effectLst/>
              </a:rPr>
              <a:t>.NextDouble</a:t>
            </a:r>
            <a:r>
              <a:rPr lang="en-GB" dirty="0">
                <a:solidFill>
                  <a:srgbClr val="080808"/>
                </a:solidFill>
                <a:effectLst/>
              </a:rPr>
              <a:t>() * </a:t>
            </a:r>
            <a:r>
              <a:rPr lang="en-GB" dirty="0">
                <a:solidFill>
                  <a:srgbClr val="1750EB"/>
                </a:solidFill>
                <a:effectLst/>
              </a:rPr>
              <a:t>100</a:t>
            </a:r>
            <a:r>
              <a:rPr lang="en-GB" dirty="0">
                <a:solidFill>
                  <a:srgbClr val="808080"/>
                </a:solidFill>
                <a:effectLst/>
              </a:rPr>
              <a:t>)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        </a:t>
            </a:r>
            <a:r>
              <a:rPr lang="en-GB" i="1" dirty="0">
                <a:solidFill>
                  <a:srgbClr val="8C8C8C"/>
                </a:solidFill>
                <a:effectLst/>
              </a:rPr>
              <a:t>// </a:t>
            </a:r>
            <a:r>
              <a:rPr lang="en-GB" i="1" dirty="0" err="1">
                <a:solidFill>
                  <a:srgbClr val="8C8C8C"/>
                </a:solidFill>
                <a:effectLst/>
              </a:rPr>
              <a:t>Series.SetValue</a:t>
            </a:r>
            <a:r>
              <a:rPr lang="en-GB" i="1" dirty="0">
                <a:solidFill>
                  <a:srgbClr val="8C8C8C"/>
                </a:solidFill>
                <a:effectLst/>
              </a:rPr>
              <a:t>(</a:t>
            </a:r>
            <a:r>
              <a:rPr lang="en-GB" i="1" dirty="0" err="1">
                <a:solidFill>
                  <a:srgbClr val="8C8C8C"/>
                </a:solidFill>
                <a:effectLst/>
              </a:rPr>
              <a:t>nextVal</a:t>
            </a:r>
            <a:r>
              <a:rPr lang="en-GB" i="1" dirty="0">
                <a:solidFill>
                  <a:srgbClr val="8C8C8C"/>
                </a:solidFill>
                <a:effectLst/>
              </a:rPr>
              <a:t>, pointer);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                        </a:t>
            </a:r>
            <a:r>
              <a:rPr lang="en-GB" dirty="0">
                <a:solidFill>
                  <a:srgbClr val="871094"/>
                </a:solidFill>
                <a:effectLst/>
              </a:rPr>
              <a:t>_values</a:t>
            </a:r>
            <a:r>
              <a:rPr lang="en-GB" dirty="0">
                <a:solidFill>
                  <a:srgbClr val="080808"/>
                </a:solidFill>
                <a:effectLst/>
              </a:rPr>
              <a:t>[</a:t>
            </a:r>
            <a:r>
              <a:rPr lang="en-GB" dirty="0">
                <a:solidFill>
                  <a:srgbClr val="000000"/>
                </a:solidFill>
                <a:effectLst/>
              </a:rPr>
              <a:t>pointer</a:t>
            </a:r>
            <a:r>
              <a:rPr lang="en-GB" dirty="0">
                <a:solidFill>
                  <a:srgbClr val="080808"/>
                </a:solidFill>
                <a:effectLst/>
              </a:rPr>
              <a:t>] = </a:t>
            </a:r>
            <a:r>
              <a:rPr lang="en-GB" dirty="0" err="1">
                <a:solidFill>
                  <a:srgbClr val="000000"/>
                </a:solidFill>
                <a:effectLst/>
              </a:rPr>
              <a:t>nextVal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        </a:t>
            </a:r>
            <a:r>
              <a:rPr lang="en-GB" dirty="0">
                <a:solidFill>
                  <a:srgbClr val="00627A"/>
                </a:solidFill>
                <a:effectLst/>
              </a:rPr>
              <a:t>delete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pointer </a:t>
            </a:r>
            <a:r>
              <a:rPr lang="en-GB" dirty="0">
                <a:solidFill>
                  <a:srgbClr val="080808"/>
                </a:solidFill>
                <a:effectLst/>
              </a:rPr>
              <a:t>+ 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BlankSpace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        </a:t>
            </a:r>
            <a:r>
              <a:rPr lang="en-GB" dirty="0">
                <a:solidFill>
                  <a:srgbClr val="000000"/>
                </a:solidFill>
                <a:effectLst/>
              </a:rPr>
              <a:t>pointer </a:t>
            </a:r>
            <a:r>
              <a:rPr lang="en-GB" dirty="0">
                <a:solidFill>
                  <a:srgbClr val="080808"/>
                </a:solidFill>
                <a:effectLst/>
              </a:rPr>
              <a:t>= </a:t>
            </a:r>
            <a:r>
              <a:rPr lang="en-GB" dirty="0" err="1">
                <a:solidFill>
                  <a:srgbClr val="00627A"/>
                </a:solidFill>
                <a:effectLst/>
              </a:rPr>
              <a:t>incrementPointer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pointer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</a:t>
            </a:r>
            <a:r>
              <a:rPr lang="en-GB" dirty="0">
                <a:solidFill>
                  <a:srgbClr val="871094"/>
                </a:solidFill>
                <a:effectLst/>
              </a:rPr>
              <a:t>Series</a:t>
            </a:r>
            <a:r>
              <a:rPr lang="en-GB" dirty="0">
                <a:solidFill>
                  <a:srgbClr val="080808"/>
                </a:solidFill>
                <a:effectLst/>
              </a:rPr>
              <a:t>[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>
                <a:solidFill>
                  <a:srgbClr val="080808"/>
                </a:solidFill>
                <a:effectLst/>
              </a:rPr>
              <a:t>].Values = </a:t>
            </a:r>
            <a:r>
              <a:rPr lang="en-GB" dirty="0">
                <a:solidFill>
                  <a:srgbClr val="871094"/>
                </a:solidFill>
                <a:effectLst/>
              </a:rPr>
              <a:t>_values</a:t>
            </a:r>
            <a:r>
              <a:rPr lang="en-GB" dirty="0">
                <a:solidFill>
                  <a:srgbClr val="080808"/>
                </a:solidFill>
                <a:effectLst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    </a:t>
            </a:r>
            <a:r>
              <a:rPr lang="en-GB" dirty="0" err="1">
                <a:solidFill>
                  <a:srgbClr val="00627A"/>
                </a:solidFill>
                <a:effectLst/>
              </a:rPr>
              <a:t>OnPropertyChanged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 err="1">
                <a:solidFill>
                  <a:srgbClr val="0033B3"/>
                </a:solidFill>
                <a:effectLst/>
              </a:rPr>
              <a:t>nameof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871094"/>
                </a:solidFill>
                <a:effectLst/>
              </a:rPr>
              <a:t>Series</a:t>
            </a:r>
            <a:r>
              <a:rPr lang="en-GB" dirty="0">
                <a:solidFill>
                  <a:srgbClr val="080808"/>
                </a:solidFill>
                <a:effectLst/>
              </a:rPr>
              <a:t>));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});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    </a:t>
            </a:r>
            <a:r>
              <a:rPr lang="en-GB" dirty="0" err="1">
                <a:solidFill>
                  <a:srgbClr val="080808"/>
                </a:solidFill>
                <a:effectLst/>
              </a:rPr>
              <a:t>Thread.Sleep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SleepTime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});</a:t>
            </a:r>
          </a:p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F3A11-41AC-F1E7-7E18-2C9D601D4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99579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public </a:t>
            </a:r>
            <a:r>
              <a:rPr lang="da-DK" dirty="0" err="1"/>
              <a:t>partial</a:t>
            </a:r>
            <a:r>
              <a:rPr lang="da-DK" dirty="0"/>
              <a:t> </a:t>
            </a:r>
            <a:r>
              <a:rPr lang="da-DK" dirty="0" err="1"/>
              <a:t>class</a:t>
            </a:r>
            <a:r>
              <a:rPr lang="da-DK" dirty="0"/>
              <a:t> </a:t>
            </a:r>
            <a:r>
              <a:rPr lang="da-DK" dirty="0" err="1"/>
              <a:t>MainWindow</a:t>
            </a:r>
            <a:r>
              <a:rPr lang="da-DK" dirty="0"/>
              <a:t> : </a:t>
            </a:r>
            <a:r>
              <a:rPr lang="da-DK" dirty="0" err="1"/>
              <a:t>Window</a:t>
            </a:r>
            <a:endParaRPr lang="da-DK" dirty="0"/>
          </a:p>
          <a:p>
            <a:r>
              <a:rPr lang="da-DK" dirty="0"/>
              <a:t>{</a:t>
            </a:r>
          </a:p>
          <a:p>
            <a:r>
              <a:rPr lang="da-DK" dirty="0"/>
              <a:t>  public </a:t>
            </a:r>
            <a:r>
              <a:rPr lang="da-DK" dirty="0" err="1"/>
              <a:t>MainWindow</a:t>
            </a:r>
            <a:r>
              <a:rPr lang="da-DK" dirty="0"/>
              <a:t>()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InitializeComponent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public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UpdateCounter</a:t>
            </a:r>
            <a:r>
              <a:rPr lang="da-DK" dirty="0"/>
              <a:t>(</a:t>
            </a:r>
            <a:r>
              <a:rPr lang="da-DK" dirty="0" err="1"/>
              <a:t>int</a:t>
            </a:r>
            <a:r>
              <a:rPr lang="da-DK" dirty="0"/>
              <a:t> </a:t>
            </a:r>
            <a:r>
              <a:rPr lang="da-DK" dirty="0" err="1"/>
              <a:t>count</a:t>
            </a:r>
            <a:r>
              <a:rPr lang="da-DK" dirty="0"/>
              <a:t>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if (</a:t>
            </a:r>
            <a:r>
              <a:rPr lang="da-DK" dirty="0" err="1"/>
              <a:t>Dispatcher.CheckAccess</a:t>
            </a:r>
            <a:r>
              <a:rPr lang="da-DK" dirty="0"/>
              <a:t>())</a:t>
            </a:r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  </a:t>
            </a:r>
            <a:r>
              <a:rPr lang="da-DK" dirty="0" err="1"/>
              <a:t>else</a:t>
            </a:r>
            <a:endParaRPr lang="da-DK" dirty="0"/>
          </a:p>
          <a:p>
            <a:r>
              <a:rPr lang="da-DK" dirty="0"/>
              <a:t>    {</a:t>
            </a:r>
          </a:p>
          <a:p>
            <a:r>
              <a:rPr lang="da-DK" dirty="0"/>
              <a:t>      </a:t>
            </a:r>
            <a:r>
              <a:rPr lang="da-DK" dirty="0" err="1"/>
              <a:t>Dispatcher.BeginInvoke</a:t>
            </a:r>
            <a:r>
              <a:rPr lang="da-DK" dirty="0"/>
              <a:t>(</a:t>
            </a:r>
            <a:r>
              <a:rPr lang="da-DK" dirty="0" err="1"/>
              <a:t>DispatcherPriority.Normal</a:t>
            </a:r>
            <a:r>
              <a:rPr lang="da-DK" dirty="0"/>
              <a:t>, new Action(</a:t>
            </a:r>
          </a:p>
          <a:p>
            <a:r>
              <a:rPr lang="da-DK" dirty="0"/>
              <a:t>        () =&gt;</a:t>
            </a:r>
          </a:p>
          <a:p>
            <a:r>
              <a:rPr lang="da-DK" dirty="0"/>
              <a:t>        {</a:t>
            </a:r>
          </a:p>
          <a:p>
            <a:r>
              <a:rPr lang="da-DK" dirty="0"/>
              <a:t>          </a:t>
            </a:r>
            <a:r>
              <a:rPr lang="da-DK" dirty="0" err="1"/>
              <a:t>LabelCounter.Text</a:t>
            </a:r>
            <a:r>
              <a:rPr lang="da-DK" dirty="0"/>
              <a:t> = "" + </a:t>
            </a:r>
            <a:r>
              <a:rPr lang="da-DK" dirty="0" err="1"/>
              <a:t>count</a:t>
            </a:r>
            <a:r>
              <a:rPr lang="da-DK" dirty="0"/>
              <a:t>;</a:t>
            </a:r>
          </a:p>
          <a:p>
            <a:r>
              <a:rPr lang="da-DK" dirty="0"/>
              <a:t>        })</a:t>
            </a:r>
          </a:p>
          <a:p>
            <a:r>
              <a:rPr lang="da-DK" dirty="0"/>
              <a:t>      );</a:t>
            </a:r>
          </a:p>
          <a:p>
            <a:r>
              <a:rPr lang="da-DK" dirty="0"/>
              <a:t>    }</a:t>
            </a:r>
          </a:p>
          <a:p>
            <a:r>
              <a:rPr lang="da-DK" dirty="0"/>
              <a:t>  }</a:t>
            </a:r>
          </a:p>
          <a:p>
            <a:endParaRPr lang="da-DK" dirty="0"/>
          </a:p>
          <a:p>
            <a:r>
              <a:rPr lang="da-DK" dirty="0"/>
              <a:t>  private </a:t>
            </a:r>
            <a:r>
              <a:rPr lang="da-DK" dirty="0" err="1"/>
              <a:t>void</a:t>
            </a:r>
            <a:r>
              <a:rPr lang="da-DK" dirty="0"/>
              <a:t> </a:t>
            </a:r>
            <a:r>
              <a:rPr lang="da-DK" dirty="0" err="1"/>
              <a:t>ButtonStart_Click</a:t>
            </a:r>
            <a:r>
              <a:rPr lang="da-DK" dirty="0"/>
              <a:t>(</a:t>
            </a:r>
            <a:r>
              <a:rPr lang="da-DK" dirty="0" err="1"/>
              <a:t>object</a:t>
            </a:r>
            <a:r>
              <a:rPr lang="da-DK" dirty="0"/>
              <a:t> sender, </a:t>
            </a:r>
            <a:r>
              <a:rPr lang="da-DK" dirty="0" err="1"/>
              <a:t>RoutedEventArgs</a:t>
            </a:r>
            <a:r>
              <a:rPr lang="da-DK" dirty="0"/>
              <a:t> e)</a:t>
            </a:r>
          </a:p>
          <a:p>
            <a:r>
              <a:rPr lang="da-DK" dirty="0"/>
              <a:t>  {</a:t>
            </a:r>
          </a:p>
          <a:p>
            <a:r>
              <a:rPr lang="da-DK" dirty="0"/>
              <a:t>    </a:t>
            </a:r>
            <a:r>
              <a:rPr lang="da-DK" dirty="0" err="1"/>
              <a:t>Counter</a:t>
            </a:r>
            <a:r>
              <a:rPr lang="da-DK" dirty="0"/>
              <a:t> </a:t>
            </a:r>
            <a:r>
              <a:rPr lang="da-DK" dirty="0" err="1"/>
              <a:t>counter</a:t>
            </a:r>
            <a:r>
              <a:rPr lang="da-DK" dirty="0"/>
              <a:t> = new </a:t>
            </a:r>
            <a:r>
              <a:rPr lang="da-DK" dirty="0" err="1"/>
              <a:t>Counter</a:t>
            </a:r>
            <a:r>
              <a:rPr lang="da-DK" dirty="0"/>
              <a:t>(</a:t>
            </a:r>
            <a:r>
              <a:rPr lang="da-DK" dirty="0" err="1"/>
              <a:t>this</a:t>
            </a:r>
            <a:r>
              <a:rPr lang="da-DK" dirty="0"/>
              <a:t>);</a:t>
            </a:r>
          </a:p>
          <a:p>
            <a:endParaRPr lang="da-DK" dirty="0"/>
          </a:p>
          <a:p>
            <a:r>
              <a:rPr lang="da-DK" dirty="0"/>
              <a:t>    Thread </a:t>
            </a:r>
            <a:r>
              <a:rPr lang="da-DK" dirty="0" err="1"/>
              <a:t>theThread</a:t>
            </a:r>
            <a:r>
              <a:rPr lang="da-DK" dirty="0"/>
              <a:t> = new Thread(</a:t>
            </a:r>
            <a:r>
              <a:rPr lang="da-DK" dirty="0" err="1"/>
              <a:t>counter.Run</a:t>
            </a:r>
            <a:r>
              <a:rPr lang="da-DK" dirty="0"/>
              <a:t>);</a:t>
            </a:r>
          </a:p>
          <a:p>
            <a:r>
              <a:rPr lang="da-DK" dirty="0"/>
              <a:t>    </a:t>
            </a:r>
            <a:r>
              <a:rPr lang="da-DK" dirty="0" err="1"/>
              <a:t>theThread.IsBackground</a:t>
            </a:r>
            <a:r>
              <a:rPr lang="da-DK" dirty="0"/>
              <a:t> = true;</a:t>
            </a:r>
          </a:p>
          <a:p>
            <a:r>
              <a:rPr lang="da-DK" dirty="0"/>
              <a:t>    </a:t>
            </a:r>
          </a:p>
          <a:p>
            <a:r>
              <a:rPr lang="da-DK" dirty="0"/>
              <a:t>    </a:t>
            </a:r>
            <a:r>
              <a:rPr lang="da-DK" dirty="0" err="1"/>
              <a:t>theThread.Start</a:t>
            </a:r>
            <a:r>
              <a:rPr lang="da-DK" dirty="0"/>
              <a:t>();</a:t>
            </a:r>
          </a:p>
          <a:p>
            <a:r>
              <a:rPr lang="da-DK" dirty="0"/>
              <a:t>  }</a:t>
            </a:r>
          </a:p>
          <a:p>
            <a:r>
              <a:rPr lang="da-DK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8266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3B12-1383-4ED5-3970-93E017F7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D0465-FC1E-DCB5-D805-D45156FD7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1F323-B032-46C3-56B6-FF995AC07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F1CE-96F8-DD1F-3DE8-0A4F222E3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82675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75E2-E088-0848-0435-32E3950A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EDFFC-AB5B-1339-573F-E600C27D6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4B94A-3375-4BA2-96DE-F19650340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FC5FB-829D-61AF-35BA-B8E742CF5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36189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EBBCC-09A5-7E8E-AF6C-3F1C2E66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90C6B-A456-F972-2547-EFB4308B4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029DA-6F87-5740-A5E8-2FAAAC131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 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30F50-E539-65A3-EDA9-BE1D4106E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292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41449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This can be solved with use of async / await</a:t>
            </a:r>
          </a:p>
          <a:p>
            <a:endParaRPr lang="en-DK" dirty="0"/>
          </a:p>
          <a:p>
            <a:r>
              <a:rPr lang="en-DK" dirty="0"/>
              <a:t>Progress must be updated manually </a:t>
            </a:r>
          </a:p>
          <a:p>
            <a:r>
              <a:rPr lang="en-DK" dirty="0"/>
              <a:t>Cancellation is done with Cancellation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54317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You</a:t>
            </a:r>
            <a:r>
              <a:rPr lang="da-DK" dirty="0"/>
              <a:t> have </a:t>
            </a:r>
            <a:r>
              <a:rPr lang="da-DK" dirty="0" err="1"/>
              <a:t>already</a:t>
            </a:r>
            <a:r>
              <a:rPr lang="da-DK" baseline="0" dirty="0"/>
              <a:t> </a:t>
            </a:r>
            <a:r>
              <a:rPr lang="da-DK" baseline="0" dirty="0" err="1"/>
              <a:t>seen</a:t>
            </a:r>
            <a:r>
              <a:rPr lang="da-DK" baseline="0" dirty="0"/>
              <a:t> </a:t>
            </a:r>
            <a:r>
              <a:rPr lang="da-DK" baseline="0" dirty="0" err="1"/>
              <a:t>how</a:t>
            </a:r>
            <a:r>
              <a:rPr lang="da-DK" baseline="0" dirty="0"/>
              <a:t> to </a:t>
            </a:r>
            <a:r>
              <a:rPr lang="da-DK" baseline="0" dirty="0" err="1"/>
              <a:t>update</a:t>
            </a:r>
            <a:r>
              <a:rPr lang="da-DK" baseline="0" dirty="0"/>
              <a:t> the GUI from a </a:t>
            </a:r>
            <a:r>
              <a:rPr lang="da-DK" baseline="0" dirty="0" err="1"/>
              <a:t>System.Threading.Thread</a:t>
            </a:r>
            <a:r>
              <a:rPr lang="da-DK" baseline="0" dirty="0"/>
              <a:t>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639317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BackgroundWorker</a:t>
            </a:r>
            <a:r>
              <a:rPr lang="da-DK" baseline="0" dirty="0"/>
              <a:t> </a:t>
            </a:r>
            <a:r>
              <a:rPr lang="da-DK" baseline="0" dirty="0" err="1"/>
              <a:t>seems</a:t>
            </a:r>
            <a:r>
              <a:rPr lang="da-DK" baseline="0" dirty="0"/>
              <a:t> to fit </a:t>
            </a:r>
            <a:r>
              <a:rPr lang="da-DK" baseline="0" dirty="0" err="1"/>
              <a:t>our</a:t>
            </a:r>
            <a:r>
              <a:rPr lang="da-DK" baseline="0" dirty="0"/>
              <a:t> </a:t>
            </a:r>
            <a:r>
              <a:rPr lang="da-DK" baseline="0" dirty="0" err="1"/>
              <a:t>goals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74571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43734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06441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41252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04883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32108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24652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01596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81920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85147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2009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48200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60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15535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61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23590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E69BF-7D4B-4731-9040-10D9EE679D2E}" type="slidenum">
              <a:rPr lang="da-DK" smtClean="0"/>
              <a:t>62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7302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 noGrp="1"/>
          </p:cNvSpPr>
          <p:nvPr>
            <p:ph type="body" idx="4294967295" hasCustomPrompt="1"/>
          </p:nvPr>
        </p:nvSpPr>
        <p:spPr>
          <a:xfrm>
            <a:off x="985842" y="3715426"/>
            <a:ext cx="7161215" cy="1746083"/>
          </a:xfrm>
        </p:spPr>
        <p:txBody>
          <a:bodyPr/>
          <a:lstStyle>
            <a:lvl1pPr>
              <a:lnSpc>
                <a:spcPct val="101000"/>
              </a:lnSpc>
              <a:buNone/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pic>
        <p:nvPicPr>
          <p:cNvPr id="13" name="Au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401" y="5997604"/>
            <a:ext cx="557564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OFF_logo2Computed"/>
          <p:cNvSpPr txBox="1"/>
          <p:nvPr userDrawn="1"/>
        </p:nvSpPr>
        <p:spPr>
          <a:xfrm>
            <a:off x="971998" y="5997604"/>
            <a:ext cx="2350044" cy="676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583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600" b="0" i="0" u="none" strike="noStrike" kern="1200" cap="all" spc="40" baseline="0" dirty="0">
                <a:solidFill>
                  <a:srgbClr val="FFFFFF"/>
                </a:solidFill>
                <a:uFillTx/>
                <a:latin typeface="AU Passata Light" pitchFamily="34"/>
              </a:rPr>
              <a:t>Aarhus University School of Engineering</a:t>
            </a:r>
          </a:p>
        </p:txBody>
      </p:sp>
      <p:sp>
        <p:nvSpPr>
          <p:cNvPr id="16" name="OFF_logo1Computed"/>
          <p:cNvSpPr/>
          <p:nvPr userDrawn="1"/>
        </p:nvSpPr>
        <p:spPr>
          <a:xfrm>
            <a:off x="971998" y="5997604"/>
            <a:ext cx="64" cy="4511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309597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  <p:pic>
        <p:nvPicPr>
          <p:cNvPr id="18" name="Secondary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06002" y="5997604"/>
            <a:ext cx="1658236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0" name="USR_Title"/>
          <p:cNvSpPr txBox="1"/>
          <p:nvPr userDrawn="1"/>
        </p:nvSpPr>
        <p:spPr>
          <a:xfrm>
            <a:off x="6240048" y="5997604"/>
            <a:ext cx="2982416" cy="6845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75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Michael Loft</a:t>
            </a:r>
          </a:p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ml@ase.au.dk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5842" y="1904999"/>
            <a:ext cx="9755188" cy="12743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2859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35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2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439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47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350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57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9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398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827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1538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1607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pic>
        <p:nvPicPr>
          <p:cNvPr id="8" name="Logo whit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8266" y="2864714"/>
            <a:ext cx="2228401" cy="111699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LAN_AUWBreak"/>
          <p:cNvSpPr/>
          <p:nvPr userDrawn="1"/>
        </p:nvSpPr>
        <p:spPr>
          <a:xfrm>
            <a:off x="6022613" y="2804400"/>
            <a:ext cx="64" cy="7575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183602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</p:spTree>
    <p:extLst>
      <p:ext uri="{BB962C8B-B14F-4D97-AF65-F5344CB8AC3E}">
        <p14:creationId xmlns:p14="http://schemas.microsoft.com/office/powerpoint/2010/main" val="354775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1965"/>
            <a:ext cx="10515600" cy="486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803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?view=netframework-4.7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project.com/Articles/841751/MultiThreading-Using-a-Background-Worker-Csharp?msg=4950583#xx4950583xx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dowork?view=netframework-4.7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runworkerasync?view=netframework-4.7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progresschanged?view=netframework-4.7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progresschanged?view=netframework-4.7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runworkercompleted?view=netframework-4.7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api/system.componentmodel.backgroundworker.runworkercompleted?view=netframework-4.7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://funjester.com/assets/images/decals/skulls%20skeleton/skulls%20skeletons004.jpg" TargetMode="External"/><Relationship Id="rId3" Type="http://schemas.openxmlformats.org/officeDocument/2006/relationships/hyperlink" Target="https://images6.moneysavingexpert.com/images/reclaim-packaged-accounts-04.png" TargetMode="External"/><Relationship Id="rId7" Type="http://schemas.openxmlformats.org/officeDocument/2006/relationships/hyperlink" Target="https://vignette.wikia.nocookie.net/telletubbies/images/5/5d/Pic-meet-char-po.jpg/revision/latest?cb=20160303152950" TargetMode="External"/><Relationship Id="rId2" Type="http://schemas.openxmlformats.org/officeDocument/2006/relationships/hyperlink" Target="https://i5.walmartimages.com/asr/5bf8c70c-c0f4-46c8-8de2-d14417c3dcdb_2.a974142a063bb1f235f672f9a68eeb10.jpeg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vignette.wikia.nocookie.net/telletubbies/images/e/e5/Tinky_Winky.jpg/revision/latest/scale-to-width-down/180?cb=20111116163749" TargetMode="External"/><Relationship Id="rId5" Type="http://schemas.openxmlformats.org/officeDocument/2006/relationships/hyperlink" Target="https://vignette.wikia.nocookie.net/telletubbies/images/3/35/Url.jpg/revision/latest/scale-to-width-down/200?cb=20120211023613" TargetMode="External"/><Relationship Id="rId10" Type="http://schemas.openxmlformats.org/officeDocument/2006/relationships/hyperlink" Target="http://wjreviews.com/reviews-cta/bonus.png" TargetMode="External"/><Relationship Id="rId4" Type="http://schemas.openxmlformats.org/officeDocument/2006/relationships/hyperlink" Target="https://vignette.wikia.nocookie.net/telletubbies/images/b/b9/Laa_Laa.jpg/revision/latest?cb=20130707175328" TargetMode="External"/><Relationship Id="rId9" Type="http://schemas.openxmlformats.org/officeDocument/2006/relationships/hyperlink" Target="http://stockmedia.cc/computing_technology/slides/DSD_8790.jpg" TargetMode="Externa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Thread </a:t>
            </a:r>
            <a:r>
              <a:rPr lang="da-DK" dirty="0" err="1">
                <a:solidFill>
                  <a:schemeClr val="bg1"/>
                </a:solidFill>
              </a:rPr>
              <a:t>synchronization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38200" y="1271393"/>
            <a:ext cx="9755188" cy="1274331"/>
          </a:xfrm>
        </p:spPr>
        <p:txBody>
          <a:bodyPr>
            <a:normAutofit/>
          </a:bodyPr>
          <a:lstStyle/>
          <a:p>
            <a:r>
              <a:rPr lang="da-DK" sz="3600" dirty="0"/>
              <a:t>Part 1</a:t>
            </a:r>
          </a:p>
        </p:txBody>
      </p:sp>
      <p:pic>
        <p:nvPicPr>
          <p:cNvPr id="1026" name="Picture 2" descr="synchronized swimming - XciteFun.net">
            <a:extLst>
              <a:ext uri="{FF2B5EF4-FFF2-40B4-BE49-F238E27FC236}">
                <a16:creationId xmlns:a16="http://schemas.microsoft.com/office/drawing/2014/main" id="{0A49A07E-A1FC-E726-8DA6-63A876672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349" y="2711885"/>
            <a:ext cx="5890809" cy="336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3F4708-0342-3E01-E1B9-D1BF069751A2}"/>
              </a:ext>
            </a:extLst>
          </p:cNvPr>
          <p:cNvSpPr txBox="1"/>
          <p:nvPr/>
        </p:nvSpPr>
        <p:spPr>
          <a:xfrm>
            <a:off x="2522483" y="1639614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25000" lnSpcReduction="20000"/>
          </a:bodyPr>
          <a:lstStyle/>
          <a:p>
            <a:endParaRPr lang="en-DK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9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threading</a:t>
            </a:r>
            <a:r>
              <a:rPr lang="da-DK" dirty="0"/>
              <a:t> pt.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Concurrent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to </a:t>
            </a:r>
            <a:r>
              <a:rPr lang="da-DK" dirty="0" err="1"/>
              <a:t>shared</a:t>
            </a:r>
            <a:r>
              <a:rPr lang="da-DK" dirty="0"/>
              <a:t> </a:t>
            </a:r>
            <a:r>
              <a:rPr lang="da-DK" dirty="0" err="1"/>
              <a:t>resources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5716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AE53-586D-713D-B1E2-23B2CDAB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864B-82A7-21CE-11B3-B586DFEA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threading</a:t>
            </a:r>
            <a:r>
              <a:rPr lang="da-DK" dirty="0"/>
              <a:t> pt.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133E-1BF5-6574-3712-BCD500C5B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Concurrent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access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to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shared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resources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/>
              <a:t>Locking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404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CE98-D6FF-1D75-DBE6-54E48943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3243-51C1-0756-25BA-1EC81828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threading</a:t>
            </a:r>
            <a:r>
              <a:rPr lang="da-DK" dirty="0"/>
              <a:t> pt.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F927-C736-FA95-B33B-F4614204B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Concurrent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access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to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shared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resources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Locking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/>
              <a:t>Deadlock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5181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1A1EA-B5D4-2F6C-3A1F-4055A402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DBA6-8035-9D97-8BD5-8AE8ECF6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threading</a:t>
            </a:r>
            <a:r>
              <a:rPr lang="da-DK" dirty="0"/>
              <a:t> pt.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3270-9106-13CB-8572-4BB8FA16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Concurrent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access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to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shared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resources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Locking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Deadlock</a:t>
            </a: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Updating</a:t>
            </a:r>
            <a:r>
              <a:rPr lang="da-DK" dirty="0"/>
              <a:t> MAUI </a:t>
            </a:r>
            <a:r>
              <a:rPr lang="da-DK" dirty="0" err="1"/>
              <a:t>GUIs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3657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519F4E-A519-0A02-9AAE-5666EC49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5DCF-B501-1FFC-A373-721FD43D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threading</a:t>
            </a:r>
            <a:r>
              <a:rPr lang="da-DK" dirty="0"/>
              <a:t> pt.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980B-8C5F-DC1F-E925-C6FFBFF02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Concurrent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to </a:t>
            </a:r>
            <a:r>
              <a:rPr lang="da-DK" dirty="0" err="1"/>
              <a:t>shared</a:t>
            </a:r>
            <a:r>
              <a:rPr lang="da-DK" dirty="0"/>
              <a:t> </a:t>
            </a:r>
            <a:r>
              <a:rPr lang="da-DK" dirty="0" err="1"/>
              <a:t>resources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Locking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Deadlock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Updating</a:t>
            </a:r>
            <a:r>
              <a:rPr lang="da-DK" dirty="0"/>
              <a:t> MAUI </a:t>
            </a:r>
            <a:r>
              <a:rPr lang="da-DK" dirty="0" err="1"/>
              <a:t>GUIs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9020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But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first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1</a:t>
            </a:r>
          </a:p>
          <a:p>
            <a:pPr marL="0" indent="0" algn="ctr">
              <a:buNone/>
            </a:pPr>
            <a:r>
              <a:rPr lang="da-DK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and </a:t>
            </a:r>
            <a:r>
              <a:rPr lang="da-DK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when</a:t>
            </a:r>
            <a:r>
              <a:rPr lang="da-DK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done, skip </a:t>
            </a:r>
            <a:r>
              <a:rPr lang="da-DK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ahead</a:t>
            </a:r>
            <a:r>
              <a:rPr lang="da-DK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or </a:t>
            </a:r>
            <a:r>
              <a:rPr lang="da-DK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get</a:t>
            </a:r>
            <a:r>
              <a:rPr lang="da-DK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cup of </a:t>
            </a:r>
            <a:r>
              <a:rPr lang="da-DK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coffee</a:t>
            </a:r>
            <a:endParaRPr lang="da-DK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9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Concurrent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to </a:t>
            </a:r>
            <a:r>
              <a:rPr lang="da-DK" dirty="0" err="1"/>
              <a:t>shared</a:t>
            </a:r>
            <a:r>
              <a:rPr lang="da-DK" dirty="0"/>
              <a:t> </a:t>
            </a:r>
            <a:r>
              <a:rPr lang="da-DK" dirty="0" err="1"/>
              <a:t>resources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8272" y="1311965"/>
            <a:ext cx="4505527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often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</a:t>
            </a:r>
            <a:r>
              <a:rPr lang="da-DK" dirty="0" err="1"/>
              <a:t>synchronization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</a:t>
            </a:r>
            <a:r>
              <a:rPr lang="da-DK" dirty="0" err="1"/>
              <a:t>share</a:t>
            </a:r>
            <a:r>
              <a:rPr lang="da-DK" dirty="0"/>
              <a:t> a </a:t>
            </a:r>
            <a:r>
              <a:rPr lang="da-DK" dirty="0" err="1"/>
              <a:t>resource</a:t>
            </a:r>
            <a:r>
              <a:rPr lang="da-DK" dirty="0"/>
              <a:t>.</a:t>
            </a:r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5538281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5241587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8" name="Right Arrow 7"/>
          <p:cNvSpPr/>
          <p:nvPr/>
        </p:nvSpPr>
        <p:spPr>
          <a:xfrm rot="1574334">
            <a:off x="1448594" y="2545298"/>
            <a:ext cx="1115847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438" y="2538523"/>
            <a:ext cx="1780952" cy="1780952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9341734">
            <a:off x="4351787" y="3035530"/>
            <a:ext cx="1115847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653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bank </a:t>
            </a:r>
            <a:r>
              <a:rPr lang="da-DK" dirty="0" err="1"/>
              <a:t>account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9523" y="1311965"/>
            <a:ext cx="2764277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A simple </a:t>
            </a:r>
            <a:r>
              <a:rPr lang="da-DK" dirty="0" err="1"/>
              <a:t>example</a:t>
            </a:r>
            <a:r>
              <a:rPr lang="da-DK" dirty="0"/>
              <a:t> is a bank </a:t>
            </a:r>
            <a:r>
              <a:rPr lang="da-DK" dirty="0" err="1"/>
              <a:t>account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7386537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7089843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9429" y="1305959"/>
            <a:ext cx="963038" cy="3015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9703" y="1701239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100$</a:t>
            </a:r>
          </a:p>
        </p:txBody>
      </p:sp>
      <p:sp>
        <p:nvSpPr>
          <p:cNvPr id="11" name="TextBox 10"/>
          <p:cNvSpPr txBox="1"/>
          <p:nvPr/>
        </p:nvSpPr>
        <p:spPr>
          <a:xfrm rot="1615630">
            <a:off x="2117421" y="2070421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9429" y="4558325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90$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740" y="2644985"/>
            <a:ext cx="2019765" cy="15350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20079335">
            <a:off x="5335572" y="2086863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/>
          <p:cNvSpPr/>
          <p:nvPr/>
        </p:nvSpPr>
        <p:spPr>
          <a:xfrm rot="1574334">
            <a:off x="1436008" y="2180183"/>
            <a:ext cx="222898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/>
          <p:cNvSpPr/>
          <p:nvPr/>
        </p:nvSpPr>
        <p:spPr>
          <a:xfrm rot="9341734">
            <a:off x="4844165" y="2267690"/>
            <a:ext cx="2595727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341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bank </a:t>
            </a:r>
            <a:r>
              <a:rPr lang="da-DK" dirty="0" err="1"/>
              <a:t>account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9523" y="1311965"/>
            <a:ext cx="2764277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An </a:t>
            </a:r>
            <a:r>
              <a:rPr lang="da-DK" dirty="0" err="1"/>
              <a:t>account</a:t>
            </a:r>
            <a:r>
              <a:rPr lang="da-DK" dirty="0"/>
              <a:t> has a balance.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7386537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7089843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9429" y="1305959"/>
            <a:ext cx="963038" cy="3015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9703" y="1701239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100$</a:t>
            </a:r>
          </a:p>
        </p:txBody>
      </p:sp>
      <p:sp>
        <p:nvSpPr>
          <p:cNvPr id="11" name="TextBox 10"/>
          <p:cNvSpPr txBox="1"/>
          <p:nvPr/>
        </p:nvSpPr>
        <p:spPr>
          <a:xfrm rot="1615630">
            <a:off x="2117421" y="2070421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9429" y="4558325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90$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740" y="2644985"/>
            <a:ext cx="2019765" cy="15350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20079335">
            <a:off x="5335572" y="2086863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/>
          <p:cNvSpPr/>
          <p:nvPr/>
        </p:nvSpPr>
        <p:spPr>
          <a:xfrm rot="1574334">
            <a:off x="1436008" y="2180183"/>
            <a:ext cx="222898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/>
          <p:cNvSpPr/>
          <p:nvPr/>
        </p:nvSpPr>
        <p:spPr>
          <a:xfrm rot="9341734">
            <a:off x="4844165" y="2267690"/>
            <a:ext cx="2595727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111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802A-A594-EB4B-5E9E-BA8681A4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191C-7902-0DE6-CF12-B37620BA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bank </a:t>
            </a:r>
            <a:r>
              <a:rPr lang="da-DK" dirty="0" err="1"/>
              <a:t>account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9406-AE1B-F399-A2CE-2916DC323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9523" y="1311965"/>
            <a:ext cx="2764277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An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account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has a balance.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deposit</a:t>
            </a:r>
            <a:r>
              <a:rPr lang="da-DK" dirty="0"/>
              <a:t> and </a:t>
            </a:r>
            <a:r>
              <a:rPr lang="da-DK" dirty="0" err="1"/>
              <a:t>withdraw</a:t>
            </a:r>
            <a:r>
              <a:rPr lang="da-DK" dirty="0"/>
              <a:t> </a:t>
            </a:r>
            <a:r>
              <a:rPr lang="da-DK" dirty="0" err="1"/>
              <a:t>money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134DEE3D-34B4-A074-1E46-403420682CC4}"/>
              </a:ext>
            </a:extLst>
          </p:cNvPr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27299-5B79-963C-51FD-5B93CC1D307F}"/>
              </a:ext>
            </a:extLst>
          </p:cNvPr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DA5ED23E-9699-4B00-29B2-C81E91BEAD0E}"/>
              </a:ext>
            </a:extLst>
          </p:cNvPr>
          <p:cNvSpPr/>
          <p:nvPr/>
        </p:nvSpPr>
        <p:spPr>
          <a:xfrm>
            <a:off x="7386537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5428D-2A90-7E8C-5FE5-68E9F972199F}"/>
              </a:ext>
            </a:extLst>
          </p:cNvPr>
          <p:cNvSpPr txBox="1"/>
          <p:nvPr/>
        </p:nvSpPr>
        <p:spPr>
          <a:xfrm>
            <a:off x="7089843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424CB-86A8-C4F6-5266-7B7CAD8168FE}"/>
              </a:ext>
            </a:extLst>
          </p:cNvPr>
          <p:cNvSpPr txBox="1"/>
          <p:nvPr/>
        </p:nvSpPr>
        <p:spPr>
          <a:xfrm>
            <a:off x="3949429" y="1305959"/>
            <a:ext cx="963038" cy="3015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Balance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E71D6-B279-BC38-D839-7D155961CEF1}"/>
              </a:ext>
            </a:extLst>
          </p:cNvPr>
          <p:cNvSpPr txBox="1"/>
          <p:nvPr/>
        </p:nvSpPr>
        <p:spPr>
          <a:xfrm>
            <a:off x="3939703" y="1701239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100$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78673-C6FD-B5ED-D7AB-061F9593E2E5}"/>
              </a:ext>
            </a:extLst>
          </p:cNvPr>
          <p:cNvSpPr txBox="1"/>
          <p:nvPr/>
        </p:nvSpPr>
        <p:spPr>
          <a:xfrm rot="1615630">
            <a:off x="2117421" y="2070421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0DC68-1030-818E-6A24-F1CAEB50E319}"/>
              </a:ext>
            </a:extLst>
          </p:cNvPr>
          <p:cNvSpPr txBox="1"/>
          <p:nvPr/>
        </p:nvSpPr>
        <p:spPr>
          <a:xfrm>
            <a:off x="3949429" y="4558325"/>
            <a:ext cx="729575" cy="2140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>
                <a:latin typeface="Gill Sans MT" panose="020B0502020104020203" pitchFamily="34" charset="0"/>
              </a:rPr>
              <a:t>90$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31C28F-D90B-4752-6BE4-7A28A78BE7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740" y="2644985"/>
            <a:ext cx="2019765" cy="15350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A71F43-AFC0-EB60-39E6-CDC0CCAB00E1}"/>
              </a:ext>
            </a:extLst>
          </p:cNvPr>
          <p:cNvSpPr txBox="1"/>
          <p:nvPr/>
        </p:nvSpPr>
        <p:spPr>
          <a:xfrm rot="20079335">
            <a:off x="5335572" y="2086863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B7D90D3-34A4-0F89-2089-5B839F7BC3B5}"/>
              </a:ext>
            </a:extLst>
          </p:cNvPr>
          <p:cNvSpPr/>
          <p:nvPr/>
        </p:nvSpPr>
        <p:spPr>
          <a:xfrm rot="1574334">
            <a:off x="1436008" y="2180183"/>
            <a:ext cx="222898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61C250C-0EC1-24F6-97BC-25C8525DE835}"/>
              </a:ext>
            </a:extLst>
          </p:cNvPr>
          <p:cNvSpPr/>
          <p:nvPr/>
        </p:nvSpPr>
        <p:spPr>
          <a:xfrm rot="9341734">
            <a:off x="4844165" y="2267690"/>
            <a:ext cx="2595727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5344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bank </a:t>
            </a:r>
            <a:r>
              <a:rPr lang="da-DK" dirty="0" err="1"/>
              <a:t>account</a:t>
            </a:r>
            <a:endParaRPr lang="da-DK" dirty="0"/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304844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10008150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11" name="TextBox 10"/>
          <p:cNvSpPr txBox="1"/>
          <p:nvPr/>
        </p:nvSpPr>
        <p:spPr>
          <a:xfrm rot="1615630">
            <a:off x="1296503" y="1919435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4" name="TextBox 13"/>
          <p:cNvSpPr txBox="1"/>
          <p:nvPr/>
        </p:nvSpPr>
        <p:spPr>
          <a:xfrm rot="20079335">
            <a:off x="8848494" y="1803204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/>
          <p:cNvSpPr/>
          <p:nvPr/>
        </p:nvSpPr>
        <p:spPr>
          <a:xfrm rot="1574334">
            <a:off x="1583422" y="2170237"/>
            <a:ext cx="689210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/>
          <p:cNvSpPr/>
          <p:nvPr/>
        </p:nvSpPr>
        <p:spPr>
          <a:xfrm rot="9341734">
            <a:off x="8954597" y="2010981"/>
            <a:ext cx="1348323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/>
          <p:cNvSpPr/>
          <p:nvPr/>
        </p:nvSpPr>
        <p:spPr>
          <a:xfrm>
            <a:off x="2509737" y="1305959"/>
            <a:ext cx="6315724" cy="46473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Account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private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_balance = 100;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Deposit(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_balance +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Withdraw(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_balance -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425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 err="1"/>
              <a:t>What</a:t>
            </a:r>
            <a:r>
              <a:rPr lang="da-DK" sz="3600" dirty="0"/>
              <a:t> the computer </a:t>
            </a:r>
            <a:r>
              <a:rPr lang="da-DK" sz="3600" dirty="0" err="1"/>
              <a:t>really</a:t>
            </a:r>
            <a:r>
              <a:rPr lang="da-DK" sz="3600" dirty="0"/>
              <a:t> </a:t>
            </a:r>
            <a:r>
              <a:rPr lang="da-DK" sz="3600" dirty="0" err="1"/>
              <a:t>does</a:t>
            </a:r>
            <a:r>
              <a:rPr lang="da-DK" sz="3600" dirty="0"/>
              <a:t>... (the bank </a:t>
            </a:r>
            <a:r>
              <a:rPr lang="da-DK" sz="3600" dirty="0" err="1"/>
              <a:t>account</a:t>
            </a:r>
            <a:r>
              <a:rPr lang="da-DK" sz="3600" dirty="0"/>
              <a:t>)</a:t>
            </a:r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304844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10008150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11" name="TextBox 10"/>
          <p:cNvSpPr txBox="1"/>
          <p:nvPr/>
        </p:nvSpPr>
        <p:spPr>
          <a:xfrm rot="1615630">
            <a:off x="1296503" y="1919435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4" name="TextBox 13"/>
          <p:cNvSpPr txBox="1"/>
          <p:nvPr/>
        </p:nvSpPr>
        <p:spPr>
          <a:xfrm rot="20079335">
            <a:off x="8848494" y="1803204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/>
          <p:cNvSpPr/>
          <p:nvPr/>
        </p:nvSpPr>
        <p:spPr>
          <a:xfrm rot="1574334">
            <a:off x="1583422" y="2170237"/>
            <a:ext cx="689210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/>
          <p:cNvSpPr/>
          <p:nvPr/>
        </p:nvSpPr>
        <p:spPr>
          <a:xfrm rot="9341734">
            <a:off x="8954597" y="2010981"/>
            <a:ext cx="1348323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/>
          <p:cNvSpPr/>
          <p:nvPr/>
        </p:nvSpPr>
        <p:spPr>
          <a:xfrm>
            <a:off x="2509737" y="1305959"/>
            <a:ext cx="6315724" cy="46473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Account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private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_balance = 100;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Deposit(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_balance;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+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Withdraw(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_balance;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-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331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 err="1"/>
              <a:t>What</a:t>
            </a:r>
            <a:r>
              <a:rPr lang="da-DK" sz="3600" dirty="0"/>
              <a:t> the computer </a:t>
            </a:r>
            <a:r>
              <a:rPr lang="da-DK" sz="3600" dirty="0" err="1"/>
              <a:t>really</a:t>
            </a:r>
            <a:r>
              <a:rPr lang="da-DK" sz="3600" dirty="0"/>
              <a:t> </a:t>
            </a:r>
            <a:r>
              <a:rPr lang="da-DK" sz="3600" dirty="0" err="1"/>
              <a:t>does</a:t>
            </a:r>
            <a:r>
              <a:rPr lang="da-DK" sz="3600" dirty="0"/>
              <a:t>... (the bank </a:t>
            </a:r>
            <a:r>
              <a:rPr lang="da-DK" sz="3600" dirty="0" err="1"/>
              <a:t>account</a:t>
            </a:r>
            <a:r>
              <a:rPr lang="da-DK" sz="3600" dirty="0"/>
              <a:t>)</a:t>
            </a:r>
          </a:p>
        </p:txBody>
      </p:sp>
      <p:sp>
        <p:nvSpPr>
          <p:cNvPr id="4" name="Down Arrow 3"/>
          <p:cNvSpPr/>
          <p:nvPr/>
        </p:nvSpPr>
        <p:spPr>
          <a:xfrm>
            <a:off x="1134894" y="160151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131196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304844" y="1595504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10008150" y="1305959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sp>
        <p:nvSpPr>
          <p:cNvPr id="11" name="TextBox 10"/>
          <p:cNvSpPr txBox="1"/>
          <p:nvPr/>
        </p:nvSpPr>
        <p:spPr>
          <a:xfrm rot="1615630">
            <a:off x="1296503" y="1919435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Deposit</a:t>
            </a:r>
            <a:r>
              <a:rPr lang="da-DK" sz="1600" dirty="0">
                <a:latin typeface="Gill Sans MT" panose="020B0502020104020203" pitchFamily="34" charset="0"/>
              </a:rPr>
              <a:t> 10$</a:t>
            </a:r>
          </a:p>
        </p:txBody>
      </p:sp>
      <p:sp>
        <p:nvSpPr>
          <p:cNvPr id="14" name="TextBox 13"/>
          <p:cNvSpPr txBox="1"/>
          <p:nvPr/>
        </p:nvSpPr>
        <p:spPr>
          <a:xfrm rot="20079335">
            <a:off x="8848494" y="1803204"/>
            <a:ext cx="1426724" cy="2053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da-DK" sz="1600" dirty="0" err="1">
                <a:latin typeface="Gill Sans MT" panose="020B0502020104020203" pitchFamily="34" charset="0"/>
              </a:rPr>
              <a:t>Withdraw</a:t>
            </a:r>
            <a:r>
              <a:rPr lang="da-DK" sz="1600" dirty="0">
                <a:latin typeface="Gill Sans MT" panose="020B0502020104020203" pitchFamily="34" charset="0"/>
              </a:rPr>
              <a:t> 20$</a:t>
            </a:r>
          </a:p>
        </p:txBody>
      </p:sp>
      <p:sp>
        <p:nvSpPr>
          <p:cNvPr id="10" name="Right Arrow 9"/>
          <p:cNvSpPr/>
          <p:nvPr/>
        </p:nvSpPr>
        <p:spPr>
          <a:xfrm rot="1574334">
            <a:off x="1583422" y="2170237"/>
            <a:ext cx="689210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ight Arrow 12"/>
          <p:cNvSpPr/>
          <p:nvPr/>
        </p:nvSpPr>
        <p:spPr>
          <a:xfrm rot="9341734">
            <a:off x="8954597" y="2010981"/>
            <a:ext cx="1348323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/>
          <p:cNvSpPr/>
          <p:nvPr/>
        </p:nvSpPr>
        <p:spPr>
          <a:xfrm>
            <a:off x="2509737" y="1305959"/>
            <a:ext cx="6315724" cy="46473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Account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private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_balance = 100;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Deposit(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_balance;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+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void Withdraw(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amount)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_balance;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- amount;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_balance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internalRegister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0113" y="4017523"/>
            <a:ext cx="2799655" cy="2286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da-DK" dirty="0" err="1">
                <a:latin typeface="Gill Sans MT" panose="020B0502020104020203" pitchFamily="34" charset="0"/>
              </a:rPr>
              <a:t>Without</a:t>
            </a:r>
            <a:r>
              <a:rPr lang="da-DK" dirty="0">
                <a:latin typeface="Gill Sans MT" panose="020B0502020104020203" pitchFamily="34" charset="0"/>
              </a:rPr>
              <a:t> </a:t>
            </a:r>
            <a:r>
              <a:rPr lang="da-DK" dirty="0" err="1">
                <a:latin typeface="Gill Sans MT" panose="020B0502020104020203" pitchFamily="34" charset="0"/>
              </a:rPr>
              <a:t>synchronization</a:t>
            </a:r>
            <a:r>
              <a:rPr lang="da-DK" dirty="0">
                <a:latin typeface="Gill Sans MT" panose="020B0502020104020203" pitchFamily="34" charset="0"/>
              </a:rPr>
              <a:t>, the </a:t>
            </a:r>
            <a:r>
              <a:rPr lang="da-DK" dirty="0" err="1">
                <a:latin typeface="Gill Sans MT" panose="020B0502020104020203" pitchFamily="34" charset="0"/>
              </a:rPr>
              <a:t>scheduler</a:t>
            </a:r>
            <a:r>
              <a:rPr lang="da-DK" dirty="0">
                <a:latin typeface="Gill Sans MT" panose="020B0502020104020203" pitchFamily="34" charset="0"/>
              </a:rPr>
              <a:t> </a:t>
            </a:r>
            <a:r>
              <a:rPr lang="da-DK" dirty="0" err="1">
                <a:latin typeface="Gill Sans MT" panose="020B0502020104020203" pitchFamily="34" charset="0"/>
              </a:rPr>
              <a:t>may</a:t>
            </a:r>
            <a:r>
              <a:rPr lang="da-DK" dirty="0">
                <a:latin typeface="Gill Sans MT" panose="020B0502020104020203" pitchFamily="34" charset="0"/>
              </a:rPr>
              <a:t> switch </a:t>
            </a:r>
            <a:r>
              <a:rPr lang="da-DK" dirty="0" err="1">
                <a:latin typeface="Gill Sans MT" panose="020B0502020104020203" pitchFamily="34" charset="0"/>
              </a:rPr>
              <a:t>threads</a:t>
            </a:r>
            <a:r>
              <a:rPr lang="da-DK" dirty="0">
                <a:latin typeface="Gill Sans MT" panose="020B0502020104020203" pitchFamily="34" charset="0"/>
              </a:rPr>
              <a:t> at </a:t>
            </a:r>
            <a:r>
              <a:rPr lang="da-DK" dirty="0" err="1">
                <a:latin typeface="Gill Sans MT" panose="020B0502020104020203" pitchFamily="34" charset="0"/>
              </a:rPr>
              <a:t>any</a:t>
            </a:r>
            <a:r>
              <a:rPr lang="da-DK" dirty="0">
                <a:latin typeface="Gill Sans MT" panose="020B0502020104020203" pitchFamily="34" charset="0"/>
              </a:rPr>
              <a:t> time.</a:t>
            </a:r>
          </a:p>
          <a:p>
            <a:endParaRPr lang="da-DK" dirty="0">
              <a:latin typeface="Gill Sans MT" panose="020B0502020104020203" pitchFamily="34" charset="0"/>
            </a:endParaRPr>
          </a:p>
          <a:p>
            <a:r>
              <a:rPr lang="da-DK" dirty="0">
                <a:latin typeface="Gill Sans MT" panose="020B0502020104020203" pitchFamily="34" charset="0"/>
              </a:rPr>
              <a:t>And </a:t>
            </a:r>
            <a:r>
              <a:rPr lang="da-DK" dirty="0" err="1">
                <a:latin typeface="Gill Sans MT" panose="020B0502020104020203" pitchFamily="34" charset="0"/>
              </a:rPr>
              <a:t>also</a:t>
            </a:r>
            <a:r>
              <a:rPr lang="da-DK" dirty="0">
                <a:latin typeface="Gill Sans MT" panose="020B0502020104020203" pitchFamily="34" charset="0"/>
              </a:rPr>
              <a:t> switch multiple times.</a:t>
            </a:r>
          </a:p>
        </p:txBody>
      </p:sp>
    </p:spTree>
    <p:extLst>
      <p:ext uri="{BB962C8B-B14F-4D97-AF65-F5344CB8AC3E}">
        <p14:creationId xmlns:p14="http://schemas.microsoft.com/office/powerpoint/2010/main" val="48224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lock()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965"/>
            <a:ext cx="4319137" cy="48649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C#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lock()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/>
              <a:t>statement is shorthand for using monitors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896212" y="1127802"/>
            <a:ext cx="4368418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class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Counter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c1 = 0;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new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Increment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c1 = c1 + 1;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Count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get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return c1;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23062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0D73-1E39-F19A-5DAC-BB3668E6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214A5CCF-51AF-D4C2-688A-BC2B061F0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lock()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84BAD-5C8D-1275-0FE4-858CDD05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4319137" cy="48649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C#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lock()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statement is shorthand for using monitors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Best practice is to create a lock object.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FC6033-9C53-51BC-32E2-FF148C6E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B66E094-2462-3A8E-9383-BCEEDEB9E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212" y="1127802"/>
            <a:ext cx="4368418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class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Counter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c1 = 0;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= new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();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Increment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c1 = c1 + 1;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Count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get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return c1;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840100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BE69-594C-1DAA-5C17-7DB9BD02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EF40444-0268-68F9-1D4F-C825070B0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lock()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25A24-7866-5EE9-0920-FF9C93478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4319137" cy="48649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C#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lock()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statement is shorthand for using monitors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Best practice is to create a lock object.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lock on any object, including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prstClr val="black"/>
                </a:solidFill>
              </a:rPr>
              <a:t>, but then others can lock on the same object as well and prevent concurrency. </a:t>
            </a:r>
            <a:r>
              <a:rPr lang="en-US" b="1" dirty="0">
                <a:solidFill>
                  <a:prstClr val="black"/>
                </a:solidFill>
              </a:rPr>
              <a:t>So don’t do that</a:t>
            </a:r>
            <a:r>
              <a:rPr lang="en-US" dirty="0">
                <a:solidFill>
                  <a:prstClr val="black"/>
                </a:solidFill>
              </a:rPr>
              <a:t>!</a:t>
            </a:r>
            <a:endParaRPr lang="da-DK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265CCC-15DB-0E12-E483-C9D91C8C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6D2A8E6-23DF-E933-9B0E-42CB99354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212" y="1127802"/>
            <a:ext cx="4368418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class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Counter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c1 = 0;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new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Increment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c1 = c1 + 1;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Count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get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return c1;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645853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186CEB-00FF-01CF-77EC-90E71872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28502424-1F5D-A047-55B5-52671190D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lock()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F8BC1-5334-B3AE-924A-11792DB0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4319137" cy="48649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C#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lock()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/>
              <a:t>statement is shorthand for using monitors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Best practice is to create a lock object.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lock on any object, including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prstClr val="black"/>
                </a:solidFill>
              </a:rPr>
              <a:t>, but then others can lock on the same object as well and prevent concurrency. So don’t do that!</a:t>
            </a:r>
            <a:endParaRPr lang="da-DK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D3ED55-2EA4-41F8-9234-58B783B6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45D7BEA-4DD5-720C-A27E-0CF7D6D5C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212" y="1127802"/>
            <a:ext cx="4368418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defTabSz="282575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defTabSz="2825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class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Counter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c1 = 0;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private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new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object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Increment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c1 = c1 + 1;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public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Count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get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myLock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    return c1;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66792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 err="1"/>
              <a:t>Deadlock</a:t>
            </a:r>
            <a:endParaRPr lang="da-DK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984" y="1673204"/>
            <a:ext cx="4602033" cy="4141830"/>
          </a:xfrm>
        </p:spPr>
      </p:pic>
    </p:spTree>
    <p:extLst>
      <p:ext uri="{BB962C8B-B14F-4D97-AF65-F5344CB8AC3E}">
        <p14:creationId xmlns:p14="http://schemas.microsoft.com/office/powerpoint/2010/main" val="3054536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3617-11D2-6C69-4F5F-FA35A7B5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crew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4741642"/>
            <a:ext cx="1993900" cy="15017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/>
              <a:t>Tinky</a:t>
            </a:r>
            <a:r>
              <a:rPr lang="en-US" dirty="0"/>
              <a:t> </a:t>
            </a:r>
            <a:r>
              <a:rPr lang="en-US" dirty="0" err="1"/>
              <a:t>Winky</a:t>
            </a:r>
            <a:endParaRPr lang="da-DK" dirty="0"/>
          </a:p>
        </p:txBody>
      </p:sp>
      <p:pic>
        <p:nvPicPr>
          <p:cNvPr id="4" name="Content Placeholder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432" y="2066352"/>
            <a:ext cx="1193863" cy="21122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118" y="2196440"/>
            <a:ext cx="873065" cy="1996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224" y="1860048"/>
            <a:ext cx="1184930" cy="2381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7" y="1746361"/>
            <a:ext cx="1416942" cy="2495393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418739" y="4791648"/>
            <a:ext cx="1993900" cy="150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/>
              <a:t>Dipsy</a:t>
            </a:r>
            <a:endParaRPr lang="da-DK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613700" y="4791648"/>
            <a:ext cx="1993900" cy="150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Po</a:t>
            </a:r>
            <a:endParaRPr lang="da-DK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453350" y="4791648"/>
            <a:ext cx="1993900" cy="150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/>
              <a:t>Laa-Laa</a:t>
            </a:r>
            <a:endParaRPr lang="da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04589-D8DA-BDA9-4FC7-E4FBDBD1AB4E}"/>
              </a:ext>
            </a:extLst>
          </p:cNvPr>
          <p:cNvSpPr txBox="1"/>
          <p:nvPr/>
        </p:nvSpPr>
        <p:spPr>
          <a:xfrm>
            <a:off x="11971283" y="629569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25000" lnSpcReduction="20000"/>
          </a:bodyPr>
          <a:lstStyle/>
          <a:p>
            <a:endParaRPr lang="en-DK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2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The </a:t>
            </a:r>
            <a:r>
              <a:rPr lang="da-DK" dirty="0" err="1"/>
              <a:t>tubbies</a:t>
            </a:r>
            <a:r>
              <a:rPr lang="da-DK" dirty="0"/>
              <a:t> </a:t>
            </a:r>
            <a:r>
              <a:rPr lang="da-DK" dirty="0" err="1"/>
              <a:t>wants</a:t>
            </a:r>
            <a:r>
              <a:rPr lang="da-DK" dirty="0"/>
              <a:t> to </a:t>
            </a:r>
            <a:r>
              <a:rPr lang="da-DK" dirty="0" err="1"/>
              <a:t>play</a:t>
            </a:r>
            <a:endParaRPr lang="da-DK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62" y="1735240"/>
            <a:ext cx="1193863" cy="2112218"/>
          </a:xfrm>
        </p:spPr>
      </p:pic>
      <p:sp>
        <p:nvSpPr>
          <p:cNvPr id="4" name="Down Arrow 3"/>
          <p:cNvSpPr/>
          <p:nvPr/>
        </p:nvSpPr>
        <p:spPr>
          <a:xfrm>
            <a:off x="1903380" y="1786336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1606686" y="1496791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9896283" y="178033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9599589" y="149078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086" y="3471564"/>
            <a:ext cx="873065" cy="19966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1471569">
            <a:off x="2225935" y="2482180"/>
            <a:ext cx="2713085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/>
          <p:cNvSpPr txBox="1"/>
          <p:nvPr/>
        </p:nvSpPr>
        <p:spPr>
          <a:xfrm rot="1272739">
            <a:off x="3010248" y="2263428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92780" y="4916049"/>
            <a:ext cx="384030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3347474" y="4746016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4" name="Right Arrow 13"/>
          <p:cNvSpPr/>
          <p:nvPr/>
        </p:nvSpPr>
        <p:spPr>
          <a:xfrm rot="9091804">
            <a:off x="6934459" y="3373639"/>
            <a:ext cx="3157891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TextBox 14"/>
          <p:cNvSpPr txBox="1"/>
          <p:nvPr/>
        </p:nvSpPr>
        <p:spPr>
          <a:xfrm rot="19788647">
            <a:off x="8019976" y="3112919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6" name="Right Arrow 15"/>
          <p:cNvSpPr/>
          <p:nvPr/>
        </p:nvSpPr>
        <p:spPr>
          <a:xfrm rot="11902572">
            <a:off x="5769804" y="3673027"/>
            <a:ext cx="4261868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TextBox 16"/>
          <p:cNvSpPr txBox="1"/>
          <p:nvPr/>
        </p:nvSpPr>
        <p:spPr>
          <a:xfrm rot="1076086">
            <a:off x="8923449" y="3978797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04" y="1079766"/>
            <a:ext cx="1184930" cy="23817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251" y="1053199"/>
            <a:ext cx="1416942" cy="249539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87821" y="1075108"/>
            <a:ext cx="4416358" cy="85603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da-DK" sz="3200" dirty="0"/>
              <a:t>Uh-Oh! </a:t>
            </a:r>
            <a:r>
              <a:rPr lang="da-DK" sz="3200" dirty="0" err="1"/>
              <a:t>Deadlock</a:t>
            </a:r>
            <a:r>
              <a:rPr lang="da-DK" sz="32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0079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aquire</a:t>
            </a:r>
            <a:r>
              <a:rPr lang="da-DK" dirty="0"/>
              <a:t> </a:t>
            </a:r>
            <a:r>
              <a:rPr lang="da-DK" dirty="0" err="1"/>
              <a:t>resources</a:t>
            </a:r>
            <a:r>
              <a:rPr lang="da-DK" dirty="0"/>
              <a:t> in the same </a:t>
            </a:r>
            <a:r>
              <a:rPr lang="da-DK" dirty="0" err="1"/>
              <a:t>order</a:t>
            </a:r>
            <a:endParaRPr lang="da-DK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62" y="1735240"/>
            <a:ext cx="1193863" cy="2112218"/>
          </a:xfrm>
        </p:spPr>
      </p:pic>
      <p:sp>
        <p:nvSpPr>
          <p:cNvPr id="4" name="Down Arrow 3"/>
          <p:cNvSpPr/>
          <p:nvPr/>
        </p:nvSpPr>
        <p:spPr>
          <a:xfrm>
            <a:off x="1903380" y="1786336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1606686" y="1496791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A</a:t>
            </a:r>
          </a:p>
        </p:txBody>
      </p:sp>
      <p:sp>
        <p:nvSpPr>
          <p:cNvPr id="6" name="Down Arrow 5"/>
          <p:cNvSpPr/>
          <p:nvPr/>
        </p:nvSpPr>
        <p:spPr>
          <a:xfrm>
            <a:off x="9896283" y="1780330"/>
            <a:ext cx="350196" cy="4134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9599589" y="1490785"/>
            <a:ext cx="943583" cy="29555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20000"/>
          </a:bodyPr>
          <a:lstStyle/>
          <a:p>
            <a:r>
              <a:rPr lang="da-DK" dirty="0">
                <a:latin typeface="Gill Sans MT" panose="020B0502020104020203" pitchFamily="34" charset="0"/>
              </a:rPr>
              <a:t>Thread B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086" y="3471564"/>
            <a:ext cx="873065" cy="19966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1471569">
            <a:off x="2225935" y="2482180"/>
            <a:ext cx="2713085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/>
          <p:cNvSpPr txBox="1"/>
          <p:nvPr/>
        </p:nvSpPr>
        <p:spPr>
          <a:xfrm rot="1272739">
            <a:off x="3010248" y="2263428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92780" y="4916049"/>
            <a:ext cx="384030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3347474" y="4746016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4" name="Right Arrow 13"/>
          <p:cNvSpPr/>
          <p:nvPr/>
        </p:nvSpPr>
        <p:spPr>
          <a:xfrm rot="10181768">
            <a:off x="6192873" y="2424439"/>
            <a:ext cx="3549376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TextBox 14"/>
          <p:cNvSpPr txBox="1"/>
          <p:nvPr/>
        </p:nvSpPr>
        <p:spPr>
          <a:xfrm rot="20750691">
            <a:off x="7651167" y="2215878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sp>
        <p:nvSpPr>
          <p:cNvPr id="16" name="Right Arrow 15"/>
          <p:cNvSpPr/>
          <p:nvPr/>
        </p:nvSpPr>
        <p:spPr>
          <a:xfrm rot="9827688">
            <a:off x="7184165" y="4460675"/>
            <a:ext cx="2442002" cy="26765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TextBox 16"/>
          <p:cNvSpPr txBox="1"/>
          <p:nvPr/>
        </p:nvSpPr>
        <p:spPr>
          <a:xfrm rot="20619831">
            <a:off x="8201455" y="4189791"/>
            <a:ext cx="1040860" cy="1700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</a:rPr>
              <a:t>Lock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04" y="1079766"/>
            <a:ext cx="1184930" cy="23817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251" y="1053199"/>
            <a:ext cx="1416942" cy="249539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87821" y="1075108"/>
            <a:ext cx="4416358" cy="85603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da-DK" sz="3200" dirty="0"/>
              <a:t>Tinky Winky must </a:t>
            </a:r>
            <a:r>
              <a:rPr lang="da-DK" sz="3200" dirty="0" err="1"/>
              <a:t>wait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09608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11" grpId="1"/>
      <p:bldP spid="12" grpId="0" animBg="1"/>
      <p:bldP spid="12" grpId="1" animBg="1"/>
      <p:bldP spid="13" grpId="0"/>
      <p:bldP spid="13" grpId="1"/>
      <p:bldP spid="14" grpId="0" animBg="1"/>
      <p:bldP spid="14" grpId="1" animBg="1"/>
      <p:bldP spid="15" grpId="0"/>
      <p:bldP spid="15" grpId="1"/>
      <p:bldP spid="16" grpId="0" animBg="1"/>
      <p:bldP spid="16" grpId="1" animBg="1"/>
      <p:bldP spid="17" grpId="0"/>
      <p:bldP spid="1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2 and 3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and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when</a:t>
            </a: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done, jump to the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advanced</a:t>
            </a: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endParaRPr lang="da-DK" sz="48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25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Threads and MAUI GUI’s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064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Threading</a:t>
            </a:r>
            <a:r>
              <a:rPr lang="da-DK" dirty="0"/>
              <a:t> in Windows Forms</a:t>
            </a:r>
            <a:br>
              <a:rPr lang="da-DK" dirty="0"/>
            </a:b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sz="3200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127" y="646252"/>
            <a:ext cx="8759188" cy="548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5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Updating</a:t>
            </a:r>
            <a:r>
              <a:rPr lang="da-DK" dirty="0"/>
              <a:t> Windows </a:t>
            </a:r>
            <a:r>
              <a:rPr lang="da-DK" dirty="0" err="1"/>
              <a:t>GUI’s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MAUI Controls (all the GUI elements)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b="1" dirty="0"/>
              <a:t>not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safe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5148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E152-23B0-9B2B-74C8-471878CD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1C02-BEB0-8A38-4F79-9C5A04F2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Updating</a:t>
            </a:r>
            <a:r>
              <a:rPr lang="da-DK" dirty="0"/>
              <a:t> Windows </a:t>
            </a:r>
            <a:r>
              <a:rPr lang="da-DK" dirty="0" err="1"/>
              <a:t>GUI’s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4FB6-0A96-8367-9BA8-78D93351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MAUI Controls (all the GUI elements)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are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b="1" dirty="0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thread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safe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Only</a:t>
            </a:r>
            <a:r>
              <a:rPr lang="da-DK" dirty="0"/>
              <a:t> the GUI </a:t>
            </a:r>
            <a:r>
              <a:rPr lang="da-DK" dirty="0" err="1"/>
              <a:t>update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(the </a:t>
            </a:r>
            <a:r>
              <a:rPr lang="da-DK" dirty="0" err="1"/>
              <a:t>Dispatcher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) is </a:t>
            </a:r>
            <a:r>
              <a:rPr lang="da-DK" dirty="0" err="1"/>
              <a:t>allowed</a:t>
            </a:r>
            <a:r>
              <a:rPr lang="da-DK" dirty="0"/>
              <a:t> to </a:t>
            </a:r>
            <a:r>
              <a:rPr lang="da-DK" dirty="0" err="1"/>
              <a:t>modify</a:t>
            </a:r>
            <a:r>
              <a:rPr lang="da-DK" dirty="0"/>
              <a:t> GUI elements.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8811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F2C6-CB4D-DB8E-3274-88490050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5F8D-CC86-58C2-20F0-3C02A06C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Updating</a:t>
            </a:r>
            <a:r>
              <a:rPr lang="da-DK" dirty="0"/>
              <a:t> Windows </a:t>
            </a:r>
            <a:r>
              <a:rPr lang="da-DK" dirty="0" err="1"/>
              <a:t>GUI’s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A62C7-720C-98D3-413E-B786D10B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MAUI Controls (all the GUI elements)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are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b="1" dirty="0">
                <a:solidFill>
                  <a:schemeClr val="bg1">
                    <a:lumMod val="75000"/>
                  </a:schemeClr>
                </a:solidFill>
              </a:rPr>
              <a:t>not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thread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safe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da-DK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Only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the GUI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update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thread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(the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Dispatcher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thread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) is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allowed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to </a:t>
            </a:r>
            <a:r>
              <a:rPr lang="da-DK" dirty="0" err="1">
                <a:solidFill>
                  <a:schemeClr val="bg1">
                    <a:lumMod val="75000"/>
                  </a:schemeClr>
                </a:solidFill>
              </a:rPr>
              <a:t>modify</a:t>
            </a:r>
            <a:r>
              <a:rPr lang="da-DK" dirty="0">
                <a:solidFill>
                  <a:schemeClr val="bg1">
                    <a:lumMod val="75000"/>
                  </a:schemeClr>
                </a:solidFill>
              </a:rPr>
              <a:t> GUI elements.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</a:t>
            </a:r>
            <a:r>
              <a:rPr lang="da-DK" dirty="0" err="1"/>
              <a:t>something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updated</a:t>
            </a:r>
            <a:r>
              <a:rPr lang="da-DK" dirty="0"/>
              <a:t> from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must </a:t>
            </a:r>
            <a:r>
              <a:rPr lang="da-DK" dirty="0" err="1"/>
              <a:t>tell</a:t>
            </a:r>
            <a:r>
              <a:rPr lang="da-DK" dirty="0"/>
              <a:t> the </a:t>
            </a:r>
            <a:r>
              <a:rPr lang="da-DK" dirty="0" err="1"/>
              <a:t>Dispatcher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to do so.</a:t>
            </a:r>
          </a:p>
        </p:txBody>
      </p:sp>
    </p:spTree>
    <p:extLst>
      <p:ext uri="{BB962C8B-B14F-4D97-AF65-F5344CB8AC3E}">
        <p14:creationId xmlns:p14="http://schemas.microsoft.com/office/powerpoint/2010/main" val="2726770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3E2B0E-57E1-0180-4D88-1F5431ED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9B30-B2FB-35EC-9100-4826F527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Updating</a:t>
            </a:r>
            <a:r>
              <a:rPr lang="da-DK" dirty="0"/>
              <a:t> Windows </a:t>
            </a:r>
            <a:r>
              <a:rPr lang="da-DK" dirty="0" err="1"/>
              <a:t>GUI’s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2F461-42A5-6676-EC2A-7EB350084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MAUI Controls (all the GUI elements)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b="1" dirty="0"/>
              <a:t>not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safe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Only</a:t>
            </a:r>
            <a:r>
              <a:rPr lang="da-DK" dirty="0"/>
              <a:t> the GUI </a:t>
            </a:r>
            <a:r>
              <a:rPr lang="da-DK" dirty="0" err="1"/>
              <a:t>update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(the </a:t>
            </a:r>
            <a:r>
              <a:rPr lang="da-DK" dirty="0" err="1"/>
              <a:t>Dispatcher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) is </a:t>
            </a:r>
            <a:r>
              <a:rPr lang="da-DK" dirty="0" err="1"/>
              <a:t>allowed</a:t>
            </a:r>
            <a:r>
              <a:rPr lang="da-DK" dirty="0"/>
              <a:t> to </a:t>
            </a:r>
            <a:r>
              <a:rPr lang="da-DK" dirty="0" err="1"/>
              <a:t>modify</a:t>
            </a:r>
            <a:r>
              <a:rPr lang="da-DK" dirty="0"/>
              <a:t> GUI elements.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</a:t>
            </a:r>
            <a:r>
              <a:rPr lang="da-DK" dirty="0" err="1"/>
              <a:t>something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updated</a:t>
            </a:r>
            <a:r>
              <a:rPr lang="da-DK" dirty="0"/>
              <a:t> from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must </a:t>
            </a:r>
            <a:r>
              <a:rPr lang="da-DK" dirty="0" err="1"/>
              <a:t>tell</a:t>
            </a:r>
            <a:r>
              <a:rPr lang="da-DK" dirty="0"/>
              <a:t> the </a:t>
            </a:r>
            <a:r>
              <a:rPr lang="da-DK" dirty="0" err="1"/>
              <a:t>Dispatcher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to do so.</a:t>
            </a:r>
          </a:p>
        </p:txBody>
      </p:sp>
    </p:spTree>
    <p:extLst>
      <p:ext uri="{BB962C8B-B14F-4D97-AF65-F5344CB8AC3E}">
        <p14:creationId xmlns:p14="http://schemas.microsoft.com/office/powerpoint/2010/main" val="391666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ways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System.Threading.Thread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from the </a:t>
            </a:r>
            <a:r>
              <a:rPr lang="da-DK" dirty="0" err="1"/>
              <a:t>main</a:t>
            </a:r>
            <a:r>
              <a:rPr lang="da-DK" dirty="0"/>
              <a:t> program.</a:t>
            </a:r>
          </a:p>
          <a:p>
            <a:pPr marL="457200" lvl="1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, </a:t>
            </a:r>
            <a:r>
              <a:rPr lang="da-DK" dirty="0" err="1"/>
              <a:t>until</a:t>
            </a:r>
            <a:r>
              <a:rPr lang="da-DK" dirty="0"/>
              <a:t> </a:t>
            </a:r>
            <a:r>
              <a:rPr lang="da-DK" dirty="0" err="1"/>
              <a:t>stopped</a:t>
            </a:r>
            <a:r>
              <a:rPr lang="da-DK" dirty="0"/>
              <a:t> by </a:t>
            </a:r>
            <a:r>
              <a:rPr lang="da-DK" dirty="0" err="1"/>
              <a:t>some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r>
              <a:rPr lang="da-DK" dirty="0"/>
              <a:t>Update the UI with the ”</a:t>
            </a:r>
            <a:r>
              <a:rPr lang="da-DK" dirty="0" err="1"/>
              <a:t>Invoke</a:t>
            </a:r>
            <a:r>
              <a:rPr lang="da-DK" dirty="0"/>
              <a:t>” </a:t>
            </a:r>
            <a:r>
              <a:rPr lang="da-DK" dirty="0" err="1"/>
              <a:t>methods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06549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862A-64AD-CF8F-32C8-B732EFF7A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C8B6-B94E-8DA3-A760-A8CBB2C9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ways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9247-D796-178A-81DE-AF934F38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System.Threading.Thread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from the </a:t>
            </a:r>
            <a:r>
              <a:rPr lang="da-DK" dirty="0" err="1"/>
              <a:t>main</a:t>
            </a:r>
            <a:r>
              <a:rPr lang="da-DK" dirty="0"/>
              <a:t> program.</a:t>
            </a:r>
          </a:p>
          <a:p>
            <a:pPr marL="457200" lvl="1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, </a:t>
            </a:r>
            <a:r>
              <a:rPr lang="da-DK" dirty="0" err="1"/>
              <a:t>until</a:t>
            </a:r>
            <a:r>
              <a:rPr lang="da-DK" dirty="0"/>
              <a:t> </a:t>
            </a:r>
            <a:r>
              <a:rPr lang="da-DK" dirty="0" err="1"/>
              <a:t>stopped</a:t>
            </a:r>
            <a:r>
              <a:rPr lang="da-DK" dirty="0"/>
              <a:t> by </a:t>
            </a:r>
            <a:r>
              <a:rPr lang="da-DK" dirty="0" err="1"/>
              <a:t>some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r>
              <a:rPr lang="da-DK" dirty="0"/>
              <a:t>Update the UI with the ”</a:t>
            </a:r>
            <a:r>
              <a:rPr lang="da-DK" dirty="0" err="1"/>
              <a:t>Invoke</a:t>
            </a:r>
            <a:r>
              <a:rPr lang="da-DK" dirty="0"/>
              <a:t>” </a:t>
            </a:r>
            <a:r>
              <a:rPr lang="da-DK" dirty="0" err="1"/>
              <a:t>methods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System.ComponentModel.BackgroundWorker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Initiate</a:t>
            </a:r>
            <a:r>
              <a:rPr lang="da-DK" dirty="0"/>
              <a:t> a </a:t>
            </a:r>
            <a:r>
              <a:rPr lang="da-DK" dirty="0" err="1"/>
              <a:t>background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from the UI.</a:t>
            </a:r>
          </a:p>
          <a:p>
            <a:pPr marL="457200" lvl="1" indent="0">
              <a:buNone/>
            </a:pPr>
            <a:r>
              <a:rPr lang="da-DK" dirty="0"/>
              <a:t>Do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and </a:t>
            </a:r>
            <a:r>
              <a:rPr lang="da-DK" dirty="0" err="1"/>
              <a:t>then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stops.</a:t>
            </a:r>
          </a:p>
          <a:p>
            <a:pPr marL="0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66089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4D712E-F24B-27A1-FF25-AC3961CAE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F664-E487-9D27-AEFD-5665655B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ways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AA7C-E8C6-1FA1-260B-0312A079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System.Threading.Thread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from the </a:t>
            </a:r>
            <a:r>
              <a:rPr lang="da-DK" dirty="0" err="1"/>
              <a:t>main</a:t>
            </a:r>
            <a:r>
              <a:rPr lang="da-DK" dirty="0"/>
              <a:t> program.</a:t>
            </a:r>
          </a:p>
          <a:p>
            <a:pPr marL="457200" lvl="1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, </a:t>
            </a:r>
            <a:r>
              <a:rPr lang="da-DK" dirty="0" err="1"/>
              <a:t>until</a:t>
            </a:r>
            <a:r>
              <a:rPr lang="da-DK" dirty="0"/>
              <a:t> </a:t>
            </a:r>
            <a:r>
              <a:rPr lang="da-DK" dirty="0" err="1"/>
              <a:t>stopped</a:t>
            </a:r>
            <a:r>
              <a:rPr lang="da-DK" dirty="0"/>
              <a:t> by </a:t>
            </a:r>
            <a:r>
              <a:rPr lang="da-DK" dirty="0" err="1"/>
              <a:t>some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r>
              <a:rPr lang="da-DK" dirty="0"/>
              <a:t>Update the UI with the ”</a:t>
            </a:r>
            <a:r>
              <a:rPr lang="da-DK" dirty="0" err="1"/>
              <a:t>Invoke</a:t>
            </a:r>
            <a:r>
              <a:rPr lang="da-DK" dirty="0"/>
              <a:t>” </a:t>
            </a:r>
            <a:r>
              <a:rPr lang="da-DK" dirty="0" err="1"/>
              <a:t>methods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System.ComponentModel.BackgroundWorker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Initiate</a:t>
            </a:r>
            <a:r>
              <a:rPr lang="da-DK" dirty="0"/>
              <a:t> a </a:t>
            </a:r>
            <a:r>
              <a:rPr lang="da-DK" dirty="0" err="1"/>
              <a:t>background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from the UI.</a:t>
            </a:r>
          </a:p>
          <a:p>
            <a:pPr marL="457200" lvl="1" indent="0">
              <a:buNone/>
            </a:pPr>
            <a:r>
              <a:rPr lang="da-DK" dirty="0"/>
              <a:t>Do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and </a:t>
            </a:r>
            <a:r>
              <a:rPr lang="da-DK" dirty="0" err="1"/>
              <a:t>then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stops.</a:t>
            </a:r>
          </a:p>
          <a:p>
            <a:pPr marL="0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4729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Basic </a:t>
            </a: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Counting</a:t>
            </a:r>
            <a:r>
              <a:rPr lang="da-DK" dirty="0"/>
              <a:t>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9088" y="1311965"/>
            <a:ext cx="4534711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/>
          <p:cNvSpPr/>
          <p:nvPr/>
        </p:nvSpPr>
        <p:spPr>
          <a:xfrm>
            <a:off x="503364" y="1311965"/>
            <a:ext cx="6169810" cy="540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public class Counter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readonly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public Counter(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public void Run()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for 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0;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&lt; 1000;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mainPage.UpdateCounter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Thread.Sleep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(100);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562" y="2258564"/>
            <a:ext cx="4417625" cy="277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95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MainThread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Counting</a:t>
            </a:r>
            <a:r>
              <a:rPr lang="da-DK" dirty="0"/>
              <a:t>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0300" y="1311965"/>
            <a:ext cx="3873499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 err="1"/>
              <a:t>IsMainThread</a:t>
            </a:r>
            <a:r>
              <a:rPr lang="da-DK" sz="2400" dirty="0"/>
              <a:t> checks if the </a:t>
            </a:r>
            <a:r>
              <a:rPr lang="da-DK" sz="2400" dirty="0" err="1"/>
              <a:t>calling</a:t>
            </a:r>
            <a:r>
              <a:rPr lang="da-DK" sz="2400" dirty="0"/>
              <a:t> </a:t>
            </a:r>
            <a:r>
              <a:rPr lang="da-DK" sz="2400" dirty="0" err="1"/>
              <a:t>thread</a:t>
            </a:r>
            <a:r>
              <a:rPr lang="da-DK" sz="2400" dirty="0"/>
              <a:t> is </a:t>
            </a:r>
            <a:r>
              <a:rPr lang="da-DK" sz="2400" dirty="0" err="1"/>
              <a:t>allowed</a:t>
            </a:r>
            <a:r>
              <a:rPr lang="da-DK" sz="2400" dirty="0"/>
              <a:t> to </a:t>
            </a:r>
            <a:r>
              <a:rPr lang="da-DK" sz="2400" dirty="0" err="1"/>
              <a:t>modify</a:t>
            </a:r>
            <a:r>
              <a:rPr lang="da-DK" sz="2400" dirty="0"/>
              <a:t> the </a:t>
            </a:r>
            <a:r>
              <a:rPr lang="da-DK" sz="2400" dirty="0" err="1"/>
              <a:t>control</a:t>
            </a:r>
            <a:r>
              <a:rPr lang="da-DK" sz="2400" dirty="0"/>
              <a:t>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/>
          <p:cNvSpPr/>
          <p:nvPr/>
        </p:nvSpPr>
        <p:spPr>
          <a:xfrm>
            <a:off x="503364" y="1311965"/>
            <a:ext cx="6710236" cy="540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 partial class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ContentPage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public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UpdateCounter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count)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MainThread.IsMainThread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else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  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MainThread.BeginInvokeOnMainThread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(() =&gt;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2B85F7-798D-C8C4-BA52-BDEF87A2A130}"/>
              </a:ext>
            </a:extLst>
          </p:cNvPr>
          <p:cNvCxnSpPr/>
          <p:nvPr/>
        </p:nvCxnSpPr>
        <p:spPr>
          <a:xfrm flipH="1">
            <a:off x="4256690" y="2406869"/>
            <a:ext cx="3731172" cy="6411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35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5A05-8E1D-A219-9CA3-29E96E3A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2F4E-6FCF-62E9-E6D0-6CD2D1F7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MainThread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Counting</a:t>
            </a:r>
            <a:r>
              <a:rPr lang="da-DK" dirty="0"/>
              <a:t>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5C6B5-D171-68DA-FCD6-ADE79610E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300" y="1311965"/>
            <a:ext cx="3873499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IsMainThread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 checks if the </a:t>
            </a: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calling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thread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 is </a:t>
            </a: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allowed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 to </a:t>
            </a: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modify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 the </a:t>
            </a:r>
            <a:r>
              <a:rPr lang="da-DK" sz="2400" dirty="0" err="1">
                <a:solidFill>
                  <a:schemeClr val="bg1">
                    <a:lumMod val="75000"/>
                  </a:schemeClr>
                </a:solidFill>
              </a:rPr>
              <a:t>control</a:t>
            </a:r>
            <a:r>
              <a:rPr lang="da-DK" sz="24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r>
              <a:rPr lang="da-DK" sz="2400" dirty="0"/>
              <a:t>If it is not, </a:t>
            </a:r>
            <a:r>
              <a:rPr lang="da-DK" sz="2400" dirty="0" err="1"/>
              <a:t>BeginInvokeOnMainThraed</a:t>
            </a:r>
            <a:r>
              <a:rPr lang="da-DK" sz="2400" dirty="0"/>
              <a:t> </a:t>
            </a:r>
            <a:r>
              <a:rPr lang="da-DK" sz="2400" dirty="0" err="1"/>
              <a:t>places</a:t>
            </a:r>
            <a:r>
              <a:rPr lang="da-DK" sz="2400" dirty="0"/>
              <a:t> the </a:t>
            </a:r>
            <a:r>
              <a:rPr lang="da-DK" sz="2400" dirty="0" err="1"/>
              <a:t>created</a:t>
            </a:r>
            <a:r>
              <a:rPr lang="da-DK" sz="2400" dirty="0"/>
              <a:t> delegate in a </a:t>
            </a:r>
            <a:r>
              <a:rPr lang="da-DK" sz="2400" dirty="0" err="1"/>
              <a:t>queue</a:t>
            </a:r>
            <a:r>
              <a:rPr lang="da-DK" sz="2400" dirty="0"/>
              <a:t>, from </a:t>
            </a:r>
            <a:r>
              <a:rPr lang="da-DK" sz="2400" dirty="0" err="1"/>
              <a:t>which</a:t>
            </a:r>
            <a:r>
              <a:rPr lang="da-DK" sz="2400" dirty="0"/>
              <a:t> it is </a:t>
            </a:r>
            <a:r>
              <a:rPr lang="da-DK" sz="2400" dirty="0" err="1"/>
              <a:t>taken</a:t>
            </a:r>
            <a:r>
              <a:rPr lang="da-DK" sz="2400" dirty="0"/>
              <a:t> and </a:t>
            </a:r>
            <a:r>
              <a:rPr lang="da-DK" sz="2400" dirty="0" err="1"/>
              <a:t>processed</a:t>
            </a:r>
            <a:r>
              <a:rPr lang="da-DK" sz="2400" dirty="0"/>
              <a:t> at a </a:t>
            </a:r>
            <a:r>
              <a:rPr lang="da-DK" sz="2400" dirty="0" err="1"/>
              <a:t>later</a:t>
            </a:r>
            <a:r>
              <a:rPr lang="da-DK" sz="2400" dirty="0"/>
              <a:t> time, by the </a:t>
            </a:r>
            <a:r>
              <a:rPr lang="da-DK" sz="2400" dirty="0" err="1"/>
              <a:t>Dispatcher</a:t>
            </a:r>
            <a:r>
              <a:rPr lang="da-DK" sz="2400" dirty="0"/>
              <a:t> </a:t>
            </a:r>
            <a:r>
              <a:rPr lang="da-DK" sz="2400" dirty="0" err="1"/>
              <a:t>thread</a:t>
            </a:r>
            <a:r>
              <a:rPr lang="da-DK" sz="2400" dirty="0"/>
              <a:t>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16938-4E58-A3DF-A77B-9D86050711AB}"/>
              </a:ext>
            </a:extLst>
          </p:cNvPr>
          <p:cNvSpPr/>
          <p:nvPr/>
        </p:nvSpPr>
        <p:spPr>
          <a:xfrm>
            <a:off x="503364" y="1311965"/>
            <a:ext cx="6710236" cy="540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 partial class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ContentPage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public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UpdateCounter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count)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MainThread.IsMainThread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else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  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MainThread.BeginInvokeOnMainThread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(() =&gt;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38FF1A-73AE-790D-434E-9D2A996DD74E}"/>
              </a:ext>
            </a:extLst>
          </p:cNvPr>
          <p:cNvCxnSpPr/>
          <p:nvPr/>
        </p:nvCxnSpPr>
        <p:spPr>
          <a:xfrm flipH="1">
            <a:off x="3749128" y="3744464"/>
            <a:ext cx="3731172" cy="6411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653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80C8-33FE-CBEB-CABB-086253DB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86DC-7EF8-BDEB-D686-99688A29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Dispatcher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Counting</a:t>
            </a:r>
            <a:r>
              <a:rPr lang="da-DK" dirty="0"/>
              <a:t>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79A61-C3F9-118F-7541-C9372516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300" y="1311965"/>
            <a:ext cx="3873499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 err="1"/>
              <a:t>IsDispatchRequired</a:t>
            </a:r>
            <a:r>
              <a:rPr lang="da-DK" sz="2400" dirty="0"/>
              <a:t> checks if the </a:t>
            </a:r>
            <a:r>
              <a:rPr lang="da-DK" sz="2400" dirty="0" err="1"/>
              <a:t>dispatching</a:t>
            </a:r>
            <a:r>
              <a:rPr lang="da-DK" sz="2400" dirty="0"/>
              <a:t> is </a:t>
            </a:r>
            <a:r>
              <a:rPr lang="da-DK" sz="2400" dirty="0" err="1"/>
              <a:t>required</a:t>
            </a:r>
            <a:r>
              <a:rPr lang="da-DK" sz="2400" dirty="0"/>
              <a:t> for an action.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r>
              <a:rPr lang="da-DK" sz="2400" dirty="0"/>
              <a:t>If it is not, </a:t>
            </a:r>
            <a:r>
              <a:rPr lang="da-DK" sz="2400" dirty="0" err="1"/>
              <a:t>DispatchAsync</a:t>
            </a:r>
            <a:r>
              <a:rPr lang="da-DK" sz="2400" dirty="0"/>
              <a:t> </a:t>
            </a:r>
            <a:r>
              <a:rPr lang="da-DK" sz="2400" dirty="0" err="1"/>
              <a:t>places</a:t>
            </a:r>
            <a:r>
              <a:rPr lang="da-DK" sz="2400" dirty="0"/>
              <a:t> the </a:t>
            </a:r>
            <a:r>
              <a:rPr lang="da-DK" sz="2400" dirty="0" err="1"/>
              <a:t>created</a:t>
            </a:r>
            <a:r>
              <a:rPr lang="da-DK" sz="2400" dirty="0"/>
              <a:t> delegate in a </a:t>
            </a:r>
            <a:r>
              <a:rPr lang="da-DK" sz="2400" dirty="0" err="1"/>
              <a:t>queue</a:t>
            </a:r>
            <a:r>
              <a:rPr lang="da-DK" sz="2400" dirty="0"/>
              <a:t>, from </a:t>
            </a:r>
            <a:r>
              <a:rPr lang="da-DK" sz="2400" dirty="0" err="1"/>
              <a:t>which</a:t>
            </a:r>
            <a:r>
              <a:rPr lang="da-DK" sz="2400" dirty="0"/>
              <a:t> it is </a:t>
            </a:r>
            <a:r>
              <a:rPr lang="da-DK" sz="2400" dirty="0" err="1"/>
              <a:t>taken</a:t>
            </a:r>
            <a:r>
              <a:rPr lang="da-DK" sz="2400" dirty="0"/>
              <a:t> and </a:t>
            </a:r>
            <a:r>
              <a:rPr lang="da-DK" sz="2400" dirty="0" err="1"/>
              <a:t>processed</a:t>
            </a:r>
            <a:r>
              <a:rPr lang="da-DK" sz="2400" dirty="0"/>
              <a:t> at a </a:t>
            </a:r>
            <a:r>
              <a:rPr lang="da-DK" sz="2400" dirty="0" err="1"/>
              <a:t>later</a:t>
            </a:r>
            <a:r>
              <a:rPr lang="da-DK" sz="2400" dirty="0"/>
              <a:t> time, by the </a:t>
            </a:r>
            <a:r>
              <a:rPr lang="da-DK" sz="2400" dirty="0" err="1"/>
              <a:t>Dispatcher</a:t>
            </a:r>
            <a:r>
              <a:rPr lang="da-DK" sz="2400" dirty="0"/>
              <a:t> </a:t>
            </a:r>
            <a:r>
              <a:rPr lang="da-DK" sz="2400" dirty="0" err="1"/>
              <a:t>thread</a:t>
            </a:r>
            <a:r>
              <a:rPr lang="da-DK" sz="2400" dirty="0"/>
              <a:t>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A33C6-E498-3AEC-C47A-9E2434ABB78E}"/>
              </a:ext>
            </a:extLst>
          </p:cNvPr>
          <p:cNvSpPr/>
          <p:nvPr/>
        </p:nvSpPr>
        <p:spPr>
          <a:xfrm>
            <a:off x="503364" y="1311965"/>
            <a:ext cx="6710236" cy="540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 partial class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ContentPage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public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UpdateCounter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count)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var dispatcher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Application.Current.Dispatcher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(!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dispatcher.IsDispatchRequired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else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    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dispatcher.DispatchAsync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(() =&gt;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LabelCounter.Text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"" + count;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9C000C-E526-1768-EFE1-5644BA0EA888}"/>
              </a:ext>
            </a:extLst>
          </p:cNvPr>
          <p:cNvCxnSpPr/>
          <p:nvPr/>
        </p:nvCxnSpPr>
        <p:spPr>
          <a:xfrm flipH="1">
            <a:off x="4918842" y="2385848"/>
            <a:ext cx="3731172" cy="6411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19069C-9E4C-E21E-466F-D59025AD8DD2}"/>
              </a:ext>
            </a:extLst>
          </p:cNvPr>
          <p:cNvCxnSpPr/>
          <p:nvPr/>
        </p:nvCxnSpPr>
        <p:spPr>
          <a:xfrm flipH="1">
            <a:off x="3749128" y="3907835"/>
            <a:ext cx="3731172" cy="6411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426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Basic </a:t>
            </a:r>
            <a:r>
              <a:rPr lang="da-DK" dirty="0" err="1"/>
              <a:t>example</a:t>
            </a:r>
            <a:r>
              <a:rPr lang="da-DK" dirty="0"/>
              <a:t>: </a:t>
            </a:r>
            <a:r>
              <a:rPr lang="da-DK" dirty="0" err="1"/>
              <a:t>Counting</a:t>
            </a:r>
            <a:r>
              <a:rPr lang="da-DK" dirty="0"/>
              <a:t>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0800" y="1311965"/>
            <a:ext cx="3682999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Configure a button to start the thread.</a:t>
            </a:r>
            <a:endParaRPr lang="da-DK" sz="2400" dirty="0"/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r>
              <a:rPr lang="da-DK" sz="2400" dirty="0"/>
              <a:t>Note, </a:t>
            </a:r>
            <a:r>
              <a:rPr lang="da-DK" sz="2400" dirty="0" err="1"/>
              <a:t>that</a:t>
            </a:r>
            <a:r>
              <a:rPr lang="da-DK" sz="2400" dirty="0"/>
              <a:t> </a:t>
            </a:r>
            <a:r>
              <a:rPr lang="da-DK" sz="2400" dirty="0" err="1"/>
              <a:t>you</a:t>
            </a:r>
            <a:r>
              <a:rPr lang="da-DK" sz="2400" dirty="0"/>
              <a:t> </a:t>
            </a:r>
            <a:r>
              <a:rPr lang="da-DK" sz="2400" dirty="0" err="1"/>
              <a:t>probably</a:t>
            </a:r>
            <a:r>
              <a:rPr lang="da-DK" sz="2400" dirty="0"/>
              <a:t> </a:t>
            </a:r>
            <a:r>
              <a:rPr lang="da-DK" sz="2400" dirty="0" err="1"/>
              <a:t>want</a:t>
            </a:r>
            <a:r>
              <a:rPr lang="da-DK" sz="2400" dirty="0"/>
              <a:t> the </a:t>
            </a:r>
            <a:r>
              <a:rPr lang="da-DK" sz="2400" dirty="0" err="1"/>
              <a:t>thread</a:t>
            </a:r>
            <a:r>
              <a:rPr lang="da-DK" sz="2400" dirty="0"/>
              <a:t> to </a:t>
            </a:r>
            <a:r>
              <a:rPr lang="da-DK" sz="2400" dirty="0" err="1"/>
              <a:t>be</a:t>
            </a:r>
            <a:r>
              <a:rPr lang="da-DK" sz="2400" dirty="0"/>
              <a:t> a </a:t>
            </a:r>
            <a:r>
              <a:rPr lang="da-DK" sz="2400" dirty="0" err="1"/>
              <a:t>background</a:t>
            </a:r>
            <a:r>
              <a:rPr lang="da-DK" sz="2400" dirty="0"/>
              <a:t> </a:t>
            </a:r>
            <a:r>
              <a:rPr lang="da-DK" sz="2400" dirty="0" err="1"/>
              <a:t>thread</a:t>
            </a:r>
            <a:r>
              <a:rPr lang="da-DK" sz="2400" dirty="0"/>
              <a:t>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r>
              <a:rPr lang="da-DK" sz="2400" dirty="0" err="1"/>
              <a:t>Otherwise</a:t>
            </a:r>
            <a:r>
              <a:rPr lang="da-DK" sz="2400" dirty="0"/>
              <a:t>, it </a:t>
            </a:r>
            <a:r>
              <a:rPr lang="da-DK" sz="2400" dirty="0" err="1"/>
              <a:t>will</a:t>
            </a:r>
            <a:r>
              <a:rPr lang="da-DK" sz="2400" dirty="0"/>
              <a:t> </a:t>
            </a:r>
            <a:r>
              <a:rPr lang="da-DK" sz="2400" dirty="0" err="1"/>
              <a:t>continue</a:t>
            </a:r>
            <a:r>
              <a:rPr lang="da-DK" sz="2400" dirty="0"/>
              <a:t> to run, </a:t>
            </a:r>
            <a:r>
              <a:rPr lang="da-DK" sz="2400" dirty="0" err="1"/>
              <a:t>when</a:t>
            </a:r>
            <a:r>
              <a:rPr lang="da-DK" sz="2400" dirty="0"/>
              <a:t> </a:t>
            </a:r>
            <a:r>
              <a:rPr lang="da-DK" sz="2400" dirty="0" err="1"/>
              <a:t>you</a:t>
            </a:r>
            <a:r>
              <a:rPr lang="da-DK" sz="2400" dirty="0"/>
              <a:t> </a:t>
            </a:r>
            <a:r>
              <a:rPr lang="da-DK" sz="2400" dirty="0" err="1"/>
              <a:t>close</a:t>
            </a:r>
            <a:r>
              <a:rPr lang="da-DK" sz="2400" dirty="0"/>
              <a:t> the program.</a:t>
            </a:r>
          </a:p>
          <a:p>
            <a:pPr marL="0" indent="0">
              <a:buNone/>
            </a:pP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/>
          <p:cNvSpPr/>
          <p:nvPr/>
        </p:nvSpPr>
        <p:spPr>
          <a:xfrm>
            <a:off x="503364" y="1311965"/>
            <a:ext cx="6672136" cy="540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 partial class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MainPage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ContentPage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ButtonStart_Click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Counter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counter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new Counter(this);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Thread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theThread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new Thread(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counter.Run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theThread.IsBackground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theThread.Start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Down Arrow 4"/>
          <p:cNvSpPr/>
          <p:nvPr/>
        </p:nvSpPr>
        <p:spPr>
          <a:xfrm rot="5584653" flipH="1">
            <a:off x="5924718" y="3138509"/>
            <a:ext cx="279799" cy="3189148"/>
          </a:xfrm>
          <a:prstGeom prst="downArrow">
            <a:avLst>
              <a:gd name="adj1" fmla="val 50000"/>
              <a:gd name="adj2" fmla="val 48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09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3544-66D1-D47B-98C6-C22A6136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32D-28EC-AFBE-1A34-E530CA16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Invoke</a:t>
            </a:r>
            <a:r>
              <a:rPr lang="da-DK" dirty="0"/>
              <a:t> or </a:t>
            </a:r>
            <a:r>
              <a:rPr lang="da-DK" dirty="0" err="1"/>
              <a:t>BeginInvoke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2C43-0DE1-3390-BA1A-AAE6F698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Dispatch()</a:t>
            </a:r>
            <a:r>
              <a:rPr lang="en-US" dirty="0"/>
              <a:t> will schedule the asynchronous action on the Dispatcher thread. </a:t>
            </a:r>
          </a:p>
          <a:p>
            <a:pPr marL="457200" lvl="1" indent="0">
              <a:buNone/>
            </a:pPr>
            <a:r>
              <a:rPr lang="en-US" dirty="0"/>
              <a:t>When the asynchronous action is scheduled, your code continues. </a:t>
            </a:r>
          </a:p>
          <a:p>
            <a:pPr marL="457200" lvl="1" indent="0">
              <a:buNone/>
            </a:pPr>
            <a:r>
              <a:rPr lang="en-US" dirty="0"/>
              <a:t>Some time later (you don't know exactly when) your asynchronous action will be executed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455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4E93-AD45-9C4F-8B9E-AFCDABEB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5797-FFB3-71C5-4B22-26E9A366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Dispatch or </a:t>
            </a:r>
            <a:r>
              <a:rPr lang="da-DK" dirty="0" err="1"/>
              <a:t>DispatchAsync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BDEB-212D-1C8E-F083-36BCA2F2F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Dispatch()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will schedule the asynchronous action on the Dispatcher thread.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When the asynchronous action is scheduled, your code continues.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Some time later (you don't know exactly when) your asynchronous action will be executed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DispatchAsync</a:t>
            </a:r>
            <a:r>
              <a:rPr lang="en-US" b="1" dirty="0"/>
              <a:t>()</a:t>
            </a:r>
            <a:r>
              <a:rPr lang="en-US" dirty="0"/>
              <a:t> will execute your asynchronous action (on the Dispatcher thread).</a:t>
            </a:r>
          </a:p>
          <a:p>
            <a:pPr marL="457200" lvl="1" indent="0">
              <a:buNone/>
            </a:pPr>
            <a:r>
              <a:rPr lang="en-US" dirty="0"/>
              <a:t>Let you </a:t>
            </a:r>
            <a:r>
              <a:rPr lang="en-US" b="1" dirty="0"/>
              <a:t>await</a:t>
            </a:r>
            <a:r>
              <a:rPr lang="en-US" dirty="0"/>
              <a:t> for the action to finish or get a result back</a:t>
            </a:r>
          </a:p>
          <a:p>
            <a:pPr marL="457200" lvl="1" indent="0">
              <a:buNone/>
            </a:pPr>
            <a:r>
              <a:rPr lang="en-US" dirty="0"/>
              <a:t>Without </a:t>
            </a:r>
            <a:r>
              <a:rPr lang="en-US" b="1" dirty="0"/>
              <a:t>await</a:t>
            </a:r>
            <a:r>
              <a:rPr lang="en-US" dirty="0"/>
              <a:t> it’s the same as </a:t>
            </a:r>
            <a:r>
              <a:rPr lang="en-US" b="1" dirty="0"/>
              <a:t>Dispatch()</a:t>
            </a:r>
          </a:p>
          <a:p>
            <a:pPr marL="457200" lvl="1" indent="0">
              <a:buNone/>
            </a:pPr>
            <a:r>
              <a:rPr lang="en-US" dirty="0"/>
              <a:t>We talk about this in SW4SWD next semester</a:t>
            </a:r>
          </a:p>
        </p:txBody>
      </p:sp>
    </p:spTree>
    <p:extLst>
      <p:ext uri="{BB962C8B-B14F-4D97-AF65-F5344CB8AC3E}">
        <p14:creationId xmlns:p14="http://schemas.microsoft.com/office/powerpoint/2010/main" val="37681891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A8884E-79FC-E369-4CA8-EF57502A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7EA1-3CF1-8F6A-8262-7766737A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Invoke</a:t>
            </a:r>
            <a:r>
              <a:rPr lang="da-DK" dirty="0"/>
              <a:t> or </a:t>
            </a:r>
            <a:r>
              <a:rPr lang="da-DK" dirty="0" err="1"/>
              <a:t>BeginInvoke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1A33F-C3C4-0F3B-BF8E-E46AAE4E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Dispatch()</a:t>
            </a:r>
            <a:r>
              <a:rPr lang="en-US" dirty="0"/>
              <a:t> will schedule the asynchronous action on the Dispatcher thread. </a:t>
            </a:r>
          </a:p>
          <a:p>
            <a:pPr marL="457200" lvl="1" indent="0">
              <a:buNone/>
            </a:pPr>
            <a:r>
              <a:rPr lang="en-US" dirty="0"/>
              <a:t>When the asynchronous action is scheduled, your code continues. </a:t>
            </a:r>
          </a:p>
          <a:p>
            <a:pPr marL="457200" lvl="1" indent="0">
              <a:buNone/>
            </a:pPr>
            <a:r>
              <a:rPr lang="en-US" dirty="0"/>
              <a:t>Some time later (you don't know exactly when) your asynchronous action will be executed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DispatchAsync</a:t>
            </a:r>
            <a:r>
              <a:rPr lang="en-US" b="1" dirty="0"/>
              <a:t>()</a:t>
            </a:r>
            <a:r>
              <a:rPr lang="en-US" dirty="0"/>
              <a:t> will execute your asynchronous action (on the Dispatcher thread).</a:t>
            </a:r>
          </a:p>
          <a:p>
            <a:pPr marL="457200" lvl="1" indent="0">
              <a:buNone/>
            </a:pPr>
            <a:r>
              <a:rPr lang="en-US" dirty="0"/>
              <a:t>Let you </a:t>
            </a:r>
            <a:r>
              <a:rPr lang="en-US" b="1" dirty="0"/>
              <a:t>await</a:t>
            </a:r>
            <a:r>
              <a:rPr lang="en-US" dirty="0"/>
              <a:t> for the action to finish or get a result back</a:t>
            </a:r>
          </a:p>
          <a:p>
            <a:pPr marL="457200" lvl="1" indent="0">
              <a:buNone/>
            </a:pPr>
            <a:r>
              <a:rPr lang="en-US" dirty="0"/>
              <a:t>Without </a:t>
            </a:r>
            <a:r>
              <a:rPr lang="en-US" b="1" dirty="0"/>
              <a:t>await</a:t>
            </a:r>
            <a:r>
              <a:rPr lang="en-US" dirty="0"/>
              <a:t> it’s the same as </a:t>
            </a:r>
            <a:r>
              <a:rPr lang="en-US" b="1" dirty="0"/>
              <a:t>Dispatch()</a:t>
            </a:r>
          </a:p>
          <a:p>
            <a:pPr marL="457200" lvl="1" indent="0">
              <a:buNone/>
            </a:pPr>
            <a:r>
              <a:rPr lang="en-US" dirty="0"/>
              <a:t>We talk about this in SW4SWD next semester</a:t>
            </a:r>
          </a:p>
        </p:txBody>
      </p:sp>
    </p:spTree>
    <p:extLst>
      <p:ext uri="{BB962C8B-B14F-4D97-AF65-F5344CB8AC3E}">
        <p14:creationId xmlns:p14="http://schemas.microsoft.com/office/powerpoint/2010/main" val="1655346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4 and 5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and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when</a:t>
            </a: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done, jump to the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advanced</a:t>
            </a:r>
            <a:r>
              <a:rPr lang="da-DK" sz="48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48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189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Extra </a:t>
            </a:r>
            <a:r>
              <a:rPr lang="da-DK" dirty="0" err="1"/>
              <a:t>stuff</a:t>
            </a:r>
            <a:endParaRPr lang="da-DK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64" y="2022959"/>
            <a:ext cx="10124472" cy="3442320"/>
          </a:xfrm>
        </p:spPr>
      </p:pic>
    </p:spTree>
    <p:extLst>
      <p:ext uri="{BB962C8B-B14F-4D97-AF65-F5344CB8AC3E}">
        <p14:creationId xmlns:p14="http://schemas.microsoft.com/office/powerpoint/2010/main" val="293524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Not </a:t>
            </a:r>
            <a:r>
              <a:rPr lang="da-DK" dirty="0" err="1"/>
              <a:t>solved</a:t>
            </a:r>
            <a:r>
              <a:rPr lang="da-DK" dirty="0"/>
              <a:t> </a:t>
            </a:r>
            <a:r>
              <a:rPr lang="da-DK" dirty="0" err="1"/>
              <a:t>here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Perform time </a:t>
            </a:r>
            <a:r>
              <a:rPr lang="da-DK" dirty="0" err="1"/>
              <a:t>consuming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and still have a </a:t>
            </a:r>
            <a:r>
              <a:rPr lang="da-DK" dirty="0" err="1"/>
              <a:t>responsive</a:t>
            </a:r>
            <a:r>
              <a:rPr lang="da-DK" dirty="0"/>
              <a:t> UI.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Inform</a:t>
            </a:r>
            <a:r>
              <a:rPr lang="da-DK" dirty="0"/>
              <a:t> the user </a:t>
            </a:r>
            <a:r>
              <a:rPr lang="da-DK" dirty="0" err="1"/>
              <a:t>about</a:t>
            </a:r>
            <a:r>
              <a:rPr lang="da-DK" dirty="0"/>
              <a:t> the </a:t>
            </a:r>
            <a:r>
              <a:rPr lang="da-DK" dirty="0" err="1"/>
              <a:t>state</a:t>
            </a:r>
            <a:r>
              <a:rPr lang="da-DK" dirty="0"/>
              <a:t> of the </a:t>
            </a:r>
            <a:r>
              <a:rPr lang="da-DK" dirty="0" err="1"/>
              <a:t>work</a:t>
            </a:r>
            <a:r>
              <a:rPr lang="da-DK" dirty="0"/>
              <a:t> in </a:t>
            </a:r>
            <a:r>
              <a:rPr lang="da-DK" dirty="0" err="1"/>
              <a:t>progress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React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is </a:t>
            </a:r>
            <a:r>
              <a:rPr lang="da-DK" dirty="0" err="1"/>
              <a:t>complete</a:t>
            </a:r>
            <a:endParaRPr lang="da-DK" dirty="0"/>
          </a:p>
          <a:p>
            <a:pPr lvl="1">
              <a:buFontTx/>
              <a:buChar char="-"/>
            </a:pPr>
            <a:r>
              <a:rPr lang="da-DK" dirty="0" err="1"/>
              <a:t>Inform</a:t>
            </a:r>
            <a:r>
              <a:rPr lang="da-DK" dirty="0"/>
              <a:t> the user.</a:t>
            </a:r>
          </a:p>
          <a:p>
            <a:pPr lvl="1">
              <a:buFontTx/>
              <a:buChar char="-"/>
            </a:pPr>
            <a:r>
              <a:rPr lang="da-DK" dirty="0"/>
              <a:t>Do </a:t>
            </a:r>
            <a:r>
              <a:rPr lang="da-DK" dirty="0" err="1"/>
              <a:t>something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the </a:t>
            </a:r>
            <a:r>
              <a:rPr lang="da-DK" dirty="0" err="1"/>
              <a:t>result</a:t>
            </a:r>
            <a:r>
              <a:rPr lang="da-DK" dirty="0"/>
              <a:t>.</a:t>
            </a:r>
          </a:p>
          <a:p>
            <a:pPr lvl="1">
              <a:buFontTx/>
              <a:buChar char="-"/>
            </a:pPr>
            <a:endParaRPr lang="da-DK" dirty="0"/>
          </a:p>
          <a:p>
            <a:pPr marL="0" indent="0">
              <a:buNone/>
            </a:pPr>
            <a:r>
              <a:rPr lang="da-DK" dirty="0"/>
              <a:t>Be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cancel</a:t>
            </a:r>
            <a:r>
              <a:rPr lang="da-DK" dirty="0"/>
              <a:t> the </a:t>
            </a:r>
            <a:r>
              <a:rPr lang="da-DK" dirty="0" err="1"/>
              <a:t>work</a:t>
            </a:r>
            <a:r>
              <a:rPr lang="da-DK" dirty="0"/>
              <a:t> </a:t>
            </a:r>
            <a:r>
              <a:rPr lang="da-DK" dirty="0" err="1"/>
              <a:t>being</a:t>
            </a:r>
            <a:r>
              <a:rPr lang="da-DK" dirty="0"/>
              <a:t> </a:t>
            </a:r>
            <a:r>
              <a:rPr lang="da-DK" dirty="0" err="1"/>
              <a:t>performed</a:t>
            </a:r>
            <a:r>
              <a:rPr lang="da-DK" dirty="0"/>
              <a:t>.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515" y="4286929"/>
            <a:ext cx="37147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14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BackgroundWorker</a:t>
            </a:r>
            <a:endParaRPr lang="da-DK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TODO: Not </a:t>
            </a:r>
            <a:r>
              <a:rPr lang="da-DK" dirty="0" err="1"/>
              <a:t>updated</a:t>
            </a:r>
            <a:r>
              <a:rPr lang="da-DK" dirty="0"/>
              <a:t> with MAUI</a:t>
            </a:r>
          </a:p>
          <a:p>
            <a:r>
              <a:rPr lang="da-DK" dirty="0"/>
              <a:t>In MAUI the </a:t>
            </a:r>
            <a:r>
              <a:rPr lang="da-DK" dirty="0" err="1"/>
              <a:t>prefered</a:t>
            </a:r>
            <a:r>
              <a:rPr lang="da-DK" dirty="0"/>
              <a:t> </a:t>
            </a:r>
            <a:r>
              <a:rPr lang="da-DK" dirty="0" err="1"/>
              <a:t>way</a:t>
            </a:r>
            <a:r>
              <a:rPr lang="da-DK" dirty="0"/>
              <a:t> is ASYNC </a:t>
            </a:r>
            <a:r>
              <a:rPr lang="da-DK" dirty="0" err="1"/>
              <a:t>await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901965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ways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System.Threading.Thread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from the </a:t>
            </a:r>
            <a:r>
              <a:rPr lang="da-DK" dirty="0" err="1"/>
              <a:t>main</a:t>
            </a:r>
            <a:r>
              <a:rPr lang="da-DK" dirty="0"/>
              <a:t> program.</a:t>
            </a:r>
          </a:p>
          <a:p>
            <a:pPr marL="457200" lvl="1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, </a:t>
            </a:r>
            <a:r>
              <a:rPr lang="da-DK" dirty="0" err="1"/>
              <a:t>until</a:t>
            </a:r>
            <a:r>
              <a:rPr lang="da-DK" dirty="0"/>
              <a:t> </a:t>
            </a:r>
            <a:r>
              <a:rPr lang="da-DK" dirty="0" err="1"/>
              <a:t>stopped</a:t>
            </a:r>
            <a:r>
              <a:rPr lang="da-DK" dirty="0"/>
              <a:t> by </a:t>
            </a:r>
            <a:r>
              <a:rPr lang="da-DK" dirty="0" err="1"/>
              <a:t>some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r>
              <a:rPr lang="da-DK" dirty="0"/>
              <a:t>Update the UI with the ”</a:t>
            </a:r>
            <a:r>
              <a:rPr lang="da-DK" dirty="0" err="1"/>
              <a:t>Invoke</a:t>
            </a:r>
            <a:r>
              <a:rPr lang="da-DK" dirty="0"/>
              <a:t>” </a:t>
            </a:r>
            <a:r>
              <a:rPr lang="da-DK" dirty="0" err="1"/>
              <a:t>methods</a:t>
            </a:r>
            <a:r>
              <a:rPr lang="da-DK" dirty="0"/>
              <a:t>.</a:t>
            </a:r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System.ComponentModel.BackgroundWorker</a:t>
            </a:r>
            <a:endParaRPr lang="da-DK" dirty="0"/>
          </a:p>
          <a:p>
            <a:pPr marL="457200" lvl="1" indent="0">
              <a:buNone/>
            </a:pPr>
            <a:r>
              <a:rPr lang="da-DK" dirty="0" err="1"/>
              <a:t>Initiate</a:t>
            </a:r>
            <a:r>
              <a:rPr lang="da-DK" dirty="0"/>
              <a:t> a </a:t>
            </a:r>
            <a:r>
              <a:rPr lang="da-DK" dirty="0" err="1"/>
              <a:t>background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from the UI.</a:t>
            </a:r>
          </a:p>
          <a:p>
            <a:pPr marL="457200" lvl="1" indent="0">
              <a:buNone/>
            </a:pPr>
            <a:r>
              <a:rPr lang="da-DK" dirty="0"/>
              <a:t>Do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and </a:t>
            </a:r>
            <a:r>
              <a:rPr lang="da-DK" dirty="0" err="1"/>
              <a:t>then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stops.</a:t>
            </a:r>
          </a:p>
          <a:p>
            <a:pPr marL="0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56305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BackgroundWorker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>
                <a:hlinkClick r:id="rId3"/>
              </a:rPr>
              <a:t>BackgroundWorker</a:t>
            </a:r>
            <a:r>
              <a:rPr lang="en-US" dirty="0"/>
              <a:t> class allows you to </a:t>
            </a:r>
            <a:r>
              <a:rPr lang="en-US" b="1" dirty="0"/>
              <a:t>run time-consuming operations</a:t>
            </a:r>
            <a:r>
              <a:rPr lang="en-US" dirty="0"/>
              <a:t> like downloads and database transactions </a:t>
            </a:r>
            <a:r>
              <a:rPr lang="en-US" b="1" dirty="0"/>
              <a:t>on a separate, dedicated thread.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</a:t>
            </a:r>
            <a:r>
              <a:rPr lang="en-US" dirty="0" err="1">
                <a:hlinkClick r:id="rId3"/>
              </a:rPr>
              <a:t>BackgroundWorker</a:t>
            </a:r>
            <a:r>
              <a:rPr lang="en-US" dirty="0"/>
              <a:t> and </a:t>
            </a:r>
            <a:r>
              <a:rPr lang="en-US" b="1" dirty="0"/>
              <a:t>listen for events </a:t>
            </a:r>
            <a:r>
              <a:rPr lang="en-US" dirty="0"/>
              <a:t>that report the </a:t>
            </a:r>
            <a:r>
              <a:rPr lang="en-US" b="1" dirty="0"/>
              <a:t>progress</a:t>
            </a:r>
            <a:r>
              <a:rPr lang="en-US" dirty="0"/>
              <a:t> of your operation and signal when your operation is </a:t>
            </a:r>
            <a:r>
              <a:rPr lang="en-US" b="1" dirty="0"/>
              <a:t>finished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create the </a:t>
            </a:r>
            <a:r>
              <a:rPr lang="en-US" dirty="0" err="1">
                <a:hlinkClick r:id="rId3"/>
              </a:rPr>
              <a:t>BackgroundWorker</a:t>
            </a:r>
            <a:r>
              <a:rPr lang="en-US" dirty="0"/>
              <a:t> programmatically or you can drag it onto your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822" y="6383696"/>
            <a:ext cx="10543822" cy="2203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400" dirty="0" err="1">
                <a:latin typeface="Gill Sans MT" panose="020B0502020104020203" pitchFamily="34" charset="0"/>
                <a:hlinkClick r:id="rId3"/>
              </a:rPr>
              <a:t>Adapted</a:t>
            </a:r>
            <a:r>
              <a:rPr lang="da-DK" sz="1400" dirty="0">
                <a:latin typeface="Gill Sans MT" panose="020B0502020104020203" pitchFamily="34" charset="0"/>
                <a:hlinkClick r:id="rId3"/>
              </a:rPr>
              <a:t> from: https://docs.microsoft.com/en-us/dotnet/api/system.componentmodel.backgroundworker?view=netframework-4.7</a:t>
            </a:r>
            <a:endParaRPr lang="da-DK" sz="1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59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BackgroundWorker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(</a:t>
            </a:r>
            <a:r>
              <a:rPr lang="da-DK" dirty="0" err="1"/>
              <a:t>WinForms</a:t>
            </a:r>
            <a:r>
              <a:rPr lang="da-D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TextBox 4"/>
          <p:cNvSpPr txBox="1"/>
          <p:nvPr/>
        </p:nvSpPr>
        <p:spPr>
          <a:xfrm>
            <a:off x="838200" y="6022452"/>
            <a:ext cx="10303933" cy="3612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400" dirty="0">
                <a:latin typeface="Gill Sans MT" panose="020B0502020104020203" pitchFamily="34" charset="0"/>
              </a:rPr>
              <a:t>This </a:t>
            </a:r>
            <a:r>
              <a:rPr lang="da-DK" sz="1400" dirty="0" err="1">
                <a:latin typeface="Gill Sans MT" panose="020B0502020104020203" pitchFamily="34" charset="0"/>
              </a:rPr>
              <a:t>example</a:t>
            </a:r>
            <a:r>
              <a:rPr lang="da-DK" sz="1400" dirty="0">
                <a:latin typeface="Gill Sans MT" panose="020B0502020104020203" pitchFamily="34" charset="0"/>
              </a:rPr>
              <a:t> is a </a:t>
            </a:r>
            <a:r>
              <a:rPr lang="da-DK" sz="1400" dirty="0" err="1">
                <a:latin typeface="Gill Sans MT" panose="020B0502020104020203" pitchFamily="34" charset="0"/>
              </a:rPr>
              <a:t>modified</a:t>
            </a:r>
            <a:r>
              <a:rPr lang="da-DK" sz="1400" dirty="0">
                <a:latin typeface="Gill Sans MT" panose="020B0502020104020203" pitchFamily="34" charset="0"/>
              </a:rPr>
              <a:t> version of the </a:t>
            </a:r>
            <a:r>
              <a:rPr lang="da-DK" sz="1400" dirty="0" err="1">
                <a:latin typeface="Gill Sans MT" panose="020B0502020104020203" pitchFamily="34" charset="0"/>
              </a:rPr>
              <a:t>one</a:t>
            </a:r>
            <a:r>
              <a:rPr lang="da-DK" sz="1400" dirty="0">
                <a:latin typeface="Gill Sans MT" panose="020B0502020104020203" pitchFamily="34" charset="0"/>
              </a:rPr>
              <a:t> </a:t>
            </a:r>
            <a:r>
              <a:rPr lang="da-DK" sz="1400" dirty="0" err="1">
                <a:latin typeface="Gill Sans MT" panose="020B0502020104020203" pitchFamily="34" charset="0"/>
              </a:rPr>
              <a:t>found</a:t>
            </a:r>
            <a:r>
              <a:rPr lang="da-DK" sz="1400" dirty="0">
                <a:latin typeface="Gill Sans MT" panose="020B0502020104020203" pitchFamily="34" charset="0"/>
              </a:rPr>
              <a:t> at:</a:t>
            </a:r>
          </a:p>
          <a:p>
            <a:r>
              <a:rPr lang="da-DK" sz="1400" dirty="0">
                <a:latin typeface="Gill Sans MT" panose="020B0502020104020203" pitchFamily="34" charset="0"/>
                <a:hlinkClick r:id="rId3"/>
              </a:rPr>
              <a:t>https://www.codeproject.com/Articles/841751/MultiThreading-Using-a-Background-Worker-Csharp?msg=4950583#xx4950583xx</a:t>
            </a:r>
            <a:endParaRPr lang="da-DK" sz="1400" dirty="0">
              <a:latin typeface="Gill Sans MT" panose="020B0502020104020203" pitchFamily="34" charset="0"/>
            </a:endParaRPr>
          </a:p>
          <a:p>
            <a:endParaRPr lang="da-DK" dirty="0">
              <a:latin typeface="Gill Sans MT" panose="020B05020201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7" y="1795462"/>
            <a:ext cx="56483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77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 </a:t>
            </a:r>
            <a:r>
              <a:rPr lang="da-DK" dirty="0" err="1"/>
              <a:t>BackgroundWorker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161185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can create the </a:t>
            </a:r>
            <a:r>
              <a:rPr lang="en-US" dirty="0" err="1"/>
              <a:t>BackgroundWorker</a:t>
            </a:r>
            <a:r>
              <a:rPr lang="en-US" dirty="0"/>
              <a:t> programmatically or drag it onto your form from the </a:t>
            </a:r>
            <a:r>
              <a:rPr lang="en-US" b="1" dirty="0"/>
              <a:t>Components</a:t>
            </a:r>
            <a:r>
              <a:rPr lang="en-US" dirty="0"/>
              <a:t> tab of the </a:t>
            </a:r>
            <a:r>
              <a:rPr lang="en-US" b="1" dirty="0"/>
              <a:t>Toolbox</a:t>
            </a:r>
            <a:r>
              <a:rPr lang="en-US" dirty="0"/>
              <a:t>. If you create it in the Windows Forms Designer, it will appear in the Component Tray, and its properties will be displayed in the Properties window.</a:t>
            </a:r>
            <a:endParaRPr lang="da-DK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606" y="3342489"/>
            <a:ext cx="8506787" cy="328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7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 err="1"/>
              <a:t>Setting</a:t>
            </a:r>
            <a:r>
              <a:rPr lang="da-DK" sz="3600" dirty="0"/>
              <a:t> up the event handlers </a:t>
            </a:r>
            <a:r>
              <a:rPr lang="da-DK" sz="3600" dirty="0" err="1"/>
              <a:t>programatically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In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, the </a:t>
            </a:r>
            <a:r>
              <a:rPr lang="da-DK" dirty="0" err="1"/>
              <a:t>BackgroundWorker</a:t>
            </a:r>
            <a:r>
              <a:rPr lang="da-DK" dirty="0"/>
              <a:t> is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dirty="0" err="1"/>
              <a:t>myWorker</a:t>
            </a:r>
            <a:r>
              <a:rPr lang="da-DK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 Form1()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myWorker.DoWork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+=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DoWorkEventHandler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myWorker_DoWork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myWorker.RunWorkerCompleted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+= new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RunWorkerCompletedEventHandler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myWorker_RunWorkerCompleted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myWorker.ProgressChanged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+= new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ProgressChangedEventHandler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myWorker_ProgressChanged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myWorker.WorkerReportsProgress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myWorker.WorkerSupportsCancellation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20630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Let’s assume we have class with a heavy operation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private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readonly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_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_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public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PerformHeavyOperation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System.Threading.Thread.Sleep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(250);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_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* 1000;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74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Run time-consuming operations on a separate thread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set up for a background operation, add an event handler for the </a:t>
            </a:r>
            <a:r>
              <a:rPr lang="en-US" dirty="0" err="1">
                <a:hlinkClick r:id="rId3"/>
              </a:rPr>
              <a:t>DoWork</a:t>
            </a:r>
            <a:r>
              <a:rPr lang="en-US" dirty="0"/>
              <a:t> event.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Call your time-consuming operation in this event handler.</a:t>
            </a:r>
            <a:endParaRPr lang="da-DK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myWorker_DoWork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DoWorkEventArgs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event handler is where the actual work is done.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method runs on the background thread.  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Get the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object that raised this event.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worker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)sender;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Get the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object and perform the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heavy operation on the background thread.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ho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ho.PerformHeavyOperation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e.Result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result;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6991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Run time-consuming operations on a separate thread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start the operation, call </a:t>
            </a:r>
            <a:r>
              <a:rPr lang="en-US" dirty="0" err="1">
                <a:hlinkClick r:id="rId3"/>
              </a:rPr>
              <a:t>RunWorkerAsync</a:t>
            </a:r>
            <a:r>
              <a:rPr lang="en-US" dirty="0"/>
              <a:t>.</a:t>
            </a:r>
            <a:endParaRPr lang="da-DK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</a:t>
            </a:r>
            <a:r>
              <a:rPr lang="da-DK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void</a:t>
            </a:r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a-DK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btnStart_Click</a:t>
            </a:r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method runs on the main thread.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(!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myWorker.IsBusy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// ... do stuff with the GUI if you need to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btnStart.Enabled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false;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// Capture the user input and initialize the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numericUpDownMax.Value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ho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// Start the asynchronous operation.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myWorker.RunWorkerAsync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(ho);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29509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9956" y="365126"/>
            <a:ext cx="8545688" cy="34097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myWorker_DoWork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DoWorkEventArgs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event handler is where the actual work is done.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method runs on the background thread.  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Get the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object that raised this event.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worker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)sender;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Get the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object and perform the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heavy operation on the background thread.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ho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e.Argument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ho.PerformHeavyOperation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e.Result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result;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622800" y="3324578"/>
            <a:ext cx="7320844" cy="35334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</a:t>
            </a:r>
            <a:r>
              <a:rPr lang="da-DK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void</a:t>
            </a:r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da-DK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btnStart_Click</a:t>
            </a:r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method runs on the main thread.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(!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myWorker.IsBusy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btnStart.Enabled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false;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numericUpDownMax.Value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ho = new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numericValue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// Start the asynchronous operation.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myWorker.RunWorkerAsync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(ho);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a-DK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Down Arrow 7"/>
          <p:cNvSpPr/>
          <p:nvPr/>
        </p:nvSpPr>
        <p:spPr>
          <a:xfrm rot="14065562">
            <a:off x="4063999" y="3326591"/>
            <a:ext cx="327378" cy="19681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/>
          <p:cNvSpPr txBox="1"/>
          <p:nvPr/>
        </p:nvSpPr>
        <p:spPr>
          <a:xfrm>
            <a:off x="1484488" y="4967111"/>
            <a:ext cx="2743200" cy="7902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da-DK" sz="2000" dirty="0" err="1">
                <a:latin typeface="Gill Sans MT" panose="020B0502020104020203" pitchFamily="34" charset="0"/>
              </a:rPr>
              <a:t>Called</a:t>
            </a:r>
            <a:r>
              <a:rPr lang="da-DK" sz="2000" dirty="0">
                <a:latin typeface="Gill Sans MT" panose="020B0502020104020203" pitchFamily="34" charset="0"/>
              </a:rPr>
              <a:t> </a:t>
            </a:r>
            <a:r>
              <a:rPr lang="da-DK" sz="2000" dirty="0" err="1">
                <a:latin typeface="Gill Sans MT" panose="020B0502020104020203" pitchFamily="34" charset="0"/>
              </a:rPr>
              <a:t>when</a:t>
            </a:r>
            <a:r>
              <a:rPr lang="da-DK" sz="2000" dirty="0">
                <a:latin typeface="Gill Sans MT" panose="020B0502020104020203" pitchFamily="34" charset="0"/>
              </a:rPr>
              <a:t> the Start </a:t>
            </a:r>
            <a:r>
              <a:rPr lang="da-DK" sz="2000" dirty="0" err="1">
                <a:latin typeface="Gill Sans MT" panose="020B0502020104020203" pitchFamily="34" charset="0"/>
              </a:rPr>
              <a:t>button</a:t>
            </a:r>
            <a:r>
              <a:rPr lang="da-DK" sz="2000" dirty="0">
                <a:latin typeface="Gill Sans MT" panose="020B0502020104020203" pitchFamily="34" charset="0"/>
              </a:rPr>
              <a:t> is </a:t>
            </a:r>
            <a:r>
              <a:rPr lang="da-DK" sz="2000" dirty="0" err="1">
                <a:latin typeface="Gill Sans MT" panose="020B0502020104020203" pitchFamily="34" charset="0"/>
              </a:rPr>
              <a:t>clicked</a:t>
            </a:r>
            <a:r>
              <a:rPr lang="da-DK" sz="2000" dirty="0"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10" name="Down Arrow 9"/>
          <p:cNvSpPr/>
          <p:nvPr/>
        </p:nvSpPr>
        <p:spPr>
          <a:xfrm rot="6127987">
            <a:off x="8262962" y="68456"/>
            <a:ext cx="327378" cy="19681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9458841" y="519290"/>
            <a:ext cx="2484803" cy="18175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r>
              <a:rPr lang="da-DK" sz="2000" dirty="0">
                <a:latin typeface="Gill Sans MT" panose="020B0502020104020203" pitchFamily="34" charset="0"/>
              </a:rPr>
              <a:t>Set as the </a:t>
            </a:r>
            <a:r>
              <a:rPr lang="da-DK" sz="2000" dirty="0" err="1">
                <a:latin typeface="Gill Sans MT" panose="020B0502020104020203" pitchFamily="34" charset="0"/>
              </a:rPr>
              <a:t>DoWork</a:t>
            </a:r>
            <a:r>
              <a:rPr lang="da-DK" sz="2000" dirty="0">
                <a:latin typeface="Gill Sans MT" panose="020B0502020104020203" pitchFamily="34" charset="0"/>
              </a:rPr>
              <a:t> event handler on the </a:t>
            </a:r>
            <a:r>
              <a:rPr lang="da-DK" sz="2000" dirty="0" err="1">
                <a:latin typeface="Gill Sans MT" panose="020B0502020104020203" pitchFamily="34" charset="0"/>
              </a:rPr>
              <a:t>background</a:t>
            </a:r>
            <a:r>
              <a:rPr lang="da-DK" sz="2000" dirty="0">
                <a:latin typeface="Gill Sans MT" panose="020B0502020104020203" pitchFamily="34" charset="0"/>
              </a:rPr>
              <a:t> </a:t>
            </a:r>
            <a:r>
              <a:rPr lang="da-DK" sz="2000" dirty="0" err="1">
                <a:latin typeface="Gill Sans MT" panose="020B0502020104020203" pitchFamily="34" charset="0"/>
              </a:rPr>
              <a:t>worker</a:t>
            </a:r>
            <a:r>
              <a:rPr lang="da-DK" sz="2000" dirty="0">
                <a:latin typeface="Gill Sans MT" panose="020B0502020104020203" pitchFamily="34" charset="0"/>
              </a:rPr>
              <a:t>.</a:t>
            </a:r>
          </a:p>
          <a:p>
            <a:endParaRPr lang="da-DK" sz="2000" dirty="0">
              <a:latin typeface="Gill Sans MT" panose="020B0502020104020203" pitchFamily="34" charset="0"/>
            </a:endParaRPr>
          </a:p>
          <a:p>
            <a:r>
              <a:rPr lang="da-DK" sz="2000" dirty="0" err="1">
                <a:latin typeface="Gill Sans MT" panose="020B0502020104020203" pitchFamily="34" charset="0"/>
              </a:rPr>
              <a:t>Called</a:t>
            </a:r>
            <a:r>
              <a:rPr lang="da-DK" sz="2000" dirty="0">
                <a:latin typeface="Gill Sans MT" panose="020B0502020104020203" pitchFamily="34" charset="0"/>
              </a:rPr>
              <a:t> on a </a:t>
            </a:r>
            <a:r>
              <a:rPr lang="da-DK" sz="2000" dirty="0" err="1">
                <a:latin typeface="Gill Sans MT" panose="020B0502020104020203" pitchFamily="34" charset="0"/>
              </a:rPr>
              <a:t>background</a:t>
            </a:r>
            <a:r>
              <a:rPr lang="da-DK" sz="2000" dirty="0">
                <a:latin typeface="Gill Sans MT" panose="020B0502020104020203" pitchFamily="34" charset="0"/>
              </a:rPr>
              <a:t> </a:t>
            </a:r>
            <a:r>
              <a:rPr lang="da-DK" sz="2000" dirty="0" err="1">
                <a:latin typeface="Gill Sans MT" panose="020B0502020104020203" pitchFamily="34" charset="0"/>
              </a:rPr>
              <a:t>thread</a:t>
            </a:r>
            <a:r>
              <a:rPr lang="da-DK" sz="2000" dirty="0">
                <a:latin typeface="Gill Sans MT" panose="020B0502020104020203" pitchFamily="34" charset="0"/>
              </a:rPr>
              <a:t> at </a:t>
            </a:r>
            <a:r>
              <a:rPr lang="da-DK" sz="2000" dirty="0" err="1">
                <a:latin typeface="Gill Sans MT" panose="020B0502020104020203" pitchFamily="34" charset="0"/>
              </a:rPr>
              <a:t>some</a:t>
            </a:r>
            <a:r>
              <a:rPr lang="da-DK" sz="2000" dirty="0">
                <a:latin typeface="Gill Sans MT" panose="020B0502020104020203" pitchFamily="34" charset="0"/>
              </a:rPr>
              <a:t> point in time.</a:t>
            </a:r>
          </a:p>
        </p:txBody>
      </p:sp>
      <p:sp>
        <p:nvSpPr>
          <p:cNvPr id="13" name="Down Arrow 12"/>
          <p:cNvSpPr/>
          <p:nvPr/>
        </p:nvSpPr>
        <p:spPr>
          <a:xfrm rot="1494399">
            <a:off x="8950808" y="3199942"/>
            <a:ext cx="327378" cy="29478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/>
          <p:cNvSpPr txBox="1"/>
          <p:nvPr/>
        </p:nvSpPr>
        <p:spPr>
          <a:xfrm>
            <a:off x="9306441" y="2477865"/>
            <a:ext cx="2484803" cy="7902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r>
              <a:rPr lang="da-DK" sz="2000" dirty="0">
                <a:latin typeface="Gill Sans MT" panose="020B0502020104020203" pitchFamily="34" charset="0"/>
              </a:rPr>
              <a:t>Argument to the </a:t>
            </a:r>
            <a:r>
              <a:rPr lang="da-DK" sz="2000" dirty="0" err="1">
                <a:latin typeface="Gill Sans MT" panose="020B0502020104020203" pitchFamily="34" charset="0"/>
              </a:rPr>
              <a:t>DoWork</a:t>
            </a:r>
            <a:r>
              <a:rPr lang="da-DK" sz="2000" dirty="0">
                <a:latin typeface="Gill Sans MT" panose="020B0502020104020203" pitchFamily="34" charset="0"/>
              </a:rPr>
              <a:t> event handler.</a:t>
            </a:r>
          </a:p>
        </p:txBody>
      </p:sp>
    </p:spTree>
    <p:extLst>
      <p:ext uri="{BB962C8B-B14F-4D97-AF65-F5344CB8AC3E}">
        <p14:creationId xmlns:p14="http://schemas.microsoft.com/office/powerpoint/2010/main" val="138271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Reporting progress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ReportProgress</a:t>
            </a:r>
            <a:endParaRPr lang="da-DK" i="1" dirty="0"/>
          </a:p>
          <a:p>
            <a:pPr marL="0" indent="0">
              <a:buNone/>
            </a:pPr>
            <a:r>
              <a:rPr lang="da-DK" dirty="0" err="1"/>
              <a:t>takes</a:t>
            </a:r>
            <a:r>
              <a:rPr lang="da-DK" dirty="0"/>
              <a:t> a </a:t>
            </a:r>
            <a:r>
              <a:rPr lang="da-DK" dirty="0" err="1"/>
              <a:t>percentage</a:t>
            </a:r>
            <a:r>
              <a:rPr lang="da-DK" dirty="0"/>
              <a:t> </a:t>
            </a:r>
            <a:r>
              <a:rPr lang="da-DK" dirty="0" err="1"/>
              <a:t>complete</a:t>
            </a:r>
            <a:r>
              <a:rPr lang="da-DK" dirty="0"/>
              <a:t> and a </a:t>
            </a:r>
            <a:r>
              <a:rPr lang="da-DK" dirty="0" err="1"/>
              <a:t>custom</a:t>
            </a:r>
            <a:r>
              <a:rPr lang="da-DK" dirty="0"/>
              <a:t> </a:t>
            </a:r>
            <a:r>
              <a:rPr lang="da-DK" dirty="0" err="1"/>
              <a:t>object</a:t>
            </a:r>
            <a:r>
              <a:rPr lang="da-DK" dirty="0"/>
              <a:t> as arguments.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9956" y="984738"/>
            <a:ext cx="7699022" cy="572086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// Object used to pass state to the GUI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public class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HeavyOperationUserState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public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IterationNo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{ get; set; }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public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PerformHeavyOperation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worker, 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DoWorkEventArgs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_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for 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0;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Thread.Sleep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(250);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new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userState.IterationNo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percentComplete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((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+ 1) * 100) /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worker.ReportProgress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percentComplete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da-DK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072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Listen for progress reports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receive notifications of progress updates, handle the </a:t>
            </a:r>
            <a:r>
              <a:rPr lang="en-US" dirty="0" err="1">
                <a:hlinkClick r:id="rId3"/>
              </a:rPr>
              <a:t>ProgressChanged</a:t>
            </a:r>
            <a:r>
              <a:rPr lang="en-US" dirty="0"/>
              <a:t> event.</a:t>
            </a:r>
            <a:endParaRPr lang="da-DK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myWorker_ProgressChanged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ProgressChangedEventArgs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This method runs on the main thread.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progressPercentage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e.ProgressPercentage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update progress bar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progress.Value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progressPercentage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HeavyOperation.HeavyOperationUserState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hoUserState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HeavyOperation.HeavyOperationUserState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e.UserState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iterationNo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hoUserState.IterationNo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update status strip text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lblStatus.Text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"Iteration number: " +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iterationNo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3520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Listen for events that signal when your operation is finished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receive a notification when the operation is completed, handle the </a:t>
            </a:r>
            <a:r>
              <a:rPr lang="en-US" sz="2400" dirty="0" err="1">
                <a:hlinkClick r:id="rId3"/>
              </a:rPr>
              <a:t>RunWorkerCompleted</a:t>
            </a:r>
            <a:r>
              <a:rPr lang="en-US" sz="2400" dirty="0"/>
              <a:t> event.</a:t>
            </a:r>
            <a:endParaRPr lang="da-DK" sz="2400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51572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myWorker_RunWorkerCompleted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RunWorkerCompletedEventArgs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e.Error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!= null)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lblStatus.Text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"Error: " +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e.Error.Message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else if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e.Cancelled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lblStatus.Text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"User cancelled";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else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lblStatus.Text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"Done";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textBox1.Text = textBox1.Text + "Total count: " +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   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(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e.Result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 +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Environment.NewLine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btnStart.Enabled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67540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200" dirty="0" err="1"/>
              <a:t>Cancel</a:t>
            </a:r>
            <a:r>
              <a:rPr lang="da-DK" sz="3200" dirty="0"/>
              <a:t> the operation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>
                <a:hlinkClick r:id="rId3"/>
              </a:rPr>
              <a:t>RunWorkerCompleted</a:t>
            </a:r>
            <a:r>
              <a:rPr lang="en-US" sz="2400" dirty="0"/>
              <a:t> event handler will be called after cancellation.</a:t>
            </a: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49219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private void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btnCancel_Click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(object sender,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EventArgs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// Cancel the asynchronous operation.  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myWorker.CancelAsync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da-DK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Down Arrow 4"/>
          <p:cNvSpPr/>
          <p:nvPr/>
        </p:nvSpPr>
        <p:spPr>
          <a:xfrm rot="6602675">
            <a:off x="5922648" y="1692963"/>
            <a:ext cx="327378" cy="531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extBox 5"/>
          <p:cNvSpPr txBox="1"/>
          <p:nvPr/>
        </p:nvSpPr>
        <p:spPr>
          <a:xfrm>
            <a:off x="8583293" y="5199179"/>
            <a:ext cx="2743200" cy="79022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da-DK" sz="2000" dirty="0" err="1">
                <a:latin typeface="Gill Sans MT" panose="020B0502020104020203" pitchFamily="34" charset="0"/>
              </a:rPr>
              <a:t>Called</a:t>
            </a:r>
            <a:r>
              <a:rPr lang="da-DK" sz="2000" dirty="0">
                <a:latin typeface="Gill Sans MT" panose="020B0502020104020203" pitchFamily="34" charset="0"/>
              </a:rPr>
              <a:t> </a:t>
            </a:r>
            <a:r>
              <a:rPr lang="da-DK" sz="2000" dirty="0" err="1">
                <a:latin typeface="Gill Sans MT" panose="020B0502020104020203" pitchFamily="34" charset="0"/>
              </a:rPr>
              <a:t>when</a:t>
            </a:r>
            <a:r>
              <a:rPr lang="da-DK" sz="2000" dirty="0">
                <a:latin typeface="Gill Sans MT" panose="020B0502020104020203" pitchFamily="34" charset="0"/>
              </a:rPr>
              <a:t> the </a:t>
            </a:r>
            <a:r>
              <a:rPr lang="da-DK" sz="2000" dirty="0" err="1">
                <a:latin typeface="Gill Sans MT" panose="020B0502020104020203" pitchFamily="34" charset="0"/>
              </a:rPr>
              <a:t>Cancel</a:t>
            </a:r>
            <a:r>
              <a:rPr lang="da-DK" sz="2000" dirty="0">
                <a:latin typeface="Gill Sans MT" panose="020B0502020104020203" pitchFamily="34" charset="0"/>
              </a:rPr>
              <a:t> </a:t>
            </a:r>
            <a:r>
              <a:rPr lang="da-DK" sz="2000" dirty="0" err="1">
                <a:latin typeface="Gill Sans MT" panose="020B0502020104020203" pitchFamily="34" charset="0"/>
              </a:rPr>
              <a:t>button</a:t>
            </a:r>
            <a:r>
              <a:rPr lang="da-DK" sz="2000" dirty="0">
                <a:latin typeface="Gill Sans MT" panose="020B0502020104020203" pitchFamily="34" charset="0"/>
              </a:rPr>
              <a:t> is </a:t>
            </a:r>
            <a:r>
              <a:rPr lang="da-DK" sz="2000" dirty="0" err="1">
                <a:latin typeface="Gill Sans MT" panose="020B0502020104020203" pitchFamily="34" charset="0"/>
              </a:rPr>
              <a:t>clicked</a:t>
            </a:r>
            <a:r>
              <a:rPr lang="da-DK" sz="2000" dirty="0">
                <a:latin typeface="Gill Sans MT" panose="020B05020201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03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Listen for cancellation</a:t>
            </a:r>
            <a:endParaRPr lang="da-DK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578" y="1311965"/>
            <a:ext cx="3203221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/>
              <a:t>If </a:t>
            </a:r>
            <a:r>
              <a:rPr lang="da-DK" sz="2400" dirty="0" err="1"/>
              <a:t>cancellation</a:t>
            </a:r>
            <a:r>
              <a:rPr lang="da-DK" sz="2400" dirty="0"/>
              <a:t> is </a:t>
            </a:r>
            <a:r>
              <a:rPr lang="da-DK" sz="2400" dirty="0" err="1"/>
              <a:t>pending</a:t>
            </a:r>
            <a:r>
              <a:rPr lang="da-DK" sz="2400" dirty="0"/>
              <a:t>, stop the operation and </a:t>
            </a:r>
            <a:r>
              <a:rPr lang="da-DK" sz="2400" dirty="0" err="1"/>
              <a:t>notify</a:t>
            </a:r>
            <a:r>
              <a:rPr lang="da-DK" sz="2400" dirty="0"/>
              <a:t> the GUI by </a:t>
            </a:r>
            <a:r>
              <a:rPr lang="da-DK" sz="2400" dirty="0" err="1"/>
              <a:t>setting</a:t>
            </a:r>
            <a:r>
              <a:rPr lang="da-DK" sz="2400" dirty="0"/>
              <a:t> the </a:t>
            </a:r>
            <a:r>
              <a:rPr lang="da-DK" sz="2400" dirty="0" err="1"/>
              <a:t>DoWorkEventArgs</a:t>
            </a:r>
            <a:r>
              <a:rPr lang="da-DK" sz="2400" dirty="0"/>
              <a:t> </a:t>
            </a:r>
            <a:r>
              <a:rPr lang="da-DK" sz="2400" dirty="0" err="1"/>
              <a:t>e.Cancel</a:t>
            </a:r>
            <a:r>
              <a:rPr lang="da-DK" sz="2400" dirty="0"/>
              <a:t> </a:t>
            </a:r>
            <a:r>
              <a:rPr lang="da-DK" sz="2400" dirty="0" err="1"/>
              <a:t>property</a:t>
            </a:r>
            <a:r>
              <a:rPr lang="da-DK" sz="2400" dirty="0"/>
              <a:t> to true.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9956" y="1298222"/>
            <a:ext cx="7699022" cy="51572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public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PerformHeavyOperation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BackgroundWorker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worker,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DoWorkEventArgs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_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anArgument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for 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0;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&lt;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if (!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worker.CancellationPending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Thread.Sleep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(250);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new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HeavyOperationUserState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userState.IterationNo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percentComplete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= ((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+ 1) * 100) /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maxValue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worker.ReportProgress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percentComplete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userState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else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e.Cancel</a:t>
            </a:r>
            <a:r>
              <a:rPr lang="en-US" sz="1200" b="1" dirty="0">
                <a:solidFill>
                  <a:schemeClr val="tx1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totalSum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Down Arrow 4"/>
          <p:cNvSpPr/>
          <p:nvPr/>
        </p:nvSpPr>
        <p:spPr>
          <a:xfrm rot="5400000">
            <a:off x="4492547" y="1989834"/>
            <a:ext cx="327378" cy="15352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Down Arrow 6"/>
          <p:cNvSpPr/>
          <p:nvPr/>
        </p:nvSpPr>
        <p:spPr>
          <a:xfrm rot="5400000">
            <a:off x="3888809" y="4094128"/>
            <a:ext cx="327378" cy="2258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835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More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locking</a:t>
            </a:r>
            <a:endParaRPr lang="da-DK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6463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Monitor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sz="2400" dirty="0">
                <a:latin typeface="Consolas" panose="020B0609020204030204" pitchFamily="49" charset="0"/>
              </a:rPr>
              <a:t>Monitor</a:t>
            </a:r>
            <a:r>
              <a:rPr lang="en-US" dirty="0"/>
              <a:t> prevents collisions if used correctly, i.e. by all users of the shared resource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Monitor.Enter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  <a:r>
              <a:rPr lang="en-US" dirty="0"/>
              <a:t> only blocks other threads – the calling thread may re-enter the monitor</a:t>
            </a:r>
          </a:p>
          <a:p>
            <a:pPr marL="0" indent="0">
              <a:buNone/>
            </a:pPr>
            <a:r>
              <a:rPr lang="en-US" dirty="0"/>
              <a:t>Monitors can only lock reference types – value types are </a:t>
            </a:r>
            <a:r>
              <a:rPr lang="en-US" i="1" dirty="0"/>
              <a:t>boxed</a:t>
            </a:r>
            <a:r>
              <a:rPr lang="en-US" dirty="0"/>
              <a:t> (this constitutes a synchronization error!)</a:t>
            </a:r>
          </a:p>
          <a:p>
            <a:pPr marL="0" indent="0">
              <a:buNone/>
            </a:pPr>
            <a:r>
              <a:rPr lang="en-US" dirty="0"/>
              <a:t>Monitors can only lock within same application domain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4260056" y="1916833"/>
            <a:ext cx="3816350" cy="2554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Monitor.Enter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(o);</a:t>
            </a:r>
          </a:p>
          <a:p>
            <a:r>
              <a:rPr lang="en-US" sz="2000" dirty="0">
                <a:solidFill>
                  <a:schemeClr val="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i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//critical section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>
                <a:solidFill>
                  <a:schemeClr val="hlin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finally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Monitor.Exit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(o);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2748910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</a:t>
            </a:r>
            <a:r>
              <a:rPr lang="en-US" dirty="0" err="1"/>
              <a:t>Mutex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dirty="0"/>
              <a:t>A </a:t>
            </a:r>
            <a:r>
              <a:rPr lang="en-US" sz="2000" dirty="0" err="1">
                <a:latin typeface="Consolas" panose="020B0609020204030204" pitchFamily="49" charset="0"/>
              </a:rPr>
              <a:t>Mutex</a:t>
            </a:r>
            <a:r>
              <a:rPr lang="en-US" dirty="0"/>
              <a:t> can lock across application domains/processes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err="1">
                <a:latin typeface="Consolas" panose="020B0609020204030204" pitchFamily="49" charset="0"/>
              </a:rPr>
              <a:t>Mutex</a:t>
            </a:r>
            <a:r>
              <a:rPr lang="en-US" b="1" dirty="0"/>
              <a:t> </a:t>
            </a:r>
            <a:r>
              <a:rPr lang="en-US" dirty="0"/>
              <a:t>locks on itself (not an arbitrary 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object</a:t>
            </a:r>
            <a:r>
              <a:rPr lang="en-US" dirty="0"/>
              <a:t>)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err="1">
                <a:latin typeface="Consolas" panose="020B0609020204030204" pitchFamily="49" charset="0"/>
              </a:rPr>
              <a:t>Mutex.WaitOne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en-US" dirty="0"/>
              <a:t> acquires the </a:t>
            </a:r>
            <a:r>
              <a:rPr lang="en-US" dirty="0" err="1"/>
              <a:t>mutex</a:t>
            </a:r>
            <a:endParaRPr 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Blocks until </a:t>
            </a:r>
            <a:r>
              <a:rPr lang="en-US" dirty="0" err="1"/>
              <a:t>mutex</a:t>
            </a:r>
            <a:r>
              <a:rPr lang="en-US" dirty="0"/>
              <a:t> is available or optional timeout elapses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err="1">
                <a:latin typeface="Consolas" panose="020B0609020204030204" pitchFamily="49" charset="0"/>
              </a:rPr>
              <a:t>Mutex.ReleaseMutex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en-US" dirty="0"/>
              <a:t> releases the </a:t>
            </a:r>
            <a:r>
              <a:rPr lang="en-US" dirty="0" err="1"/>
              <a:t>mutex</a:t>
            </a:r>
            <a:endParaRPr 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Only owning thread may release the </a:t>
            </a:r>
            <a:r>
              <a:rPr lang="en-US" dirty="0" err="1"/>
              <a:t>mutex</a:t>
            </a:r>
            <a:r>
              <a:rPr lang="en-US" dirty="0"/>
              <a:t> – otherwise an </a:t>
            </a:r>
            <a:r>
              <a:rPr lang="en-US" dirty="0" err="1">
                <a:latin typeface="Consolas" panose="020B0609020204030204" pitchFamily="49" charset="0"/>
              </a:rPr>
              <a:t>ApplicationException</a:t>
            </a:r>
            <a:r>
              <a:rPr lang="en-US" dirty="0"/>
              <a:t> is thrown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Named </a:t>
            </a:r>
            <a:r>
              <a:rPr lang="en-US" dirty="0" err="1"/>
              <a:t>mutexes</a:t>
            </a:r>
            <a:r>
              <a:rPr lang="en-US" dirty="0"/>
              <a:t> can span processes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61</a:t>
            </a:fld>
            <a:endParaRPr lang="en-GB" dirty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1838326" y="1124745"/>
            <a:ext cx="8467725" cy="39528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7653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 locking using </a:t>
            </a:r>
            <a:r>
              <a:rPr lang="en-US" dirty="0" err="1"/>
              <a:t>Mutex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49BC3-12EB-4A5F-A8FA-A042377AC44D}" type="slidenum">
              <a:rPr lang="en-GB" smtClean="0"/>
              <a:pPr/>
              <a:t>62</a:t>
            </a:fld>
            <a:endParaRPr lang="en-GB" dirty="0"/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900488" y="1052737"/>
            <a:ext cx="8280400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SynchDemo</a:t>
            </a:r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  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_c1 = 0;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Mutex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mutex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Mutex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tasks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Task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[] {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Task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.Run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((</a:t>
            </a:r>
            <a:r>
              <a:rPr lang="da-DK" sz="14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Action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 IncC1),</a:t>
            </a:r>
            <a:r>
              <a:rPr lang="da-DK" sz="14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Task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.Run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((</a:t>
            </a:r>
            <a:r>
              <a:rPr lang="da-DK" sz="14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Action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 IncC1) }; 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Task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.WaitAll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tasks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endParaRPr lang="da-DK" sz="14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IncC1()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{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(!_</a:t>
            </a:r>
            <a:r>
              <a:rPr lang="da-DK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mutex.WaitOne</a:t>
            </a:r>
            <a:r>
              <a:rPr lang="da-DK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da-DK" sz="14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TimeSpan</a:t>
            </a:r>
            <a:r>
              <a:rPr lang="da-DK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.FromSeconds</a:t>
            </a:r>
            <a:r>
              <a:rPr lang="da-DK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(3)))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"Another task is holding C1 - bye!"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a-DK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"Press a key to increment C1"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Console</a:t>
            </a:r>
            <a:r>
              <a:rPr lang="da-DK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.ReadKey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da-DK" sz="14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true</a:t>
            </a:r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++_c1;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a-DK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</a:t>
            </a:r>
            <a:r>
              <a:rPr lang="da-DK" sz="14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mutex.ReleaseMutex</a:t>
            </a:r>
            <a:r>
              <a:rPr lang="da-DK" sz="14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}</a:t>
            </a:r>
          </a:p>
          <a:p>
            <a:r>
              <a:rPr lang="da-DK" sz="14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02382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References and image </a:t>
            </a:r>
            <a:r>
              <a:rPr lang="da-DK" dirty="0" err="1"/>
              <a:t>sources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sz="1800" dirty="0"/>
              <a:t>Images:</a:t>
            </a:r>
          </a:p>
          <a:p>
            <a:pPr marL="0" indent="0">
              <a:buNone/>
            </a:pPr>
            <a:r>
              <a:rPr lang="da-DK" sz="1800" dirty="0"/>
              <a:t>Printer: </a:t>
            </a:r>
            <a:r>
              <a:rPr lang="da-DK" sz="1800" dirty="0">
                <a:hlinkClick r:id="rId2"/>
              </a:rPr>
              <a:t>https://i5.walmartimages.com/asr/5bf8c70c-c0f4-46c8-8de2-d14417c3dcdb_2.a974142a063bb1f235f672f9a68eeb10.jpeg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Bank: </a:t>
            </a:r>
            <a:r>
              <a:rPr lang="da-DK" sz="1800" dirty="0">
                <a:hlinkClick r:id="rId3"/>
              </a:rPr>
              <a:t>https://images6.moneysavingexpert.com/images/reclaim-packaged-accounts-04.png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Lala: </a:t>
            </a:r>
            <a:r>
              <a:rPr lang="da-DK" sz="1800" dirty="0">
                <a:hlinkClick r:id="rId4"/>
              </a:rPr>
              <a:t>https://vignette.wikia.nocookie.net/telletubbies/images/b/b9/Laa_Laa.jpg/revision/latest?cb=20130707175328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Dipsy: </a:t>
            </a:r>
            <a:r>
              <a:rPr lang="da-DK" sz="1800" dirty="0">
                <a:hlinkClick r:id="rId5"/>
              </a:rPr>
              <a:t>https://vignette.wikia.nocookie.net/telletubbies/images/3/35/Url.jpg/revision/latest/scale-to-width-down/200?cb=20120211023613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Tinky Winky: </a:t>
            </a:r>
            <a:r>
              <a:rPr lang="da-DK" sz="1800" dirty="0">
                <a:hlinkClick r:id="rId6"/>
              </a:rPr>
              <a:t>https://vignette.wikia.nocookie.net/telletubbies/images/e/e5/Tinky_Winky.jpg/revision/latest/scale-to-width-down/180?cb=20111116163749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Po: </a:t>
            </a:r>
            <a:r>
              <a:rPr lang="da-DK" sz="1800" dirty="0">
                <a:hlinkClick r:id="rId7"/>
              </a:rPr>
              <a:t>https://vignette.wikia.nocookie.net/telletubbies/images/5/5d/Pic-meet-char-po.jpg/revision/latest?cb=20160303152950</a:t>
            </a:r>
            <a:endParaRPr lang="da-DK" sz="1800" dirty="0"/>
          </a:p>
          <a:p>
            <a:pPr marL="0" indent="0">
              <a:buNone/>
            </a:pPr>
            <a:r>
              <a:rPr lang="da-DK" sz="1800" dirty="0" err="1"/>
              <a:t>Skulls</a:t>
            </a:r>
            <a:r>
              <a:rPr lang="da-DK" sz="1800" dirty="0"/>
              <a:t> </a:t>
            </a:r>
            <a:r>
              <a:rPr lang="da-DK" sz="1800" dirty="0" err="1"/>
              <a:t>skeleton</a:t>
            </a:r>
            <a:r>
              <a:rPr lang="da-DK" sz="1800" dirty="0"/>
              <a:t>: </a:t>
            </a:r>
            <a:r>
              <a:rPr lang="da-DK" sz="1800" dirty="0">
                <a:hlinkClick r:id="rId8"/>
              </a:rPr>
              <a:t>http://funjester.com/assets/images/decals/skulls%20skeleton/skulls%20skeletons004.jpg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Computer keyboard: </a:t>
            </a:r>
            <a:r>
              <a:rPr lang="da-DK" sz="1800" dirty="0">
                <a:hlinkClick r:id="rId9"/>
              </a:rPr>
              <a:t>http://stockmedia.cc/computing_technology/slides/DSD_8790.jpg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Bonus: </a:t>
            </a:r>
            <a:r>
              <a:rPr lang="da-DK" sz="1800" dirty="0">
                <a:hlinkClick r:id="rId10"/>
              </a:rPr>
              <a:t>http://wjreviews.com/reviews-cta/bonus.png</a:t>
            </a:r>
            <a:endParaRPr lang="da-DK" sz="1800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69278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837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dirty="0" smtClean="0">
            <a:latin typeface="Gill Sans MT" panose="020B05020201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9850</TotalTime>
  <Words>5159</Words>
  <Application>Microsoft Macintosh PowerPoint</Application>
  <PresentationFormat>Widescreen</PresentationFormat>
  <Paragraphs>989</Paragraphs>
  <Slides>64</Slides>
  <Notes>50</Notes>
  <HiddenSlides>20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AU Passata</vt:lpstr>
      <vt:lpstr>AU Passata Light</vt:lpstr>
      <vt:lpstr>Calibri</vt:lpstr>
      <vt:lpstr>Consolas</vt:lpstr>
      <vt:lpstr>Gill Sans MT</vt:lpstr>
      <vt:lpstr>Office Theme</vt:lpstr>
      <vt:lpstr>Thread synchronization</vt:lpstr>
      <vt:lpstr>C# threading pt. 1</vt:lpstr>
      <vt:lpstr>C# threading pt. 1</vt:lpstr>
      <vt:lpstr>C# threading pt. 1</vt:lpstr>
      <vt:lpstr>C# threading pt. 1</vt:lpstr>
      <vt:lpstr>C# threading pt. 1</vt:lpstr>
      <vt:lpstr>But first…</vt:lpstr>
      <vt:lpstr>Concurrent access to shared resources</vt:lpstr>
      <vt:lpstr>The bank account</vt:lpstr>
      <vt:lpstr>The bank account</vt:lpstr>
      <vt:lpstr>The bank account</vt:lpstr>
      <vt:lpstr>The bank account</vt:lpstr>
      <vt:lpstr>What the computer really does... (the bank account)</vt:lpstr>
      <vt:lpstr>What the computer really does... (the bank account)</vt:lpstr>
      <vt:lpstr>Exclusive locking using lock()</vt:lpstr>
      <vt:lpstr>Exclusive locking using lock()</vt:lpstr>
      <vt:lpstr>Exclusive locking using lock()</vt:lpstr>
      <vt:lpstr>Exclusive locking using lock()</vt:lpstr>
      <vt:lpstr>Deadlock</vt:lpstr>
      <vt:lpstr>The crew</vt:lpstr>
      <vt:lpstr>The tubbies wants to play</vt:lpstr>
      <vt:lpstr>Always aquire resources in the same order</vt:lpstr>
      <vt:lpstr>Your turn</vt:lpstr>
      <vt:lpstr>Threads and MAUI GUI’s</vt:lpstr>
      <vt:lpstr>Threading in Windows Forms </vt:lpstr>
      <vt:lpstr>Updating Windows GUI’s</vt:lpstr>
      <vt:lpstr>Updating Windows GUI’s</vt:lpstr>
      <vt:lpstr>Updating Windows GUI’s</vt:lpstr>
      <vt:lpstr>Updating Windows GUI’s</vt:lpstr>
      <vt:lpstr>Two ways</vt:lpstr>
      <vt:lpstr>Two ways</vt:lpstr>
      <vt:lpstr>Two ways</vt:lpstr>
      <vt:lpstr>Basic example: Counting thread</vt:lpstr>
      <vt:lpstr>MainThread example: Counting thread</vt:lpstr>
      <vt:lpstr>MainThread example: Counting thread</vt:lpstr>
      <vt:lpstr>Dispatcher example: Counting thread</vt:lpstr>
      <vt:lpstr>Basic example: Counting thread</vt:lpstr>
      <vt:lpstr>Invoke or BeginInvoke?</vt:lpstr>
      <vt:lpstr>Dispatch or DispatchAsync?</vt:lpstr>
      <vt:lpstr>Invoke or BeginInvoke?</vt:lpstr>
      <vt:lpstr>Your turn</vt:lpstr>
      <vt:lpstr>Extra stuff</vt:lpstr>
      <vt:lpstr>Not solved here</vt:lpstr>
      <vt:lpstr>BackgroundWorker</vt:lpstr>
      <vt:lpstr>Two ways</vt:lpstr>
      <vt:lpstr>BackgroundWorker</vt:lpstr>
      <vt:lpstr>BackgroundWorker Example (WinForms)</vt:lpstr>
      <vt:lpstr>Creating a BackgroundWorker</vt:lpstr>
      <vt:lpstr>Setting up the event handlers programatically</vt:lpstr>
      <vt:lpstr>Let’s assume we have class with a heavy operation</vt:lpstr>
      <vt:lpstr>Run time-consuming operations on a separate thread</vt:lpstr>
      <vt:lpstr>Run time-consuming operations on a separate thread</vt:lpstr>
      <vt:lpstr>PowerPoint Presentation</vt:lpstr>
      <vt:lpstr>Reporting progress</vt:lpstr>
      <vt:lpstr>Listen for progress reports</vt:lpstr>
      <vt:lpstr>Listen for events that signal when your operation is finished</vt:lpstr>
      <vt:lpstr>Cancel the operation</vt:lpstr>
      <vt:lpstr>Listen for cancellation</vt:lpstr>
      <vt:lpstr>More about locking</vt:lpstr>
      <vt:lpstr>Exclusive locking using Monitor</vt:lpstr>
      <vt:lpstr>Exclusive locking using Mutex</vt:lpstr>
      <vt:lpstr>Exclusive locking using Mutex</vt:lpstr>
      <vt:lpstr>References and image sources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Sørensen Loft</dc:creator>
  <cp:lastModifiedBy>Henrik Bitsch Kirk</cp:lastModifiedBy>
  <cp:revision>186</cp:revision>
  <dcterms:created xsi:type="dcterms:W3CDTF">2017-09-19T09:05:55Z</dcterms:created>
  <dcterms:modified xsi:type="dcterms:W3CDTF">2026-09-24T09:42:53Z</dcterms:modified>
</cp:coreProperties>
</file>