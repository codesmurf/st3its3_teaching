
<file path=[Content_Types].xml><?xml version="1.0" encoding="utf-8"?>
<Types xmlns="http://schemas.openxmlformats.org/package/2006/content-types">
  <Default Extension="bin" ContentType="image/png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1" r:id="rId2"/>
    <p:sldId id="281" r:id="rId3"/>
    <p:sldId id="269" r:id="rId4"/>
    <p:sldId id="276" r:id="rId5"/>
    <p:sldId id="279" r:id="rId6"/>
    <p:sldId id="280" r:id="rId7"/>
    <p:sldId id="277" r:id="rId8"/>
    <p:sldId id="270" r:id="rId9"/>
    <p:sldId id="271" r:id="rId10"/>
    <p:sldId id="278" r:id="rId11"/>
    <p:sldId id="274" r:id="rId12"/>
    <p:sldId id="267" r:id="rId13"/>
    <p:sldId id="258" r:id="rId14"/>
    <p:sldId id="262" r:id="rId15"/>
    <p:sldId id="266" r:id="rId16"/>
    <p:sldId id="268" r:id="rId17"/>
    <p:sldId id="264" r:id="rId18"/>
    <p:sldId id="265" r:id="rId19"/>
    <p:sldId id="272" r:id="rId20"/>
    <p:sldId id="273" r:id="rId21"/>
    <p:sldId id="275" r:id="rId22"/>
    <p:sldId id="260" r:id="rId23"/>
  </p:sldIdLst>
  <p:sldSz cx="12188825" cy="6858000"/>
  <p:notesSz cx="6797675" cy="9926638"/>
  <p:embeddedFontLst>
    <p:embeddedFont>
      <p:font typeface="AU Passata" panose="020B0503030502030804" pitchFamily="34" charset="77"/>
      <p:regular r:id="rId26"/>
      <p:bold r:id="rId27"/>
    </p:embeddedFont>
    <p:embeddedFont>
      <p:font typeface="AU Passata Light" panose="020B0303030902030804" pitchFamily="34" charset="77"/>
      <p:regular r:id="rId28"/>
      <p:bold r:id="rId29"/>
    </p:embeddedFont>
    <p:embeddedFont>
      <p:font typeface="AU Peto" pitchFamily="82" charset="77"/>
      <p:regular r:id="rId30"/>
      <p:bold r:id="rId31"/>
    </p:embeddedFont>
    <p:embeddedFont>
      <p:font typeface="Georgia" panose="02040502050405020303" pitchFamily="18" charset="0"/>
      <p:regular r:id="rId32"/>
      <p:bold r:id="rId33"/>
      <p:italic r:id="rId34"/>
      <p:boldItalic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rik Bitsch Kirk" initials="HK" lastIdx="2" clrIdx="0">
    <p:extLst>
      <p:ext uri="{19B8F6BF-5375-455C-9EA6-DF929625EA0E}">
        <p15:presenceInfo xmlns:p15="http://schemas.microsoft.com/office/powerpoint/2012/main" userId="S::au181645@uni.au.dk::23ebcc57-2a98-4644-80e8-4cc38119168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28" autoAdjust="0"/>
    <p:restoredTop sz="93460" autoAdjust="0"/>
  </p:normalViewPr>
  <p:slideViewPr>
    <p:cSldViewPr snapToObjects="1" showGuides="1">
      <p:cViewPr varScale="1">
        <p:scale>
          <a:sx n="138" d="100"/>
          <a:sy n="138" d="100"/>
        </p:scale>
        <p:origin x="912" y="17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b="0" i="0" kern="1200" dirty="0" err="1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Autentificeringen</a:t>
            </a:r>
            <a:endParaRPr lang="en-GB" sz="1600" b="0" i="0" kern="1200" dirty="0">
              <a:solidFill>
                <a:schemeClr val="tx1"/>
              </a:solidFill>
              <a:effectLst/>
              <a:latin typeface="AU Passata" pitchFamily="34" charset="0"/>
              <a:ea typeface="+mn-ea"/>
              <a:cs typeface="Arial" charset="0"/>
            </a:endParaRPr>
          </a:p>
          <a:p>
            <a:r>
              <a:rPr lang="en-GB" sz="1600" b="0" i="0" kern="1200" dirty="0" err="1">
                <a:solidFill>
                  <a:schemeClr val="tx1"/>
                </a:solidFill>
                <a:effectLst/>
                <a:latin typeface="AU Passata" pitchFamily="34" charset="0"/>
                <a:ea typeface="+mn-ea"/>
                <a:cs typeface="Arial" charset="0"/>
              </a:rPr>
              <a:t>Adgangstilladelse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0821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2168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Electrical and Computer Engineering</a:t>
            </a:r>
          </a:p>
        </p:txBody>
      </p:sp>
      <p:sp>
        <p:nvSpPr>
          <p:cNvPr id="34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26 October 2023</a:t>
            </a:r>
          </a:p>
        </p:txBody>
      </p:sp>
      <p:sp>
        <p:nvSpPr>
          <p:cNvPr id="36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Associate Professor</a:t>
            </a:r>
          </a:p>
        </p:txBody>
      </p:sp>
      <p:sp>
        <p:nvSpPr>
          <p:cNvPr id="35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ST3ITS3</a:t>
            </a:r>
          </a:p>
        </p:txBody>
      </p:sp>
      <p:sp>
        <p:nvSpPr>
          <p:cNvPr id="37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Henrik Bitsch Kirk</a:t>
            </a:r>
          </a:p>
        </p:txBody>
      </p:sp>
      <p:sp>
        <p:nvSpPr>
          <p:cNvPr id="39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University</a:t>
            </a:r>
          </a:p>
        </p:txBody>
      </p:sp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068772980" name="Secondary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00" y="5997600"/>
            <a:ext cx="1658237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38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Electrical and Computer Engineering</a:t>
            </a:r>
          </a:p>
        </p:txBody>
      </p:sp>
      <p:sp>
        <p:nvSpPr>
          <p:cNvPr id="43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University</a:t>
            </a:r>
          </a:p>
        </p:txBody>
      </p:sp>
      <p:sp>
        <p:nvSpPr>
          <p:cNvPr id="39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26 October 2023</a:t>
            </a: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Associate Professor</a:t>
            </a:r>
          </a:p>
        </p:txBody>
      </p:sp>
      <p:sp>
        <p:nvSpPr>
          <p:cNvPr id="40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ST3ITS3</a:t>
            </a:r>
          </a:p>
        </p:txBody>
      </p:sp>
      <p:sp>
        <p:nvSpPr>
          <p:cNvPr id="42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Henrik Bitsch Kirk</a:t>
            </a:r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pic>
        <p:nvPicPr>
          <p:cNvPr id="1582394807" name="Secondary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00" y="5997600"/>
            <a:ext cx="1658237" cy="558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5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Department of Electrical and Computer Engineering</a:t>
            </a:r>
          </a:p>
        </p:txBody>
      </p:sp>
      <p:sp>
        <p:nvSpPr>
          <p:cNvPr id="30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University</a:t>
            </a:r>
          </a:p>
        </p:txBody>
      </p:sp>
      <p:sp>
        <p:nvSpPr>
          <p:cNvPr id="26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26 October 2023</a:t>
            </a: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Associate Professor</a:t>
            </a:r>
          </a:p>
        </p:txBody>
      </p:sp>
      <p:sp>
        <p:nvSpPr>
          <p:cNvPr id="27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ST3ITS3</a:t>
            </a: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Henrik Bitsch Kirk</a:t>
            </a:r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pic>
        <p:nvPicPr>
          <p:cNvPr id="1824787787" name="Secondary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00" y="5997600"/>
            <a:ext cx="1658237" cy="558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/>
          <p:cNvSpPr/>
          <p:nvPr userDrawn="1"/>
        </p:nvSpPr>
        <p:spPr bwMode="auto">
          <a:xfrm>
            <a:off x="6022613" y="2804400"/>
            <a:ext cx="65" cy="757567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University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 dirty="0"/>
              <a:t>26/10/2023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pic>
        <p:nvPicPr>
          <p:cNvPr id="2072777280" name="SecondaryLogo_sort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06000" y="5997600"/>
            <a:ext cx="1658237" cy="558000"/>
          </a:xfrm>
          <a:prstGeom prst="rect">
            <a:avLst/>
          </a:prstGeom>
        </p:spPr>
      </p:pic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19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ST3ITS3</a:t>
            </a:r>
          </a:p>
        </p:txBody>
      </p:sp>
      <p:sp>
        <p:nvSpPr>
          <p:cNvPr id="21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Henrik Bitsch Kirk</a:t>
            </a:r>
          </a:p>
        </p:txBody>
      </p:sp>
      <p:sp>
        <p:nvSpPr>
          <p:cNvPr id="27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26 October 2023</a:t>
            </a: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Associate Professor</a:t>
            </a:r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25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en-GB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Department of Electrical and Computer Engineering</a:t>
            </a:r>
          </a:p>
        </p:txBody>
      </p:sp>
      <p:sp>
        <p:nvSpPr>
          <p:cNvPr id="26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Aarhus
University</a:t>
            </a: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2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26/11/2025</a:t>
            </a:fld>
            <a:r>
              <a:rPr lang="en-GB"/>
              <a:t>26/10/2023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3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geeksforgeeks.org/difference-between-authentication-and-authorization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cs.github.com/en/apps/oauth-apps/building-oauth-apps/scopes-for-oauth-apps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l7.org/fhir/http.html#history" TargetMode="External"/><Relationship Id="rId3" Type="http://schemas.openxmlformats.org/officeDocument/2006/relationships/hyperlink" Target="https://www.hl7.org/fhir/http.html#read" TargetMode="External"/><Relationship Id="rId7" Type="http://schemas.openxmlformats.org/officeDocument/2006/relationships/hyperlink" Target="https://www.hl7.org/fhir/http.html#search" TargetMode="External"/><Relationship Id="rId2" Type="http://schemas.openxmlformats.org/officeDocument/2006/relationships/hyperlink" Target="https://www.hl7.org/fhir/http.html#create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hl7.org/fhir/http.html#delete" TargetMode="External"/><Relationship Id="rId5" Type="http://schemas.openxmlformats.org/officeDocument/2006/relationships/hyperlink" Target="https://www.hl7.org/fhir/http.html#patch" TargetMode="External"/><Relationship Id="rId10" Type="http://schemas.openxmlformats.org/officeDocument/2006/relationships/hyperlink" Target="https://www.hl7.org/fhir/operations.html" TargetMode="External"/><Relationship Id="rId4" Type="http://schemas.openxmlformats.org/officeDocument/2006/relationships/hyperlink" Target="https://www.hl7.org/fhir/http.html#update" TargetMode="External"/><Relationship Id="rId9" Type="http://schemas.openxmlformats.org/officeDocument/2006/relationships/hyperlink" Target="https://www.hl7.org/fhir/http.html#transaction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hl7.org/fhir/patient.html" TargetMode="Externa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hl7.org/fhir/observation.html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ogo fhir">
            <a:extLst>
              <a:ext uri="{FF2B5EF4-FFF2-40B4-BE49-F238E27FC236}">
                <a16:creationId xmlns:a16="http://schemas.microsoft.com/office/drawing/2014/main" id="{98C4663C-720F-9FA2-33C9-C6332E4F5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44" y="1369468"/>
            <a:ext cx="8013700" cy="19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94F41-3D49-A24C-B437-0105D1BF12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DK" dirty="0"/>
              <a:t>And OAUTH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CBF08-F732-C264-E7BF-9D63051954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57C55E5-66D6-F64E-A706-62835B945CE9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03983-0220-1D0A-ACA3-B938531375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DK" dirty="0"/>
              <a:t>Please fill out Course Evaluation and our own survey</a:t>
            </a:r>
            <a:br>
              <a:rPr lang="en-DK" dirty="0"/>
            </a:br>
            <a:br>
              <a:rPr lang="en-DK" dirty="0"/>
            </a:br>
            <a:r>
              <a:rPr lang="en-DK" dirty="0"/>
              <a:t>- Michael and Henrik</a:t>
            </a:r>
          </a:p>
        </p:txBody>
      </p:sp>
    </p:spTree>
    <p:extLst>
      <p:ext uri="{BB962C8B-B14F-4D97-AF65-F5344CB8AC3E}">
        <p14:creationId xmlns:p14="http://schemas.microsoft.com/office/powerpoint/2010/main" val="2733590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F0D9-DFF0-B3CB-07CC-84BC1DDF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09997-127B-7DEF-A520-A941FC7E3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sz="3600" dirty="0"/>
              <a:t>O</a:t>
            </a:r>
            <a:r>
              <a:rPr lang="en-GB" sz="3600" dirty="0"/>
              <a:t>a</a:t>
            </a:r>
            <a:r>
              <a:rPr lang="en-DK" sz="3600" dirty="0"/>
              <a:t>uth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sz="3600" dirty="0"/>
              <a:t>FHIR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48D7A-E705-BBF1-87D1-D8DA01562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26B13-623C-D345-A0E7-B0B628902D9F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814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C28E-0E32-4F4B-A2DC-2267777AC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Who vs What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AFF69-B265-5173-19F5-B1678F525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DFBFB-3EFE-2A44-9A18-FD3C22F461B2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97F92AB-994A-C0F5-B873-1894B4127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980" y="948681"/>
            <a:ext cx="7424885" cy="496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0C054F-29CD-B777-0D55-F9A0E75AE9E8}"/>
              </a:ext>
            </a:extLst>
          </p:cNvPr>
          <p:cNvSpPr txBox="1"/>
          <p:nvPr/>
        </p:nvSpPr>
        <p:spPr>
          <a:xfrm>
            <a:off x="5230316" y="5949280"/>
            <a:ext cx="5976664" cy="350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GB" sz="1200" dirty="0">
                <a:latin typeface="+mn-lt"/>
              </a:rPr>
              <a:t>S</a:t>
            </a:r>
            <a:r>
              <a:rPr lang="en-DK" sz="1200" dirty="0">
                <a:latin typeface="+mn-lt"/>
              </a:rPr>
              <a:t>ource: </a:t>
            </a:r>
            <a:r>
              <a:rPr lang="en-GB" sz="1200" dirty="0">
                <a:latin typeface="+mn-lt"/>
                <a:hlinkClick r:id="rId4"/>
              </a:rPr>
              <a:t>https://www.geeksforgeeks.org/difference-between-authentication-and-authorization/</a:t>
            </a:r>
            <a:r>
              <a:rPr lang="en-GB" sz="1200" dirty="0">
                <a:latin typeface="+mn-lt"/>
              </a:rPr>
              <a:t> </a:t>
            </a:r>
            <a:endParaRPr lang="en-DK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1170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662D-3404-71F8-73B3-F2FC9D1E2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1104B-3927-D55C-4C2D-E8459EF0A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Verifying who you are.</a:t>
            </a:r>
          </a:p>
          <a:p>
            <a:endParaRPr lang="en-DK" dirty="0"/>
          </a:p>
          <a:p>
            <a:r>
              <a:rPr lang="en-DK" dirty="0"/>
              <a:t>Normally username, password, and a possible third secure token.</a:t>
            </a:r>
          </a:p>
          <a:p>
            <a:pPr>
              <a:buNone/>
            </a:pPr>
            <a:r>
              <a:rPr lang="en-DK" dirty="0"/>
              <a:t>	Something you </a:t>
            </a:r>
            <a:r>
              <a:rPr lang="en-DK" i="1" dirty="0"/>
              <a:t>know</a:t>
            </a:r>
            <a:r>
              <a:rPr lang="en-DK" dirty="0"/>
              <a:t>  or </a:t>
            </a:r>
            <a:r>
              <a:rPr lang="en-DK" i="1" dirty="0"/>
              <a:t>have</a:t>
            </a:r>
            <a:r>
              <a:rPr lang="en-DK" dirty="0"/>
              <a:t> or </a:t>
            </a:r>
            <a:r>
              <a:rPr lang="en-DK" i="1" dirty="0"/>
              <a:t>are</a:t>
            </a:r>
          </a:p>
          <a:p>
            <a:endParaRPr lang="en-DK" dirty="0"/>
          </a:p>
          <a:p>
            <a:r>
              <a:rPr lang="en-DK" dirty="0"/>
              <a:t>OAUTH (whatever that means) can be combined with OpenId Connect for authentication</a:t>
            </a:r>
          </a:p>
          <a:p>
            <a:endParaRPr lang="en-DK" dirty="0"/>
          </a:p>
          <a:p>
            <a:r>
              <a:rPr lang="en-DK" dirty="0"/>
              <a:t>Without OpenId Connect – OAUTH delegates Authentication to third party like Google, Meta, Github, …</a:t>
            </a:r>
          </a:p>
          <a:p>
            <a:endParaRPr lang="en-DK" dirty="0"/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DE50A-C338-B159-80BE-10B3935E7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E2192-B879-ED40-8440-BC1704DD82AE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6301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81E5-C6A0-6F46-D7F2-B9A662A9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83DB0-F86A-EC55-4BB7-C6BF27D11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Granting/Denying access to specific resource</a:t>
            </a:r>
            <a:r>
              <a:rPr lang="en-GB" dirty="0"/>
              <a:t>s</a:t>
            </a:r>
            <a:r>
              <a:rPr lang="en-DK" dirty="0"/>
              <a:t> based on users ID and role.</a:t>
            </a:r>
          </a:p>
          <a:p>
            <a:endParaRPr lang="en-DK" dirty="0"/>
          </a:p>
          <a:p>
            <a:pPr marL="252000" lvl="1" indent="0">
              <a:buNone/>
            </a:pPr>
            <a:r>
              <a:rPr lang="en-DK" dirty="0"/>
              <a:t>Methods</a:t>
            </a:r>
          </a:p>
          <a:p>
            <a:pPr marL="252000" lvl="1" indent="0">
              <a:buNone/>
            </a:pPr>
            <a:r>
              <a:rPr lang="en-DK" dirty="0"/>
              <a:t>	Role-base</a:t>
            </a:r>
          </a:p>
          <a:p>
            <a:pPr marL="252000" lvl="1" indent="0">
              <a:buNone/>
            </a:pPr>
            <a:r>
              <a:rPr lang="en-DK" dirty="0"/>
              <a:t>	Policy-based</a:t>
            </a:r>
          </a:p>
          <a:p>
            <a:pPr marL="252000" lvl="1" indent="0">
              <a:buNone/>
            </a:pPr>
            <a:r>
              <a:rPr lang="en-DK" dirty="0"/>
              <a:t>	Attributed-based</a:t>
            </a:r>
          </a:p>
          <a:p>
            <a:pPr marL="252000" lvl="1" indent="0">
              <a:buNone/>
            </a:pPr>
            <a:r>
              <a:rPr lang="en-DK" dirty="0"/>
              <a:t>	Privileged Access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2DA8F-146C-E6B7-49A9-7DD0CAE23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02686-34CF-EF4E-9F65-75E5AAA7767D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1565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1B93-9543-16BF-B098-9D58DFB9C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Grant Access on your behalf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EF542-A154-4850-49C5-70918A618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CCF-5016-054F-975C-67D87862EBDC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6CD05-80FC-E0BC-5A9A-34C77BC84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588" y="1196752"/>
            <a:ext cx="2817066" cy="38838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294756-F5FA-C794-2409-1C350492292D}"/>
              </a:ext>
            </a:extLst>
          </p:cNvPr>
          <p:cNvSpPr txBox="1"/>
          <p:nvPr/>
        </p:nvSpPr>
        <p:spPr>
          <a:xfrm>
            <a:off x="837828" y="1340768"/>
            <a:ext cx="633271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DK" sz="2000" dirty="0"/>
              <a:t>How can an application do something on our behalf?</a:t>
            </a:r>
          </a:p>
        </p:txBody>
      </p:sp>
    </p:spTree>
    <p:extLst>
      <p:ext uri="{BB962C8B-B14F-4D97-AF65-F5344CB8AC3E}">
        <p14:creationId xmlns:p14="http://schemas.microsoft.com/office/powerpoint/2010/main" val="172536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EF846-7F57-6F65-1D55-024ACC3D4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OAUTH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CC0-9D93-DB21-07F4-4236235D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599ED-BB71-D64A-B9F7-398E345995A8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0FB6E0E-D119-D0BD-5B06-3404514063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01" b="5901"/>
          <a:stretch/>
        </p:blipFill>
        <p:spPr bwMode="auto">
          <a:xfrm>
            <a:off x="1782563" y="764704"/>
            <a:ext cx="9496425" cy="57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09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B2A9-A369-42BB-697D-A83067DA0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Github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AF1F4-34B1-05DD-25BC-D751F996D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4100461" cy="4521366"/>
          </a:xfrm>
        </p:spPr>
        <p:txBody>
          <a:bodyPr/>
          <a:lstStyle/>
          <a:p>
            <a:r>
              <a:rPr lang="en-DK" dirty="0"/>
              <a:t>Step </a:t>
            </a:r>
            <a:r>
              <a:rPr lang="en-DK" b="1" dirty="0"/>
              <a:t>1</a:t>
            </a:r>
            <a:r>
              <a:rPr lang="en-DK" dirty="0"/>
              <a:t> </a:t>
            </a:r>
          </a:p>
          <a:p>
            <a:pPr lvl="1"/>
            <a:r>
              <a:rPr lang="en-DK" dirty="0"/>
              <a:t>Authorize</a:t>
            </a:r>
          </a:p>
          <a:p>
            <a:pPr lvl="1"/>
            <a:r>
              <a:rPr lang="en-DK" dirty="0"/>
              <a:t>This is where the application is asking you to give permission for what it can do (</a:t>
            </a:r>
            <a:r>
              <a:rPr lang="en-DK" dirty="0">
                <a:hlinkClick r:id="rId2"/>
              </a:rPr>
              <a:t>scopes</a:t>
            </a:r>
            <a:r>
              <a:rPr lang="en-DK" dirty="0"/>
              <a:t>)</a:t>
            </a:r>
          </a:p>
          <a:p>
            <a:pPr lvl="1"/>
            <a:endParaRPr lang="en-DK" dirty="0"/>
          </a:p>
          <a:p>
            <a:r>
              <a:rPr lang="en-DK" dirty="0"/>
              <a:t>and </a:t>
            </a:r>
            <a:r>
              <a:rPr lang="en-DK" b="1" dirty="0"/>
              <a:t>2</a:t>
            </a:r>
          </a:p>
          <a:p>
            <a:pPr lvl="1"/>
            <a:r>
              <a:rPr lang="en-DK" dirty="0"/>
              <a:t>Redirect back to ‘application’ with a temporary ‘code’</a:t>
            </a:r>
          </a:p>
          <a:p>
            <a:pPr>
              <a:buNone/>
            </a:pPr>
            <a:endParaRPr lang="en-D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57DEB-245C-47DC-2C94-E9749E21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FEAF2-6261-3346-B7AB-F96A33A2FE45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4C8682-5AF4-8FD7-C760-2F3A4108E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356" y="-171400"/>
            <a:ext cx="4464496" cy="780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017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30EFE-4583-7437-BD65-FACCB05B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Github Example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CF4A-7E5D-A17C-B0B7-77B67956B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Step </a:t>
            </a:r>
            <a:r>
              <a:rPr lang="en-DK" b="1" dirty="0"/>
              <a:t>3</a:t>
            </a:r>
            <a:endParaRPr lang="en-DK" dirty="0"/>
          </a:p>
          <a:p>
            <a:pPr lvl="1"/>
            <a:r>
              <a:rPr lang="en-DK" dirty="0"/>
              <a:t>Exchange this code for an Access Token</a:t>
            </a:r>
          </a:p>
          <a:p>
            <a:pPr lvl="1"/>
            <a:endParaRPr lang="en-DK" dirty="0"/>
          </a:p>
          <a:p>
            <a:r>
              <a:rPr lang="en-DK" dirty="0"/>
              <a:t>and </a:t>
            </a:r>
            <a:r>
              <a:rPr lang="en-DK" b="1" dirty="0"/>
              <a:t>4</a:t>
            </a:r>
          </a:p>
          <a:p>
            <a:pPr marL="252000" lvl="1" indent="0">
              <a:buNone/>
            </a:pPr>
            <a:r>
              <a:rPr lang="en-DK" dirty="0"/>
              <a:t>“</a:t>
            </a:r>
            <a:r>
              <a:rPr lang="en-GB" dirty="0" err="1"/>
              <a:t>access_token</a:t>
            </a:r>
            <a:r>
              <a:rPr lang="en-GB" dirty="0"/>
              <a:t>=gho_16C7e42F292c6912E7710c838347Ae178B4a&amp;scope=repo%2Cgist&amp;token_type=bearer</a:t>
            </a:r>
            <a:r>
              <a:rPr lang="en-DK" dirty="0"/>
              <a:t>”</a:t>
            </a:r>
          </a:p>
          <a:p>
            <a:pPr lvl="1"/>
            <a:r>
              <a:rPr lang="en-DK" dirty="0"/>
              <a:t>Access Token is then used from here on out to do request on your behalf</a:t>
            </a:r>
          </a:p>
          <a:p>
            <a:pPr lvl="1"/>
            <a:endParaRPr lang="en-DK" dirty="0"/>
          </a:p>
          <a:p>
            <a:r>
              <a:rPr lang="en-GB" dirty="0"/>
              <a:t>a</a:t>
            </a:r>
            <a:r>
              <a:rPr lang="en-DK" dirty="0"/>
              <a:t>nd </a:t>
            </a:r>
            <a:r>
              <a:rPr lang="en-DK" b="1" dirty="0"/>
              <a:t>5</a:t>
            </a:r>
          </a:p>
          <a:p>
            <a:pPr marL="252000" lvl="1" indent="0">
              <a:buNone/>
            </a:pPr>
            <a:endParaRPr lang="en-DK" dirty="0"/>
          </a:p>
          <a:p>
            <a:pPr lvl="1"/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549E3-DD8D-FAC7-EC4B-51724FC3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880F4-F536-C048-95B6-6988567E5E01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AEACCB-A49E-9E03-8DDD-825EEDF92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713" y="4303241"/>
            <a:ext cx="10660685" cy="233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93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3451-74B6-5136-FF50-819B73BCA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D7074-145D-902B-F534-EB638918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2016-2A8D-2742-A484-54AFE2D53743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3074" name="Picture 2" descr="OAuth 2.0 logo">
            <a:extLst>
              <a:ext uri="{FF2B5EF4-FFF2-40B4-BE49-F238E27FC236}">
                <a16:creationId xmlns:a16="http://schemas.microsoft.com/office/drawing/2014/main" id="{EE4FABAF-716C-4838-FFD9-AC8F176B5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997" y="2102371"/>
            <a:ext cx="2674829" cy="265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90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53D13-837C-C85E-2E7B-8FE58C1B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AUH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275CB-69C3-5EC6-0FDC-EAA0D0F4B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IT systems on AUH</a:t>
            </a:r>
          </a:p>
          <a:p>
            <a:pPr lvl="1"/>
            <a:r>
              <a:rPr lang="en-DK" dirty="0"/>
              <a:t>EPJ (Electronic patient journal)</a:t>
            </a:r>
          </a:p>
          <a:p>
            <a:pPr lvl="1"/>
            <a:r>
              <a:rPr lang="en-DK" dirty="0"/>
              <a:t>Service logistic</a:t>
            </a:r>
          </a:p>
          <a:p>
            <a:pPr lvl="1"/>
            <a:r>
              <a:rPr lang="en-DK" dirty="0"/>
              <a:t>Clinical logistic</a:t>
            </a:r>
          </a:p>
          <a:p>
            <a:pPr lvl="1"/>
            <a:r>
              <a:rPr lang="en-DK" dirty="0"/>
              <a:t>Auditorie</a:t>
            </a:r>
          </a:p>
          <a:p>
            <a:pPr lvl="1"/>
            <a:r>
              <a:rPr lang="en-DK" dirty="0"/>
              <a:t>Digital sterilization flow</a:t>
            </a:r>
          </a:p>
          <a:p>
            <a:pPr lvl="1"/>
            <a:r>
              <a:rPr lang="en-DK" dirty="0"/>
              <a:t>Orderly responds</a:t>
            </a:r>
          </a:p>
          <a:p>
            <a:pPr lvl="1"/>
            <a:r>
              <a:rPr lang="en-DK" dirty="0"/>
              <a:t>Etc…</a:t>
            </a:r>
          </a:p>
          <a:p>
            <a:pPr lvl="1"/>
            <a:endParaRPr lang="en-DK" dirty="0"/>
          </a:p>
          <a:p>
            <a:r>
              <a:rPr lang="en-DK" dirty="0"/>
              <a:t>It is necessary for all these systems to exchange data. </a:t>
            </a:r>
          </a:p>
          <a:p>
            <a:pPr lvl="1"/>
            <a:r>
              <a:rPr lang="en-DK" dirty="0"/>
              <a:t> Security is ignored here, but it would be something like O</a:t>
            </a:r>
            <a:r>
              <a:rPr lang="en-GB" dirty="0"/>
              <a:t>a</a:t>
            </a:r>
            <a:r>
              <a:rPr lang="en-DK" dirty="0"/>
              <a:t>uth (MitID)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D037F-7643-BD08-3763-FD34DCD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47501-D70E-4541-9866-5BD76A0BFD3A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1026" name="Picture 2" descr="Communication Systems in ADC by | Tech Glads">
            <a:extLst>
              <a:ext uri="{FF2B5EF4-FFF2-40B4-BE49-F238E27FC236}">
                <a16:creationId xmlns:a16="http://schemas.microsoft.com/office/drawing/2014/main" id="{839FA687-DFF6-07BA-DD9D-36F9CBA43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508" y="286359"/>
            <a:ext cx="4608512" cy="414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0061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FHIR - what is it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Fast Healthcare Interoperability resources</a:t>
            </a:r>
          </a:p>
          <a:p>
            <a:endParaRPr lang="en-GB" dirty="0"/>
          </a:p>
          <a:p>
            <a:pPr lvl="1"/>
            <a:r>
              <a:rPr lang="en-GB" dirty="0"/>
              <a:t>Standardized structure for Health care data.</a:t>
            </a:r>
          </a:p>
          <a:p>
            <a:pPr lvl="1"/>
            <a:r>
              <a:rPr lang="en-GB" dirty="0"/>
              <a:t>Designed to support</a:t>
            </a:r>
          </a:p>
          <a:p>
            <a:pPr lvl="2"/>
            <a:r>
              <a:rPr lang="en-GB" dirty="0"/>
              <a:t>a wide variety of use cases: clinical, administrative, etc.</a:t>
            </a:r>
          </a:p>
          <a:p>
            <a:pPr lvl="2"/>
            <a:r>
              <a:rPr lang="en-GB" dirty="0"/>
              <a:t>different contexts: EHR, mobile applications, cloud</a:t>
            </a:r>
          </a:p>
          <a:p>
            <a:pPr lvl="1"/>
            <a:r>
              <a:rPr lang="en-GB" dirty="0"/>
              <a:t>Specifically for sharing data between applications</a:t>
            </a:r>
          </a:p>
          <a:p>
            <a:pPr lvl="2"/>
            <a:r>
              <a:rPr lang="en-GB" dirty="0"/>
              <a:t>machine-friendly format</a:t>
            </a:r>
          </a:p>
          <a:p>
            <a:pPr lvl="1"/>
            <a:r>
              <a:rPr lang="en-GB" dirty="0"/>
              <a:t>Extendable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5925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F8629-FCEE-BFA3-60C8-FBC6880D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C0594-8817-E90E-4A3A-41503EA88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5108574" cy="4521366"/>
          </a:xfrm>
        </p:spPr>
        <p:txBody>
          <a:bodyPr/>
          <a:lstStyle/>
          <a:p>
            <a:r>
              <a:rPr lang="en-DK" dirty="0"/>
              <a:t>The following common structure</a:t>
            </a:r>
          </a:p>
          <a:p>
            <a:endParaRPr lang="en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>
                <a:solidFill>
                  <a:srgbClr val="FFC000"/>
                </a:solidFill>
              </a:rPr>
              <a:t>Identifier</a:t>
            </a:r>
            <a:r>
              <a:rPr lang="en-DK" dirty="0"/>
              <a:t> (required)</a:t>
            </a:r>
            <a:endParaRPr lang="en-DK" dirty="0">
              <a:solidFill>
                <a:srgbClr val="FFC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>
                <a:solidFill>
                  <a:srgbClr val="92D050"/>
                </a:solidFill>
              </a:rPr>
              <a:t>Metadata</a:t>
            </a:r>
            <a:r>
              <a:rPr lang="en-DK" dirty="0"/>
              <a:t> (optional, but usually present)</a:t>
            </a:r>
            <a:endParaRPr lang="en-DK" dirty="0">
              <a:solidFill>
                <a:srgbClr val="92D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>
                <a:solidFill>
                  <a:srgbClr val="00B0F0"/>
                </a:solidFill>
              </a:rPr>
              <a:t>XHTML Summary</a:t>
            </a:r>
            <a:r>
              <a:rPr lang="en-DK" dirty="0"/>
              <a:t> (optional, but recommended)</a:t>
            </a:r>
            <a:endParaRPr lang="en-DK" dirty="0">
              <a:solidFill>
                <a:srgbClr val="00B0F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>
                <a:solidFill>
                  <a:srgbClr val="7030A0"/>
                </a:solidFill>
              </a:rPr>
              <a:t>Set of data elements</a:t>
            </a:r>
            <a:r>
              <a:rPr lang="en-DK" dirty="0"/>
              <a:t> (defined per resource type)</a:t>
            </a:r>
            <a:endParaRPr lang="en-DK" dirty="0">
              <a:solidFill>
                <a:srgbClr val="7030A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>
                <a:solidFill>
                  <a:srgbClr val="FF0000"/>
                </a:solidFill>
              </a:rPr>
              <a:t>Extensibility framework</a:t>
            </a:r>
            <a:r>
              <a:rPr lang="en-DK" dirty="0"/>
              <a:t> (optional)</a:t>
            </a:r>
            <a:endParaRPr lang="en-DK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K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24889-2D87-0BB6-417E-21E45A642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3E039-1AF7-8B40-A74E-9260399F6DB3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E2238B-D23F-8F52-82BB-229C1CDB2806}"/>
              </a:ext>
            </a:extLst>
          </p:cNvPr>
          <p:cNvSpPr txBox="1">
            <a:spLocks/>
          </p:cNvSpPr>
          <p:nvPr/>
        </p:nvSpPr>
        <p:spPr bwMode="auto">
          <a:xfrm>
            <a:off x="6093913" y="1196752"/>
            <a:ext cx="5108574" cy="4697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400" dirty="0"/>
              <a:t>{</a:t>
            </a:r>
          </a:p>
          <a:p>
            <a:r>
              <a:rPr lang="en-GB" sz="1400" dirty="0">
                <a:solidFill>
                  <a:srgbClr val="FFC000"/>
                </a:solidFill>
              </a:rPr>
              <a:t> "</a:t>
            </a:r>
            <a:r>
              <a:rPr lang="en-GB" sz="1400" dirty="0" err="1">
                <a:solidFill>
                  <a:srgbClr val="FFC000"/>
                </a:solidFill>
              </a:rPr>
              <a:t>resourceType</a:t>
            </a:r>
            <a:r>
              <a:rPr lang="en-GB" sz="1400" dirty="0">
                <a:solidFill>
                  <a:srgbClr val="FFC000"/>
                </a:solidFill>
              </a:rPr>
              <a:t>": "Patient",</a:t>
            </a:r>
          </a:p>
          <a:p>
            <a:r>
              <a:rPr lang="en-GB" sz="1400" dirty="0">
                <a:solidFill>
                  <a:srgbClr val="FFC000"/>
                </a:solidFill>
              </a:rPr>
              <a:t> "id" : "23434",</a:t>
            </a:r>
          </a:p>
          <a:p>
            <a:r>
              <a:rPr lang="en-GB" sz="1400" dirty="0">
                <a:solidFill>
                  <a:srgbClr val="92D050"/>
                </a:solidFill>
              </a:rPr>
              <a:t> "meta" : { "</a:t>
            </a:r>
            <a:r>
              <a:rPr lang="en-GB" sz="1400" dirty="0" err="1">
                <a:solidFill>
                  <a:srgbClr val="92D050"/>
                </a:solidFill>
              </a:rPr>
              <a:t>versionId</a:t>
            </a:r>
            <a:r>
              <a:rPr lang="en-GB" sz="1400" dirty="0">
                <a:solidFill>
                  <a:srgbClr val="92D050"/>
                </a:solidFill>
              </a:rPr>
              <a:t>" : "12", "</a:t>
            </a:r>
            <a:r>
              <a:rPr lang="en-GB" sz="1400" dirty="0" err="1">
                <a:solidFill>
                  <a:srgbClr val="92D050"/>
                </a:solidFill>
              </a:rPr>
              <a:t>lastUpdated</a:t>
            </a:r>
            <a:r>
              <a:rPr lang="en-GB" sz="1400" dirty="0">
                <a:solidFill>
                  <a:srgbClr val="92D050"/>
                </a:solidFill>
              </a:rPr>
              <a:t>" : "2014-08-18T15:43:30Z" }</a:t>
            </a:r>
          </a:p>
          <a:p>
            <a:r>
              <a:rPr lang="en-GB" sz="1400" dirty="0">
                <a:solidFill>
                  <a:srgbClr val="00B0F0"/>
                </a:solidFill>
              </a:rPr>
              <a:t> "text": { "status": "generated", "div": "&lt;!-- Snipped for Brevity --&gt;" },</a:t>
            </a:r>
          </a:p>
          <a:p>
            <a:r>
              <a:rPr lang="en-GB" sz="1400" dirty="0">
                <a:solidFill>
                  <a:srgbClr val="FF0000"/>
                </a:solidFill>
              </a:rPr>
              <a:t> "extension": [ { "</a:t>
            </a:r>
            <a:r>
              <a:rPr lang="en-GB" sz="1400" dirty="0" err="1">
                <a:solidFill>
                  <a:srgbClr val="FF0000"/>
                </a:solidFill>
              </a:rPr>
              <a:t>url</a:t>
            </a:r>
            <a:r>
              <a:rPr lang="en-GB" sz="1400" dirty="0">
                <a:solidFill>
                  <a:srgbClr val="FF0000"/>
                </a:solidFill>
              </a:rPr>
              <a:t>": "http://</a:t>
            </a:r>
            <a:r>
              <a:rPr lang="en-GB" sz="1400" dirty="0" err="1">
                <a:solidFill>
                  <a:srgbClr val="FF0000"/>
                </a:solidFill>
              </a:rPr>
              <a:t>example.org</a:t>
            </a:r>
            <a:r>
              <a:rPr lang="en-GB" sz="1400" dirty="0">
                <a:solidFill>
                  <a:srgbClr val="FF0000"/>
                </a:solidFill>
              </a:rPr>
              <a:t>/</a:t>
            </a:r>
            <a:r>
              <a:rPr lang="en-GB" sz="1400" dirty="0" err="1">
                <a:solidFill>
                  <a:srgbClr val="FF0000"/>
                </a:solidFill>
              </a:rPr>
              <a:t>consent#trials</a:t>
            </a:r>
            <a:r>
              <a:rPr lang="en-GB" sz="1400" dirty="0">
                <a:solidFill>
                  <a:srgbClr val="FF0000"/>
                </a:solidFill>
              </a:rPr>
              <a:t>", "</a:t>
            </a:r>
            <a:r>
              <a:rPr lang="en-GB" sz="1400" dirty="0" err="1">
                <a:solidFill>
                  <a:srgbClr val="FF0000"/>
                </a:solidFill>
              </a:rPr>
              <a:t>valueCode</a:t>
            </a:r>
            <a:r>
              <a:rPr lang="en-GB" sz="1400" dirty="0">
                <a:solidFill>
                  <a:srgbClr val="FF0000"/>
                </a:solidFill>
              </a:rPr>
              <a:t>": "renal" } ],</a:t>
            </a:r>
          </a:p>
          <a:p>
            <a:r>
              <a:rPr lang="en-GB" sz="1400" dirty="0">
                <a:solidFill>
                  <a:srgbClr val="7030A0"/>
                </a:solidFill>
              </a:rPr>
              <a:t> "identifier": [ { "use": "usual", "label": "MRN", "system": "http://</a:t>
            </a:r>
            <a:r>
              <a:rPr lang="en-GB" sz="1400" dirty="0" err="1">
                <a:solidFill>
                  <a:srgbClr val="7030A0"/>
                </a:solidFill>
              </a:rPr>
              <a:t>www.goodhealth.org</a:t>
            </a:r>
            <a:r>
              <a:rPr lang="en-GB" sz="1400" dirty="0">
                <a:solidFill>
                  <a:srgbClr val="7030A0"/>
                </a:solidFill>
              </a:rPr>
              <a:t>/identifiers/</a:t>
            </a:r>
            <a:r>
              <a:rPr lang="en-GB" sz="1400" dirty="0" err="1">
                <a:solidFill>
                  <a:srgbClr val="7030A0"/>
                </a:solidFill>
              </a:rPr>
              <a:t>mrn</a:t>
            </a:r>
            <a:r>
              <a:rPr lang="en-GB" sz="1400" dirty="0">
                <a:solidFill>
                  <a:srgbClr val="7030A0"/>
                </a:solidFill>
              </a:rPr>
              <a:t>", "value": "123456" } ], </a:t>
            </a:r>
          </a:p>
          <a:p>
            <a:r>
              <a:rPr lang="en-GB" sz="1400" dirty="0">
                <a:solidFill>
                  <a:srgbClr val="7030A0"/>
                </a:solidFill>
              </a:rPr>
              <a:t>"name": [ { "family": "Levin", "given": [ "Henry" ], "suffix": [ "The 7th" ] } ],</a:t>
            </a:r>
          </a:p>
          <a:p>
            <a:r>
              <a:rPr lang="en-GB" sz="1400" dirty="0">
                <a:solidFill>
                  <a:srgbClr val="7030A0"/>
                </a:solidFill>
              </a:rPr>
              <a:t> "gender": { "text": "Male" },</a:t>
            </a:r>
          </a:p>
          <a:p>
            <a:r>
              <a:rPr lang="en-GB" sz="1400" dirty="0">
                <a:solidFill>
                  <a:srgbClr val="7030A0"/>
                </a:solidFill>
              </a:rPr>
              <a:t> "</a:t>
            </a:r>
            <a:r>
              <a:rPr lang="en-GB" sz="1400" dirty="0" err="1">
                <a:solidFill>
                  <a:srgbClr val="7030A0"/>
                </a:solidFill>
              </a:rPr>
              <a:t>birthDate</a:t>
            </a:r>
            <a:r>
              <a:rPr lang="en-GB" sz="1400" dirty="0">
                <a:solidFill>
                  <a:srgbClr val="7030A0"/>
                </a:solidFill>
              </a:rPr>
              <a:t>": "1932-09-24",</a:t>
            </a:r>
          </a:p>
          <a:p>
            <a:r>
              <a:rPr lang="en-GB" sz="1400" dirty="0">
                <a:solidFill>
                  <a:srgbClr val="7030A0"/>
                </a:solidFill>
              </a:rPr>
              <a:t> "active": true</a:t>
            </a:r>
          </a:p>
          <a:p>
            <a:r>
              <a:rPr lang="en-GB" sz="1400" dirty="0"/>
              <a:t> }</a:t>
            </a:r>
            <a:endParaRPr lang="en-DK" sz="1400" kern="0" dirty="0"/>
          </a:p>
        </p:txBody>
      </p:sp>
    </p:spTree>
    <p:extLst>
      <p:ext uri="{BB962C8B-B14F-4D97-AF65-F5344CB8AC3E}">
        <p14:creationId xmlns:p14="http://schemas.microsoft.com/office/powerpoint/2010/main" val="2913263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8D4A202-D189-A098-41DC-ACDC617AF9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BA859-663C-F45F-769D-382EEF2243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81F86BE-4A00-E647-AC79-4AEF95C70B04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EA82ED-2897-124A-BC79-8CD324A55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62" y="447940"/>
            <a:ext cx="9918700" cy="595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078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2C96-AC9E-0E21-F715-53CDF3B10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I</a:t>
            </a:r>
            <a:r>
              <a:rPr lang="en-GB" dirty="0"/>
              <a:t>n</a:t>
            </a:r>
            <a:r>
              <a:rPr lang="en-DK" dirty="0"/>
              <a:t>teracting with FHIR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43A5F-2449-86E5-0688-DAEE34D38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1202987" cy="4521366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u="sng" dirty="0">
                <a:solidFill>
                  <a:srgbClr val="2A6496"/>
                </a:solidFill>
                <a:effectLst/>
                <a:latin typeface="verdana" panose="020B0604030504040204" pitchFamily="34" charset="0"/>
                <a:hlinkClick r:id="rId2"/>
              </a:rPr>
              <a:t>Create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= POST https://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example.com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/base/{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resourceType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}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428BCA"/>
                </a:solidFill>
                <a:effectLst/>
                <a:latin typeface="verdana" panose="020B0604030504040204" pitchFamily="34" charset="0"/>
                <a:hlinkClick r:id="rId3"/>
              </a:rPr>
              <a:t>Read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= GET https://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example.com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/base/{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resourceType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}/{id}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428BCA"/>
                </a:solidFill>
                <a:effectLst/>
                <a:latin typeface="verdana" panose="020B0604030504040204" pitchFamily="34" charset="0"/>
                <a:hlinkClick r:id="rId4"/>
              </a:rPr>
              <a:t>Update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= PUT https://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example.com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/base/{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resourceType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}/{id}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428BCA"/>
                </a:solidFill>
                <a:effectLst/>
                <a:latin typeface="verdana" panose="020B0604030504040204" pitchFamily="34" charset="0"/>
                <a:hlinkClick r:id="rId5"/>
              </a:rPr>
              <a:t>Patch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= PATCH https://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example.com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/base/{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resourceType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}/{id}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428BCA"/>
                </a:solidFill>
                <a:effectLst/>
                <a:latin typeface="verdana" panose="020B0604030504040204" pitchFamily="34" charset="0"/>
                <a:hlinkClick r:id="rId6"/>
              </a:rPr>
              <a:t>Delete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= DELETE https:  //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example.com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/base/{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resourceType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}/{id}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428BCA"/>
                </a:solidFill>
                <a:effectLst/>
                <a:latin typeface="verdana" panose="020B0604030504040204" pitchFamily="34" charset="0"/>
                <a:hlinkClick r:id="rId7"/>
              </a:rPr>
              <a:t>Search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= GET https://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example.com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/base/{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resourceType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}?search parameters...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428BCA"/>
                </a:solidFill>
                <a:effectLst/>
                <a:latin typeface="verdana" panose="020B0604030504040204" pitchFamily="34" charset="0"/>
                <a:hlinkClick r:id="rId8"/>
              </a:rPr>
              <a:t>History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= GET https://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example.com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/base/{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resourceType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}/{id}/_history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428BCA"/>
                </a:solidFill>
                <a:effectLst/>
                <a:latin typeface="verdana" panose="020B0604030504040204" pitchFamily="34" charset="0"/>
                <a:hlinkClick r:id="rId9"/>
              </a:rPr>
              <a:t>Transaction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= POST https://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example.com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/base/ </a:t>
            </a:r>
            <a:r>
              <a:rPr lang="en-GB" sz="1800" b="0" i="1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(POST a transaction bundle to the system)</a:t>
            </a:r>
            <a:endParaRPr lang="en-GB" sz="1800" b="0" i="0" dirty="0">
              <a:solidFill>
                <a:srgbClr val="333333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428BCA"/>
                </a:solidFill>
                <a:effectLst/>
                <a:latin typeface="verdana" panose="020B0604030504040204" pitchFamily="34" charset="0"/>
                <a:hlinkClick r:id="rId10"/>
              </a:rPr>
              <a:t>Operation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= GET https://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example.com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/base/{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resourceType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}/{id}/${</a:t>
            </a:r>
            <a:r>
              <a:rPr lang="en-GB" sz="1800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opname</a:t>
            </a:r>
            <a:r>
              <a:rPr lang="en-GB" sz="18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}</a:t>
            </a:r>
          </a:p>
          <a:p>
            <a:endParaRPr lang="en-DK" sz="1800" dirty="0"/>
          </a:p>
          <a:p>
            <a:endParaRPr lang="en-DK" sz="1800" dirty="0"/>
          </a:p>
          <a:p>
            <a:r>
              <a:rPr lang="en-DK" sz="1800" dirty="0"/>
              <a:t>Like talking to a ‘normal’ REST server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121B1-A9FB-F32F-0572-4ED538A37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F6D2E-92D0-5B41-930C-E50AA36B8294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7980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B3E9-82F9-1A61-B381-E24C7F0DC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Patient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6CE45-B2B9-5595-B67E-7685CB141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4388494" cy="4521366"/>
          </a:xfrm>
        </p:spPr>
        <p:txBody>
          <a:bodyPr/>
          <a:lstStyle/>
          <a:p>
            <a:r>
              <a:rPr lang="en-GB" dirty="0"/>
              <a:t>From</a:t>
            </a:r>
            <a:r>
              <a:rPr lang="en-GB" dirty="0">
                <a:hlinkClick r:id="rId2"/>
              </a:rPr>
              <a:t> https://www.hl7.org/fhir/patient.html</a:t>
            </a:r>
            <a:endParaRPr lang="en-GB" dirty="0"/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Terminology Bindings</a:t>
            </a:r>
          </a:p>
          <a:p>
            <a:pPr marL="774900" lvl="1" indent="-342900"/>
            <a:r>
              <a:rPr lang="en-DK" dirty="0"/>
              <a:t>Required, Extensible, Prefered, Example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K" dirty="0"/>
              <a:t>Constraints</a:t>
            </a:r>
          </a:p>
          <a:p>
            <a:pPr marL="774900" lvl="1" indent="-342900"/>
            <a:r>
              <a:rPr lang="en-DK" dirty="0"/>
              <a:t> Contact should exists</a:t>
            </a:r>
            <a:br>
              <a:rPr lang="en-DK" dirty="0"/>
            </a:br>
            <a:r>
              <a:rPr lang="en-GB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name.exists</a:t>
            </a:r>
            <a:r>
              <a:rPr lang="en-GB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() or 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telecom.exists</a:t>
            </a:r>
            <a:r>
              <a:rPr lang="en-GB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() or 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address.exists</a:t>
            </a:r>
            <a:r>
              <a:rPr lang="en-GB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() or 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organization.exists</a:t>
            </a:r>
            <a:r>
              <a:rPr lang="en-GB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F4EFE-741B-3B8E-564F-A93AE29C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2DE0-69C3-9446-9138-BB96BDC5E14E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2D4E93-3709-12F4-8704-CD2079401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420" y="0"/>
            <a:ext cx="49574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99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E288D-C192-9EDD-DF35-6B37837A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8C23E-9AE7-ECD1-8CB6-4794E7A0D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3596406" cy="4521366"/>
          </a:xfrm>
        </p:spPr>
        <p:txBody>
          <a:bodyPr/>
          <a:lstStyle/>
          <a:p>
            <a:r>
              <a:rPr lang="en-DK" dirty="0"/>
              <a:t>From: </a:t>
            </a:r>
            <a:r>
              <a:rPr lang="en-GB" dirty="0">
                <a:hlinkClick r:id="rId2"/>
              </a:rPr>
              <a:t>https://www.hl7.org/fhir/observation.html</a:t>
            </a:r>
            <a:endParaRPr lang="en-DK" dirty="0"/>
          </a:p>
          <a:p>
            <a:endParaRPr lang="en-DK" dirty="0"/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7F99A-6813-50B7-B6C4-26D7A4568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BE469-FCFD-DF47-ADD7-2727A31D602D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855CE1-6068-C853-42C0-EE5F13E07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220" y="15558"/>
            <a:ext cx="9612010" cy="1070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25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E288D-C192-9EDD-DF35-6B37837A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8C23E-9AE7-ECD1-8CB6-4794E7A0D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3380382" cy="4521366"/>
          </a:xfrm>
        </p:spPr>
        <p:txBody>
          <a:bodyPr/>
          <a:lstStyle/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7F99A-6813-50B7-B6C4-26D7A4568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BE469-FCFD-DF47-ADD7-2727A31D602D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855CE1-6068-C853-42C0-EE5F13E07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220" y="-4419872"/>
            <a:ext cx="9612010" cy="1070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6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38EDF-0F00-1F96-8728-5EBBD639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Zoom on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7C34F-14B6-FBCD-485F-430DEC8BE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3092350" cy="4521366"/>
          </a:xfrm>
        </p:spPr>
        <p:txBody>
          <a:bodyPr/>
          <a:lstStyle/>
          <a:p>
            <a:pPr>
              <a:buNone/>
            </a:pPr>
            <a:r>
              <a:rPr lang="en-DK" dirty="0"/>
              <a:t>Constraint on values</a:t>
            </a:r>
          </a:p>
          <a:p>
            <a:pPr>
              <a:buNone/>
            </a:pPr>
            <a:endParaRPr lang="en-DK" dirty="0"/>
          </a:p>
          <a:p>
            <a:pPr>
              <a:buNone/>
            </a:pPr>
            <a:r>
              <a:rPr lang="en-DK" dirty="0"/>
              <a:t>One of these. Look at SampledData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B5D1B-1B74-1C35-8CAF-4AD928E7F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076B-F726-1D45-8488-20F335EF9355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5D1A80-16D2-8801-BF25-2E294A91B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246" y="996619"/>
            <a:ext cx="7772400" cy="483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17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C1C5-16BF-EA7E-7BB3-F93D58C77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Exercises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A29BE-CB0D-F946-D9CB-3194C5C1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7695-EF25-DE41-8445-706413A80823}" type="datetime1">
              <a:rPr lang="en-GB" smtClean="0"/>
              <a:t>26/11/2025</a:t>
            </a:fld>
            <a:r>
              <a:rPr lang="en-GB"/>
              <a:t>26/10/2023</a:t>
            </a:r>
            <a:endParaRPr lang="en-GB" dirty="0"/>
          </a:p>
        </p:txBody>
      </p:sp>
      <p:pic>
        <p:nvPicPr>
          <p:cNvPr id="5" name="Picture 2" descr="logo fhir">
            <a:extLst>
              <a:ext uri="{FF2B5EF4-FFF2-40B4-BE49-F238E27FC236}">
                <a16:creationId xmlns:a16="http://schemas.microsoft.com/office/drawing/2014/main" id="{6CA0CBBA-721F-B8DE-3612-5682801EF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063" y="4299298"/>
            <a:ext cx="8013700" cy="19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SS sightings over your city | Spot The Station | NASA">
            <a:extLst>
              <a:ext uri="{FF2B5EF4-FFF2-40B4-BE49-F238E27FC236}">
                <a16:creationId xmlns:a16="http://schemas.microsoft.com/office/drawing/2014/main" id="{9D86AACA-516B-3BCC-9C4B-3C05C9652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665" y="908720"/>
            <a:ext cx="8191500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F607F8-C6FC-3721-7BF5-9E4FD982D503}"/>
              </a:ext>
            </a:extLst>
          </p:cNvPr>
          <p:cNvSpPr txBox="1"/>
          <p:nvPr/>
        </p:nvSpPr>
        <p:spPr>
          <a:xfrm>
            <a:off x="837828" y="4077072"/>
            <a:ext cx="1944216" cy="584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DK" sz="4000" b="1" dirty="0">
                <a:latin typeface="+mn-lt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519837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08929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a="http://schemas.openxmlformats.org/drawingml/2006/main" name="AU 16:9">
  <a:themeElements>
    <a:clrScheme name="AU_Blue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3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Microsoft Macintosh PowerPoint</Application>
  <PresentationFormat>Custom</PresentationFormat>
  <Paragraphs>140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Calibri</vt:lpstr>
      <vt:lpstr>Arial</vt:lpstr>
      <vt:lpstr>AU Passata Light</vt:lpstr>
      <vt:lpstr>Georgia</vt:lpstr>
      <vt:lpstr>AU Peto</vt:lpstr>
      <vt:lpstr>verdana</vt:lpstr>
      <vt:lpstr>AU Passata</vt:lpstr>
      <vt:lpstr>Courier New</vt:lpstr>
      <vt:lpstr>AU 16:9</vt:lpstr>
      <vt:lpstr>PowerPoint Presentation</vt:lpstr>
      <vt:lpstr>PowerPoint Presentation</vt:lpstr>
      <vt:lpstr>Agenda</vt:lpstr>
      <vt:lpstr>Who vs What </vt:lpstr>
      <vt:lpstr>Authentication</vt:lpstr>
      <vt:lpstr>Authorization</vt:lpstr>
      <vt:lpstr>Grant Access on your behalf </vt:lpstr>
      <vt:lpstr>OAUTH</vt:lpstr>
      <vt:lpstr>Github Example</vt:lpstr>
      <vt:lpstr>Github Example Continued</vt:lpstr>
      <vt:lpstr>Exercise</vt:lpstr>
      <vt:lpstr>AUH</vt:lpstr>
      <vt:lpstr>FHIR - what is it</vt:lpstr>
      <vt:lpstr>Resources</vt:lpstr>
      <vt:lpstr>PowerPoint Presentation</vt:lpstr>
      <vt:lpstr>Interacting with FHIR</vt:lpstr>
      <vt:lpstr>Patient</vt:lpstr>
      <vt:lpstr>Observation</vt:lpstr>
      <vt:lpstr>Observation</vt:lpstr>
      <vt:lpstr>Zoom on values</vt:lpstr>
      <vt:lpstr>Exercises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2025-11-27T21:07:26Z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luginDependencies_0">
    <vt:lpwstr>{"635926855539746206:636045261152541358":[{"dependencyType":"DataSource","dependencyId":":","dependencyVersion":null},{"dependencyType":"DataSource","dependencyId":":","dependencyVersion":null},{"dependencyType":"DataSource","dependencyId":":","dependency</vt:lpwstr>
  </property>
  <property fmtid="{D5CDD505-2E9C-101B-9397-08002B2CF9AE}" pid="3" name="PluginDependencies_1">
    <vt:lpwstr>Version":null},{"dependencyType":"DataSource","dependencyId":":","dependencyVersion":null},{"dependencyType":"DataSource","dependencyId":":","dependencyVersion":null},{"dependencyType":"DataSource","dependencyId":":","dependencyVersion":null},{"dependency</vt:lpwstr>
  </property>
  <property fmtid="{D5CDD505-2E9C-101B-9397-08002B2CF9AE}" pid="4" name="PluginDependencies_2">
    <vt:lpwstr>Type":"DataSource","dependencyId":":","dependencyVersion":null},{"dependencyType":"DataSource","dependencyId":":","dependencyVersion":null},{"dependencyType":"DataSource","dependencyId":":","dependencyVersion":null},{"dependencyType":"DataSource","depende</vt:lpwstr>
  </property>
  <property fmtid="{D5CDD505-2E9C-101B-9397-08002B2CF9AE}" pid="5" name="PluginDependencies_3">
    <vt:lpwstr>ncyId":":","dependencyVersion":null},{"dependencyType":"DataSource","dependencyId":":","dependencyVersion":null},{"dependencyType":"DataSource","dependencyId":":","dependencyVersion":null},{"dependencyType":"DataSource","dependencyId":":","dependencyVersi</vt:lpwstr>
  </property>
  <property fmtid="{D5CDD505-2E9C-101B-9397-08002B2CF9AE}" pid="6" name="PluginDependencies_4">
    <vt:lpwstr>on":null},{"dependencyType":"DataSource","dependencyId":":","dependencyVersion":null},{"dependencyType":"DataSource","dependencyId":":","dependencyVersion":null},{"dependencyType":"DataSource","dependencyId":":","dependencyVersion":null},{"dependencyType"</vt:lpwstr>
  </property>
  <property fmtid="{D5CDD505-2E9C-101B-9397-08002B2CF9AE}" pid="7" name="PluginDependencies_5">
    <vt:lpwstr>:"DataSource","dependencyId":":","dependencyVersion":null},{"dependencyType":"DataSource","dependencyId":":","dependencyVersion":null},{"dependencyType":"DataSource","dependencyId":":","dependencyVersion":null},{"dependencyType":"DataSource","dependencyId</vt:lpwstr>
  </property>
  <property fmtid="{D5CDD505-2E9C-101B-9397-08002B2CF9AE}" pid="8" name="PluginDependencies_6">
    <vt:lpwstr>":":","dependencyVersion":null},{"dependencyType":"DataSource","dependencyId":":","dependencyVersion":null},{"dependencyType":"DataSource","dependencyId":":","dependencyVersion":null},{"dependencyType":"DataSource","dependencyId":":","dependencyVersion":n</vt:lpwstr>
  </property>
  <property fmtid="{D5CDD505-2E9C-101B-9397-08002B2CF9AE}" pid="9" name="PluginDependencies_7">
    <vt:lpwstr>ull},{"dependencyType":"DataSource","dependencyId":":","dependencyVersion":null},{"dependencyType":"DataSource","dependencyId":":","dependencyVersion":null},{"dependencyType":"DataSource","dependencyId":":","dependencyVersion":null},{"dependencyType":"Dat</vt:lpwstr>
  </property>
  <property fmtid="{D5CDD505-2E9C-101B-9397-08002B2CF9AE}" pid="10" name="PluginDependencies_8">
    <vt:lpwstr>aSource","dependencyId":":","dependencyVersion":null},{"dependencyType":"DataSource","dependencyId":":","dependencyVersion":null},{"dependencyType":"DataSource","dependencyId":":","dependencyVersion":null},{"dependencyType":"DataSource","dependencyId":":"</vt:lpwstr>
  </property>
  <property fmtid="{D5CDD505-2E9C-101B-9397-08002B2CF9AE}" pid="11" name="PluginDependencies_9">
    <vt:lpwstr>,"dependencyVersion":null},{"dependencyType":"DataSource","dependencyId":":","dependencyVersion":null},{"dependencyType":"DataSource","dependencyId":":","dependencyVersion":null},{"dependencyType":"DataSource","dependencyId":":","dependencyVersion":null},</vt:lpwstr>
  </property>
  <property fmtid="{D5CDD505-2E9C-101B-9397-08002B2CF9AE}" pid="12" name="PluginDependencies_10">
    <vt:lpwstr>{"dependencyType":"DataSource","dependencyId":":","dependencyVersion":null},{"dependencyType":"DataSource","dependencyId":":","dependencyVersion":null},{"dependencyType":"DataSource","dependencyId":":","dependencyVersion":null},{"dependencyType":"DataSour</vt:lpwstr>
  </property>
  <property fmtid="{D5CDD505-2E9C-101B-9397-08002B2CF9AE}" pid="13" name="PluginDependencies_11">
    <vt:lpwstr>ce","dependencyId":":","dependencyVersion":null},{"dependencyType":"DataSource","dependencyId":":","dependencyVersion":null},{"dependencyType":"DataSource","dependencyId":":","dependencyVersion":null},{"dependencyType":"DataSource","dependencyId":":","dep</vt:lpwstr>
  </property>
  <property fmtid="{D5CDD505-2E9C-101B-9397-08002B2CF9AE}" pid="14" name="PluginDependencies_12">
    <vt:lpwstr>endencyVersion":null},{"dependencyType":"DataSource","dependencyId":":","dependencyVersion":null},{"dependencyType":"DataSource","dependencyId":":","dependencyVersion":null},{"dependencyType":"DataSource","dependencyId":":","dependencyVersion":null},{"dep</vt:lpwstr>
  </property>
  <property fmtid="{D5CDD505-2E9C-101B-9397-08002B2CF9AE}" pid="15" name="PluginDependencies_13">
    <vt:lpwstr>endencyType":"DataSource","dependencyId":":","dependencyVersion":null},{"dependencyType":"DataSource","dependencyId":":","dependencyVersion":null},{"dependencyType":"DataSource","dependencyId":":","dependencyVersion":null},{"dependencyType":"DataSource","</vt:lpwstr>
  </property>
  <property fmtid="{D5CDD505-2E9C-101B-9397-08002B2CF9AE}" pid="16" name="PluginDependencies_14">
    <vt:lpwstr>dependencyId":":","dependencyVersion":null},{"dependencyType":"DataSource","dependencyId":":","dependencyVersion":null},{"dependencyType":"DataSource","dependencyId":":","dependencyVersion":null},{"dependencyType":"DataSource","dependencyId":":","dependen</vt:lpwstr>
  </property>
  <property fmtid="{D5CDD505-2E9C-101B-9397-08002B2CF9AE}" pid="17" name="PluginDependencies_15">
    <vt:lpwstr>cyVersion":null},{"dependencyType":"DataSource","dependencyId":":","dependencyVersion":null},{"dependencyType":"DataSource","dependencyId":":","dependencyVersion":null},{"dependencyType":"DataSource","dependencyId":":","dependencyVersion":null},{"dependen</vt:lpwstr>
  </property>
  <property fmtid="{D5CDD505-2E9C-101B-9397-08002B2CF9AE}" pid="18" name="PluginDependencies_16">
    <vt:lpwstr>cyType":"DataSource","dependencyId":":","dependencyVersion":null},{"dependencyType":"DataSource","dependencyId":":","dependencyVersion":null},{"dependencyType":"DataSource","dependencyId":":","dependencyVersion":null},{"dependencyType":"DataSource","depen</vt:lpwstr>
  </property>
  <property fmtid="{D5CDD505-2E9C-101B-9397-08002B2CF9AE}" pid="19" name="PluginDependencies_17">
    <vt:lpwstr>dencyId":":","dependencyVersion":null},{"dependencyType":"DataSource","dependencyId":":","dependencyVersion":null},{"dependencyType":"DataSource","dependencyId":":","dependencyVersion":null},{"dependencyType":"DataSource","dependencyId":":","dependencyVer</vt:lpwstr>
  </property>
  <property fmtid="{D5CDD505-2E9C-101B-9397-08002B2CF9AE}" pid="20" name="PluginDependencies_18">
    <vt:lpwstr>sion":null},{"dependencyType":"DataSource","dependencyId":":","dependencyVersion":null},{"dependencyType":"DataSource","dependencyId":":","dependencyVersion":null},{"dependencyType":"DataSource","dependencyId":":","dependencyVersion":null},{"dependencyTyp</vt:lpwstr>
  </property>
  <property fmtid="{D5CDD505-2E9C-101B-9397-08002B2CF9AE}" pid="21" name="PluginDependencies_19">
    <vt:lpwstr>e":"DataSource","dependencyId":":","dependencyVersion":null},{"dependencyType":"DataSource","dependencyId":":","dependencyVersion":null},{"dependencyType":"DataSource","dependencyId":":","dependencyVersion":null},{"dependencyType":"DataSource","dependency</vt:lpwstr>
  </property>
  <property fmtid="{D5CDD505-2E9C-101B-9397-08002B2CF9AE}" pid="22" name="PluginDependencies_20">
    <vt:lpwstr>Id":":","dependencyVersion":null},{"dependencyType":"DataSource","dependencyId":":","dependencyVersion":null},{"dependencyType":"DataSource","dependencyId":":","dependencyVersion":null},{"dependencyType":"DataSource","dependencyId":":","dependencyVersion"</vt:lpwstr>
  </property>
  <property fmtid="{D5CDD505-2E9C-101B-9397-08002B2CF9AE}" pid="23" name="PluginDependencies_21">
    <vt:lpwstr>:null},{"dependencyType":"DataSource","dependencyId":":","dependencyVersion":null},{"dependencyType":"DataSource","dependencyId":":","dependencyVersion":null},{"dependencyType":"DataSource","dependencyId":":","dependencyVersion":null},{"dependencyType":"D</vt:lpwstr>
  </property>
  <property fmtid="{D5CDD505-2E9C-101B-9397-08002B2CF9AE}" pid="24" name="PluginDependencies_22">
    <vt:lpwstr>ataSource","dependencyId":":","dependencyVersion":null},{"dependencyType":"DataSource","dependencyId":":","dependencyVersion":null},{"dependencyType":"DataSource","dependencyId":":","dependencyVersion":null},{"dependencyType":"DataSource","dependencyId":"</vt:lpwstr>
  </property>
  <property fmtid="{D5CDD505-2E9C-101B-9397-08002B2CF9AE}" pid="25" name="PluginDependencies_23">
    <vt:lpwstr>:","dependencyVersion":null},{"dependencyType":"DataSource","dependencyId":":","dependencyVersion":null},{"dependencyType":"DataSource","dependencyId":":","dependencyVersion":null},{"dependencyType":"DataSource","dependencyId":":","dependencyVersion":null</vt:lpwstr>
  </property>
  <property fmtid="{D5CDD505-2E9C-101B-9397-08002B2CF9AE}" pid="26" name="PluginDependencies_24">
    <vt:lpwstr>},{"dependencyType":"DataSource","dependencyId":":","dependencyVersion":null},{"dependencyType":"DataSource","dependencyId":":","dependencyVersion":null},{"dependencyType":"DataSource","dependencyId":":","dependencyVersion":null},{"dependencyType":"DataSo</vt:lpwstr>
  </property>
  <property fmtid="{D5CDD505-2E9C-101B-9397-08002B2CF9AE}" pid="27" name="PluginDependencies_25">
    <vt:lpwstr>urce","dependencyId":":","dependencyVersion":null},{"dependencyType":"DataSource","dependencyId":":","dependencyVersion":null},{"dependencyType":"DataSource","dependencyId":":","dependencyVersion":null},{"dependencyType":"DataSource","dependencyId":":","d</vt:lpwstr>
  </property>
  <property fmtid="{D5CDD505-2E9C-101B-9397-08002B2CF9AE}" pid="28" name="PluginDependencies_26">
    <vt:lpwstr>ependencyVersion":null},{"dependencyType":"DataSource","dependencyId":":","dependencyVersion":null},{"dependencyType":"DataSource","dependencyId":":","dependencyVersion":null},{"dependencyType":"DataSource","dependencyId":":","dependencyVersion":null},{"d</vt:lpwstr>
  </property>
  <property fmtid="{D5CDD505-2E9C-101B-9397-08002B2CF9AE}" pid="29" name="PluginDependencies_27">
    <vt:lpwstr>ependencyType":"DataSource","dependencyId":":","dependencyVersion":null},{"dependencyType":"DataSource","dependencyId":":","dependencyVersion":null},{"dependencyType":"DataSource","dependencyId":":","dependencyVersion":null},{"dependencyType":"DataSource"</vt:lpwstr>
  </property>
  <property fmtid="{D5CDD505-2E9C-101B-9397-08002B2CF9AE}" pid="30" name="PluginDependencies_28">
    <vt:lpwstr>,"dependencyId":":","dependencyVersion":null},{"dependencyType":"DataSource","dependencyId":":","dependencyVersion":null},{"dependencyType":"DataSource","dependencyId":":","dependencyVersion":null},{"dependencyType":"DataSource","dependencyId":":","depend</vt:lpwstr>
  </property>
  <property fmtid="{D5CDD505-2E9C-101B-9397-08002B2CF9AE}" pid="31" name="PluginDependencies_29">
    <vt:lpwstr>encyVersion":null},{"dependencyType":"DataSource","dependencyId":":","dependencyVersion":null},{"dependencyType":"DataSource","dependencyId":":","dependencyVersion":null},{"dependencyType":"DataSource","dependencyId":":","dependencyVersion":null},{"depend</vt:lpwstr>
  </property>
  <property fmtid="{D5CDD505-2E9C-101B-9397-08002B2CF9AE}" pid="32" name="PluginDependencies_30">
    <vt:lpwstr>encyType":"DataSource","dependencyId":":","dependencyVersion":null},{"dependencyType":"DataSource","dependencyId":":","dependencyVersion":null},{"dependencyType":"DataSource","dependencyId":":","dependencyVersion":null},{"dependencyType":"DataSource","dep</vt:lpwstr>
  </property>
  <property fmtid="{D5CDD505-2E9C-101B-9397-08002B2CF9AE}" pid="33" name="PluginDependencies_31">
    <vt:lpwstr>endencyId":":","dependencyVersion":null},{"dependencyType":"DataSource","dependencyId":":","dependencyVersion":null},{"dependencyType":"DataSource","dependencyId":":","dependencyVersion":null},{"dependencyType":"DataSource","dependencyId":":","dependencyV</vt:lpwstr>
  </property>
  <property fmtid="{D5CDD505-2E9C-101B-9397-08002B2CF9AE}" pid="34" name="PluginDependencies_32">
    <vt:lpwstr>ersion":null},{"dependencyType":"DataSource","dependencyId":":","dependencyVersion":null},{"dependencyType":"DataSource","dependencyId":":","dependencyVersion":null},{"dependencyType":"DataSource","dependencyId":":","dependencyVersion":null},{"dependencyT</vt:lpwstr>
  </property>
  <property fmtid="{D5CDD505-2E9C-101B-9397-08002B2CF9AE}" pid="35" name="PluginDependencies_33">
    <vt:lpwstr>ype":"DataSource","dependencyId":":","dependencyVersion":null},{"dependencyType":"DataSource","dependencyId":":","dependencyVersion":null},{"dependencyType":"DataSource","dependencyId":":","dependencyVersion":null},{"dependencyType":"DataSource","dependen</vt:lpwstr>
  </property>
  <property fmtid="{D5CDD505-2E9C-101B-9397-08002B2CF9AE}" pid="36" name="PluginDependencies_34">
    <vt:lpwstr>cyId":":","dependencyVersion":null},{"dependencyType":"DataSource","dependencyId":":","dependencyVersion":null},{"dependencyType":"DataSource","dependencyId":":","dependencyVersion":null},{"dependencyType":"DataSource","dependencyId":":","dependencyVersio</vt:lpwstr>
  </property>
  <property fmtid="{D5CDD505-2E9C-101B-9397-08002B2CF9AE}" pid="37" name="PluginDependencies_35">
    <vt:lpwstr>n":null},{"dependencyType":"DataSource","dependencyId":":","dependencyVersion":null},{"dependencyType":"DataSource","dependencyId":":","dependencyVersion":null},{"dependencyType":"DataSource","dependencyId":":","dependencyVersion":null},{"dependencyType":</vt:lpwstr>
  </property>
  <property fmtid="{D5CDD505-2E9C-101B-9397-08002B2CF9AE}" pid="38" name="PluginDependencies_36">
    <vt:lpwstr>"DataSource","dependencyId":":","dependencyVersion":null},{"dependencyType":"DataSource","dependencyId":":","dependencyVersion":null},{"dependencyType":"DataSource","dependencyId":":","dependencyVersion":null},{"dependencyType":"DataSource","dependencyId"</vt:lpwstr>
  </property>
  <property fmtid="{D5CDD505-2E9C-101B-9397-08002B2CF9AE}" pid="39" name="PluginDependencies_37">
    <vt:lpwstr>:":","dependencyVersion":null},{"dependencyType":"DataSource","dependencyId":":","dependencyVersion":null},{"dependencyType":"DataSource","dependencyId":":","dependencyVersion":null},{"dependencyType":"DataSource","dependencyId":":","dependencyVersion":nu</vt:lpwstr>
  </property>
  <property fmtid="{D5CDD505-2E9C-101B-9397-08002B2CF9AE}" pid="40" name="PluginDependencies_38">
    <vt:lpwstr>ll},{"dependencyType":"DataSource","dependencyId":":","dependencyVersion":null},{"dependencyType":"DataSource","dependencyId":":","dependencyVersion":null},{"dependencyType":"DataSource","dependencyId":":","dependencyVersion":null},{"dependencyType":"Data</vt:lpwstr>
  </property>
  <property fmtid="{D5CDD505-2E9C-101B-9397-08002B2CF9AE}" pid="41" name="PluginDependencies_39">
    <vt:lpwstr>Source","dependencyId":":","dependencyVersion":null},{"dependencyType":"DataSource","dependencyId":":","dependencyVersion":null},{"dependencyType":"DataSource","dependencyId":":","dependencyVersion":null},{"dependencyType":"DataSource","dependencyId":":",</vt:lpwstr>
  </property>
  <property fmtid="{D5CDD505-2E9C-101B-9397-08002B2CF9AE}" pid="42" name="PluginDependencies_40">
    <vt:lpwstr>"dependencyVersion":null},{"dependencyType":"DataSource","dependencyId":":","dependencyVersion":null},{"dependencyType":"DataSource","dependencyId":":","dependencyVersion":null},{"dependencyType":"DataSource","dependencyId":":","dependencyVersion":null},{</vt:lpwstr>
  </property>
  <property fmtid="{D5CDD505-2E9C-101B-9397-08002B2CF9AE}" pid="43" name="PluginDependencies_41">
    <vt:lpwstr>"dependencyType":"DataSource","dependencyId":":","dependencyVersion":null},{"dependencyType":"DataSource","dependencyId":":","dependencyVersion":null},{"dependencyType":"DataSource","dependencyId":":","dependencyVersion":null},{"dependencyType":"DataSourc</vt:lpwstr>
  </property>
  <property fmtid="{D5CDD505-2E9C-101B-9397-08002B2CF9AE}" pid="44" name="PluginDependencies_42">
    <vt:lpwstr>e","dependencyId":":","dependencyVersion":null},{"dependencyType":"DataSource","dependencyId":":","dependencyVersion":null},{"dependencyType":"DataSource","dependencyId":":","dependencyVersion":null},{"dependencyType":"DataSource","dependencyId":":","depe</vt:lpwstr>
  </property>
  <property fmtid="{D5CDD505-2E9C-101B-9397-08002B2CF9AE}" pid="45" name="PluginDependencies_43">
    <vt:lpwstr>ndencyVersion":null},{"dependencyType":"DataSource","dependencyId":":","dependencyVersion":null},{"dependencyType":"DataSource","dependencyId":":","dependencyVersion":null},{"dependencyType":"DataSource","dependencyId":":","dependencyVersion":null},{"depe</vt:lpwstr>
  </property>
  <property fmtid="{D5CDD505-2E9C-101B-9397-08002B2CF9AE}" pid="46" name="PluginDependencies_44">
    <vt:lpwstr>ndencyType":"DataSource","dependencyId":":","dependencyVersion":null},{"dependencyType":"DataSource","dependencyId":":","dependencyVersion":null},{"dependencyType":"DataSource","dependencyId":":","dependencyVersion":null},{"dependencyType":"DataSource","d</vt:lpwstr>
  </property>
  <property fmtid="{D5CDD505-2E9C-101B-9397-08002B2CF9AE}" pid="47" name="PluginDependencies_45">
    <vt:lpwstr>ependencyId":":","dependencyVersion":null},{"dependencyType":"DataSource","dependencyId":":","dependencyVersion":null},{"dependencyType":"DataSource","dependencyId":":","dependencyVersion":null},{"dependencyType":"DataSource","dependencyId":":","dependenc</vt:lpwstr>
  </property>
  <property fmtid="{D5CDD505-2E9C-101B-9397-08002B2CF9AE}" pid="48" name="PluginDependencies_46">
    <vt:lpwstr>yVersion":null},{"dependencyType":"DataSource","dependencyId":":","dependencyVersion":null},{"dependencyType":"DataSource","dependencyId":":","dependencyVersion":null},{"dependencyType":"DataSource","dependencyId":":","dependencyVersion":null},{"dependenc</vt:lpwstr>
  </property>
  <property fmtid="{D5CDD505-2E9C-101B-9397-08002B2CF9AE}" pid="49" name="PluginDependencies_47">
    <vt:lpwstr>yType":"DataSource","dependencyId":":","dependencyVersion":null},{"dependencyType":"DataSource","dependencyId":":","dependencyVersion":null},{"dependencyType":"DataSource","dependencyId":":","dependencyVersion":null},{"dependencyType":"DataSource","depend</vt:lpwstr>
  </property>
  <property fmtid="{D5CDD505-2E9C-101B-9397-08002B2CF9AE}" pid="50" name="PluginDependencies_48">
    <vt:lpwstr>encyId":":","dependencyVersion":null},{"dependencyType":"DataSource","dependencyId":":","dependencyVersion":null},{"dependencyType":"DataSource","dependencyId":":","dependencyVersion":null},{"dependencyType":"DataSource","dependencyId":":","dependencyVers</vt:lpwstr>
  </property>
  <property fmtid="{D5CDD505-2E9C-101B-9397-08002B2CF9AE}" pid="51" name="PluginDependencies_49">
    <vt:lpwstr>ion":null},{"dependencyType":"DataSource","dependencyId":":","dependencyVersion":null},{"dependencyType":"DataSource","dependencyId":":","dependencyVersion":null},{"dependencyType":"DataSource","dependencyId":":","dependencyVersion":null},{"dependencyType</vt:lpwstr>
  </property>
  <property fmtid="{D5CDD505-2E9C-101B-9397-08002B2CF9AE}" pid="52" name="PluginDependencies_50">
    <vt:lpwstr>":"DataSource","dependencyId":":","dependencyVersion":null},{"dependencyType":"DataSource","dependencyId":":","dependencyVersion":null},{"dependencyType":"DataSource","dependencyId":":","dependencyVersion":null},{"dependencyType":"DataSource","dependencyI</vt:lpwstr>
  </property>
  <property fmtid="{D5CDD505-2E9C-101B-9397-08002B2CF9AE}" pid="53" name="PluginDependencies_51">
    <vt:lpwstr>d":":","dependencyVersion":null},{"dependencyType":"DataSource","dependencyId":":","dependencyVersion":null},{"dependencyType":"DataSource","dependencyId":":","dependencyVersion":null},{"dependencyType":"DataSource","dependencyId":":","dependencyVersion":</vt:lpwstr>
  </property>
  <property fmtid="{D5CDD505-2E9C-101B-9397-08002B2CF9AE}" pid="54" name="PluginDependencies_52">
    <vt:lpwstr>null},{"dependencyType":"DataSource","dependencyId":":","dependencyVersion":null},{"dependencyType":"DataSource","dependencyId":":","dependencyVersion":null},{"dependencyType":"DataSource","dependencyId":":","dependencyVersion":null},{"dependencyType":"Da</vt:lpwstr>
  </property>
  <property fmtid="{D5CDD505-2E9C-101B-9397-08002B2CF9AE}" pid="55" name="PluginDependencies_53">
    <vt:lpwstr>taSource","dependencyId":":","dependencyVersion":null}],"635926855539746206:636045261152541359":[],"635926855539746206:636045261152541360":[],"635926855539746206:636045261152541361":[],"635926855539746206:636045261152541362":[],"635690283596553901:6357565</vt:lpwstr>
  </property>
  <property fmtid="{D5CDD505-2E9C-101B-9397-08002B2CF9AE}" pid="56" name="PluginDependencies_54">
    <vt:lpwstr>74568773657":[]}</vt:lpwstr>
  </property>
  <property fmtid="{D5CDD505-2E9C-101B-9397-08002B2CF9AE}" pid="57" name="CustomerId">
    <vt:lpwstr>auoffice</vt:lpwstr>
  </property>
  <property fmtid="{D5CDD505-2E9C-101B-9397-08002B2CF9AE}" pid="58" name="TemplateId">
    <vt:lpwstr>636196524199658508</vt:lpwstr>
  </property>
  <property fmtid="{D5CDD505-2E9C-101B-9397-08002B2CF9AE}" pid="59" name="UserProfileId">
    <vt:lpwstr>637451870802122087</vt:lpwstr>
  </property>
  <property fmtid="{D5CDD505-2E9C-101B-9397-08002B2CF9AE}" pid="60" name="TemplafyTimeStamp">
    <vt:lpwstr>2017-02-24T14:35:30.3621506Z</vt:lpwstr>
  </property>
  <property fmtid="{D5CDD505-2E9C-101B-9397-08002B2CF9AE}" pid="61" name="OfficeID">
    <vt:lpwstr>2943</vt:lpwstr>
  </property>
  <property fmtid="{D5CDD505-2E9C-101B-9397-08002B2CF9AE}" pid="62" name="colorthemechange">
    <vt:lpwstr>True</vt:lpwstr>
  </property>
</Properties>
</file>