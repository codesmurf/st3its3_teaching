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99" r:id="rId2"/>
    <p:sldId id="256" r:id="rId3"/>
    <p:sldId id="278" r:id="rId4"/>
    <p:sldId id="298" r:id="rId5"/>
    <p:sldId id="280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5" r:id="rId14"/>
    <p:sldId id="25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4E92"/>
    <a:srgbClr val="FFFFCC"/>
    <a:srgbClr val="FFFF99"/>
    <a:srgbClr val="FFBE3B"/>
    <a:srgbClr val="FFAE37"/>
    <a:srgbClr val="2E4E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66" autoAdjust="0"/>
    <p:restoredTop sz="94726"/>
  </p:normalViewPr>
  <p:slideViewPr>
    <p:cSldViewPr>
      <p:cViewPr varScale="1">
        <p:scale>
          <a:sx n="120" d="100"/>
          <a:sy n="120" d="100"/>
        </p:scale>
        <p:origin x="816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6E8EB0-8888-4A4E-94F3-14D8E5038AB6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42F7E-C03E-4A75-829B-A53EDB2B7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02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02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655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67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67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67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67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671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671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671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671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67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671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671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20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6309320"/>
            <a:ext cx="1577455" cy="39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20589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42892"/>
            <a:ext cx="7383274" cy="1143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680520"/>
          </a:xfrm>
          <a:prstGeom prst="rect">
            <a:avLst/>
          </a:prstGeom>
        </p:spPr>
        <p:txBody>
          <a:bodyPr/>
          <a:lstStyle>
            <a:lvl1pPr>
              <a:buClr>
                <a:srgbClr val="294E92"/>
              </a:buClr>
              <a:defRPr/>
            </a:lvl1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6309320"/>
            <a:ext cx="1577455" cy="395022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4043674" y="6498103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noProof="0" dirty="0">
                <a:solidFill>
                  <a:schemeClr val="tx1"/>
                </a:solidFill>
              </a:rPr>
              <a:t>-</a:t>
            </a:r>
            <a:fld id="{FABCB2CC-F8B6-45D5-844F-758C0932985B}" type="slidenum">
              <a:rPr lang="en-US" sz="1200" b="0" noProof="0" smtClean="0">
                <a:solidFill>
                  <a:schemeClr val="tx1"/>
                </a:solidFill>
              </a:rPr>
              <a:pPr algn="ctr"/>
              <a:t>‹#›</a:t>
            </a:fld>
            <a:r>
              <a:rPr lang="en-US" sz="1200" b="0" noProof="0" dirty="0">
                <a:solidFill>
                  <a:schemeClr val="tx1"/>
                </a:solidFill>
              </a:rPr>
              <a:t>- 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467544" y="1340768"/>
            <a:ext cx="82089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19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899592" y="242892"/>
            <a:ext cx="7383274" cy="1143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6309320"/>
            <a:ext cx="1577455" cy="395022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4043674" y="6498103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noProof="0" dirty="0">
                <a:solidFill>
                  <a:schemeClr val="tx1"/>
                </a:solidFill>
              </a:rPr>
              <a:t>-</a:t>
            </a:r>
            <a:fld id="{FABCB2CC-F8B6-45D5-844F-758C0932985B}" type="slidenum">
              <a:rPr lang="en-US" sz="1200" b="0" noProof="0" smtClean="0">
                <a:solidFill>
                  <a:schemeClr val="tx1"/>
                </a:solidFill>
              </a:rPr>
              <a:pPr algn="ctr"/>
              <a:t>‹#›</a:t>
            </a:fld>
            <a:r>
              <a:rPr lang="en-US" sz="1200" b="0" noProof="0" dirty="0">
                <a:solidFill>
                  <a:schemeClr val="tx1"/>
                </a:solidFill>
              </a:rPr>
              <a:t>- 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67544" y="1340768"/>
            <a:ext cx="82089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460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653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U Passata" panose="020B05030305020308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94E92"/>
        </a:buClr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2CDF5C-8C54-E90B-88D2-D5210A431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 dirty="0"/>
          </a:p>
        </p:txBody>
      </p:sp>
      <p:pic>
        <p:nvPicPr>
          <p:cNvPr id="1026" name="Picture 2" descr="Product Backlog Refinement: Make the Most of It">
            <a:extLst>
              <a:ext uri="{FF2B5EF4-FFF2-40B4-BE49-F238E27FC236}">
                <a16:creationId xmlns:a16="http://schemas.microsoft.com/office/drawing/2014/main" id="{7A3509C7-EAED-D75A-46CB-A767904F8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2165350"/>
            <a:ext cx="8115300" cy="252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658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1390077"/>
            <a:ext cx="7772400" cy="1470025"/>
          </a:xfrm>
        </p:spPr>
        <p:txBody>
          <a:bodyPr>
            <a:noAutofit/>
          </a:bodyPr>
          <a:lstStyle/>
          <a:p>
            <a:r>
              <a:rPr lang="da-DK" sz="4800" dirty="0"/>
              <a:t>The Open-</a:t>
            </a:r>
            <a:r>
              <a:rPr lang="da-DK" sz="4800" dirty="0" err="1"/>
              <a:t>Closed</a:t>
            </a:r>
            <a:r>
              <a:rPr lang="da-DK" sz="4800" dirty="0"/>
              <a:t> </a:t>
            </a:r>
            <a:r>
              <a:rPr lang="da-DK" sz="4800" dirty="0" err="1"/>
              <a:t>Principle</a:t>
            </a:r>
            <a:r>
              <a:rPr lang="da-DK" sz="4800" dirty="0"/>
              <a:t> (OCP)</a:t>
            </a:r>
            <a:endParaRPr lang="en-US" sz="48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67544" y="5460156"/>
            <a:ext cx="8352928" cy="1017587"/>
          </a:xfrm>
        </p:spPr>
        <p:txBody>
          <a:bodyPr>
            <a:normAutofit/>
          </a:bodyPr>
          <a:lstStyle/>
          <a:p>
            <a:r>
              <a:rPr lang="en-US" sz="2400" i="1" dirty="0"/>
              <a:t>“The critical design tool for software development</a:t>
            </a:r>
          </a:p>
          <a:p>
            <a:r>
              <a:rPr lang="en-US" sz="2400" i="1" dirty="0"/>
              <a:t>is a mind well educated in design principles”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24" y="3005487"/>
            <a:ext cx="1497790" cy="22237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3005487"/>
            <a:ext cx="1497790" cy="222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00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SOLID acronym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104456"/>
          </a:xfrm>
        </p:spPr>
        <p:txBody>
          <a:bodyPr>
            <a:normAutofit/>
          </a:bodyPr>
          <a:lstStyle/>
          <a:p>
            <a:r>
              <a:rPr lang="en-US" sz="2800" dirty="0"/>
              <a:t>The SOLID acronym is composed of the first letters of 5 design principles:</a:t>
            </a:r>
          </a:p>
          <a:p>
            <a:pPr lvl="1"/>
            <a:r>
              <a:rPr lang="en-US" b="1" dirty="0"/>
              <a:t>S	 	</a:t>
            </a:r>
            <a:r>
              <a:rPr lang="en-US" dirty="0"/>
              <a:t>Single Responsibility Principle 	(SRP)</a:t>
            </a:r>
          </a:p>
          <a:p>
            <a:pPr lvl="1"/>
            <a:r>
              <a:rPr lang="en-US" b="1" dirty="0"/>
              <a:t>O</a:t>
            </a:r>
            <a:r>
              <a:rPr lang="en-US" dirty="0"/>
              <a:t> 	Open Closed Principle 		(OCP)</a:t>
            </a:r>
          </a:p>
          <a:p>
            <a:pPr lvl="1"/>
            <a:r>
              <a:rPr lang="en-US" b="1" dirty="0"/>
              <a:t>L</a:t>
            </a:r>
            <a:r>
              <a:rPr lang="en-US" dirty="0"/>
              <a:t>	 	</a:t>
            </a:r>
            <a:r>
              <a:rPr lang="en-US" dirty="0" err="1"/>
              <a:t>Liskov’s</a:t>
            </a:r>
            <a:r>
              <a:rPr lang="en-US" dirty="0"/>
              <a:t> Substitution Principle 	(LSP)</a:t>
            </a:r>
          </a:p>
          <a:p>
            <a:pPr lvl="1"/>
            <a:r>
              <a:rPr lang="en-US" b="1" dirty="0"/>
              <a:t>I</a:t>
            </a:r>
            <a:r>
              <a:rPr lang="en-US" dirty="0"/>
              <a:t>	 	Interface Segregation Principle 	(ISP)</a:t>
            </a:r>
          </a:p>
          <a:p>
            <a:pPr lvl="1"/>
            <a:r>
              <a:rPr lang="en-US" b="1" dirty="0"/>
              <a:t>D</a:t>
            </a:r>
            <a:r>
              <a:rPr lang="en-US" dirty="0"/>
              <a:t> 	Dependency Inversion Principle 	(DIP)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4704762"/>
            <a:ext cx="3933478" cy="196673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Right Arrow 4"/>
          <p:cNvSpPr/>
          <p:nvPr/>
        </p:nvSpPr>
        <p:spPr>
          <a:xfrm>
            <a:off x="1619672" y="5373216"/>
            <a:ext cx="2664296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SOLID </a:t>
            </a:r>
            <a:r>
              <a:rPr lang="da-DK" dirty="0" err="1"/>
              <a:t>goes</a:t>
            </a:r>
            <a:r>
              <a:rPr lang="da-DK" dirty="0"/>
              <a:t> </a:t>
            </a:r>
            <a:r>
              <a:rPr lang="da-DK" dirty="0" err="1"/>
              <a:t>here</a:t>
            </a:r>
            <a:r>
              <a:rPr lang="da-DK" dirty="0"/>
              <a:t>!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B9A5A52-5076-CACD-751C-FB093EE04CE0}"/>
              </a:ext>
            </a:extLst>
          </p:cNvPr>
          <p:cNvSpPr/>
          <p:nvPr/>
        </p:nvSpPr>
        <p:spPr>
          <a:xfrm>
            <a:off x="457200" y="2406712"/>
            <a:ext cx="7743314" cy="1008112"/>
          </a:xfrm>
          <a:prstGeom prst="roundRect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91F7AD9-78CB-4083-7182-B6D7FE777EA4}"/>
              </a:ext>
            </a:extLst>
          </p:cNvPr>
          <p:cNvSpPr/>
          <p:nvPr/>
        </p:nvSpPr>
        <p:spPr>
          <a:xfrm>
            <a:off x="457200" y="3293974"/>
            <a:ext cx="7743314" cy="1410788"/>
          </a:xfrm>
          <a:prstGeom prst="roundRect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33B4E-A399-DF16-E115-7A64A2B87C46}"/>
              </a:ext>
            </a:extLst>
          </p:cNvPr>
          <p:cNvSpPr txBox="1"/>
          <p:nvPr/>
        </p:nvSpPr>
        <p:spPr>
          <a:xfrm rot="2329492">
            <a:off x="7262171" y="2989703"/>
            <a:ext cx="1927411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DK" sz="2800" dirty="0">
                <a:solidFill>
                  <a:srgbClr val="FF0000"/>
                </a:solidFill>
              </a:rPr>
              <a:t>In SW4SWD</a:t>
            </a:r>
          </a:p>
        </p:txBody>
      </p:sp>
    </p:spTree>
    <p:extLst>
      <p:ext uri="{BB962C8B-B14F-4D97-AF65-F5344CB8AC3E}">
        <p14:creationId xmlns:p14="http://schemas.microsoft.com/office/powerpoint/2010/main" val="407635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4" grpId="1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deviq.com/Media/Default/Article/OpenClosedPrincipl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484784"/>
            <a:ext cx="4680520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99592" y="242892"/>
            <a:ext cx="7383274" cy="1143000"/>
          </a:xfrm>
        </p:spPr>
        <p:txBody>
          <a:bodyPr>
            <a:normAutofit/>
          </a:bodyPr>
          <a:lstStyle/>
          <a:p>
            <a:r>
              <a:rPr lang="en-US" dirty="0"/>
              <a:t>The Open-Closed Principle (OCP)</a:t>
            </a:r>
          </a:p>
        </p:txBody>
      </p:sp>
    </p:spTree>
    <p:extLst>
      <p:ext uri="{BB962C8B-B14F-4D97-AF65-F5344CB8AC3E}">
        <p14:creationId xmlns:p14="http://schemas.microsoft.com/office/powerpoint/2010/main" val="3788708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Open-Closed Principle (OCP)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57200" y="3140968"/>
            <a:ext cx="8229600" cy="2160240"/>
          </a:xfrm>
        </p:spPr>
        <p:txBody>
          <a:bodyPr>
            <a:noAutofit/>
          </a:bodyPr>
          <a:lstStyle/>
          <a:p>
            <a:pPr defTabSz="738188"/>
            <a:r>
              <a:rPr lang="en-US" dirty="0"/>
              <a:t>The Open-Closed Principle (OCP) helps us develop software that can handle changing requirements in the future.</a:t>
            </a:r>
          </a:p>
          <a:p>
            <a:pPr lvl="1" defTabSz="738188"/>
            <a:r>
              <a:rPr lang="en-US" sz="2000" dirty="0"/>
              <a:t>…and software that is testable, and extensible, and easy to comprehend, and…</a:t>
            </a:r>
          </a:p>
          <a:p>
            <a:pPr defTabSz="738188"/>
            <a:endParaRPr lang="en-US" dirty="0"/>
          </a:p>
          <a:p>
            <a:pPr defTabSz="738188"/>
            <a:r>
              <a:rPr lang="en-US" dirty="0"/>
              <a:t>Let’s have a look…</a:t>
            </a:r>
          </a:p>
          <a:p>
            <a:pPr defTabSz="738188"/>
            <a:endParaRPr lang="en-US" dirty="0"/>
          </a:p>
          <a:p>
            <a:pPr defTabSz="738188"/>
            <a:endParaRPr lang="en-US" dirty="0"/>
          </a:p>
          <a:p>
            <a:pPr defTabSz="738188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586122" y="1826821"/>
            <a:ext cx="6010214" cy="95410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 defTabSz="738188"/>
            <a:r>
              <a:rPr lang="en-US" sz="2800" i="1" dirty="0"/>
              <a:t>Software entities should be open for extension but closed for modification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53460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OCP dissected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67544" y="3068959"/>
            <a:ext cx="8229600" cy="2304257"/>
          </a:xfrm>
        </p:spPr>
        <p:txBody>
          <a:bodyPr>
            <a:normAutofit lnSpcReduction="10000"/>
          </a:bodyPr>
          <a:lstStyle/>
          <a:p>
            <a:pPr defTabSz="738188"/>
            <a:r>
              <a:rPr lang="en-US" sz="2000" i="1" dirty="0"/>
              <a:t>“Open for extension”</a:t>
            </a:r>
            <a:r>
              <a:rPr lang="en-US" sz="2000" dirty="0"/>
              <a:t>: You should expect requirements to change, and allow this change to be implemented through </a:t>
            </a:r>
            <a:r>
              <a:rPr lang="en-US" sz="2000" i="1" dirty="0"/>
              <a:t>extension</a:t>
            </a:r>
            <a:r>
              <a:rPr lang="en-US" sz="2000" dirty="0"/>
              <a:t> of the existing design.</a:t>
            </a:r>
          </a:p>
          <a:p>
            <a:pPr defTabSz="738188"/>
            <a:endParaRPr lang="en-US" sz="2000" dirty="0"/>
          </a:p>
          <a:p>
            <a:pPr defTabSz="738188"/>
            <a:r>
              <a:rPr lang="en-US" sz="2000" dirty="0"/>
              <a:t>“Closed for modification”: When the requirements calls for </a:t>
            </a:r>
            <a:r>
              <a:rPr lang="en-US" sz="2000" i="1" dirty="0"/>
              <a:t>extension</a:t>
            </a:r>
            <a:r>
              <a:rPr lang="en-US" sz="2000" dirty="0"/>
              <a:t> of your code, it should not be necessary to </a:t>
            </a:r>
            <a:r>
              <a:rPr lang="en-US" sz="2000" i="1" dirty="0"/>
              <a:t>modify </a:t>
            </a:r>
            <a:r>
              <a:rPr lang="en-US" sz="2000" dirty="0"/>
              <a:t>the existing implementation of the clients.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6122" y="1844824"/>
            <a:ext cx="6010214" cy="95410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 defTabSz="738188"/>
            <a:r>
              <a:rPr lang="en-US" sz="2800" i="1" dirty="0"/>
              <a:t>Software entities should be open for extension but closed for modification</a:t>
            </a:r>
            <a:endParaRPr lang="en-US" sz="28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644008" y="2348880"/>
            <a:ext cx="266429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419872" y="2708920"/>
            <a:ext cx="381642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2792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OCP dialog</a:t>
            </a:r>
          </a:p>
        </p:txBody>
      </p:sp>
      <p:sp>
        <p:nvSpPr>
          <p:cNvPr id="3" name="Rounded Rectangular Callout 2"/>
          <p:cNvSpPr/>
          <p:nvPr/>
        </p:nvSpPr>
        <p:spPr>
          <a:xfrm>
            <a:off x="611560" y="1628799"/>
            <a:ext cx="4176464" cy="592923"/>
          </a:xfrm>
          <a:prstGeom prst="wedgeRoundRectCallout">
            <a:avLst>
              <a:gd name="adj1" fmla="val -50248"/>
              <a:gd name="adj2" fmla="val 10482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738188"/>
            <a:r>
              <a:rPr lang="en-US" sz="1600" i="1" dirty="0"/>
              <a:t>You want to implement changes, but without changing things?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6732240" y="2314329"/>
            <a:ext cx="1584174" cy="377315"/>
          </a:xfrm>
          <a:prstGeom prst="wedgeRoundRectCallout">
            <a:avLst>
              <a:gd name="adj1" fmla="val 51223"/>
              <a:gd name="adj2" fmla="val 124809"/>
              <a:gd name="adj3" fmla="val 16667"/>
            </a:avLst>
          </a:prstGeom>
          <a:solidFill>
            <a:schemeClr val="accent3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738188"/>
            <a:r>
              <a:rPr lang="en-US" sz="1600" i="1" dirty="0"/>
              <a:t>Basically, yes…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609555" y="2940920"/>
            <a:ext cx="4176464" cy="592923"/>
          </a:xfrm>
          <a:prstGeom prst="wedgeRoundRectCallout">
            <a:avLst>
              <a:gd name="adj1" fmla="val -50248"/>
              <a:gd name="adj2" fmla="val 10482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738188"/>
            <a:r>
              <a:rPr lang="en-US" sz="1600" i="1" dirty="0"/>
              <a:t>WTF? Implementing changes without changing stuff?!?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4099220" y="3789040"/>
            <a:ext cx="4217195" cy="864096"/>
          </a:xfrm>
          <a:prstGeom prst="wedgeRoundRectCallout">
            <a:avLst>
              <a:gd name="adj1" fmla="val 51223"/>
              <a:gd name="adj2" fmla="val 124809"/>
              <a:gd name="adj3" fmla="val 16667"/>
            </a:avLst>
          </a:prstGeom>
          <a:solidFill>
            <a:schemeClr val="accent3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738188"/>
            <a:r>
              <a:rPr lang="en-US" sz="1600" i="1" dirty="0"/>
              <a:t>Yes. Implementing changes do no necessarily mean “changing”. It often means “extending”.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609555" y="4941168"/>
            <a:ext cx="1226141" cy="448907"/>
          </a:xfrm>
          <a:prstGeom prst="wedgeRoundRectCallout">
            <a:avLst>
              <a:gd name="adj1" fmla="val -50248"/>
              <a:gd name="adj2" fmla="val 10482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738188"/>
            <a:r>
              <a:rPr lang="en-US" sz="1600" i="1" dirty="0"/>
              <a:t>Sigh…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6012160" y="5589240"/>
            <a:ext cx="2304254" cy="377315"/>
          </a:xfrm>
          <a:prstGeom prst="wedgeRoundRectCallout">
            <a:avLst>
              <a:gd name="adj1" fmla="val 51223"/>
              <a:gd name="adj2" fmla="val 124809"/>
              <a:gd name="adj3" fmla="val 16667"/>
            </a:avLst>
          </a:prstGeom>
          <a:solidFill>
            <a:schemeClr val="accent3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738188"/>
            <a:r>
              <a:rPr lang="en-US" sz="1600" i="1" dirty="0"/>
              <a:t>Here, let me show you…</a:t>
            </a:r>
          </a:p>
        </p:txBody>
      </p:sp>
    </p:spTree>
    <p:extLst>
      <p:ext uri="{BB962C8B-B14F-4D97-AF65-F5344CB8AC3E}">
        <p14:creationId xmlns:p14="http://schemas.microsoft.com/office/powerpoint/2010/main" val="240709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Text Editor without OCP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4008" y="5143020"/>
            <a:ext cx="3638858" cy="1169551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YeOldPrinter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public void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PrintChar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(char c)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400" i="1" dirty="0">
                <a:latin typeface="Consolas" panose="020B0609020204030204" pitchFamily="49" charset="0"/>
                <a:cs typeface="Consolas" panose="020B0609020204030204" pitchFamily="49" charset="0"/>
              </a:rPr>
              <a:t>// .. print c on paper</a:t>
            </a:r>
            <a:br>
              <a:rPr lang="en-US" sz="1400" i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i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2273861" y="3645025"/>
            <a:ext cx="1082114" cy="8978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/>
            <a:stCxn id="11" idx="0"/>
          </p:cNvCxnSpPr>
          <p:nvPr/>
        </p:nvCxnSpPr>
        <p:spPr>
          <a:xfrm flipH="1" flipV="1">
            <a:off x="5788025" y="3645024"/>
            <a:ext cx="675412" cy="14979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619672" y="1412776"/>
            <a:ext cx="6408712" cy="10926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da-DK" sz="1300" b="1" dirty="0">
                <a:cs typeface="Consolas" pitchFamily="49" charset="0"/>
              </a:rPr>
              <a:t>TEXT EDITOR REQUIREMENTS SPECIFICATION, rev. 1.0</a:t>
            </a:r>
          </a:p>
          <a:p>
            <a:r>
              <a:rPr lang="da-DK" sz="1300" dirty="0">
                <a:cs typeface="Consolas" pitchFamily="49" charset="0"/>
              </a:rPr>
              <a:t>…</a:t>
            </a:r>
          </a:p>
          <a:p>
            <a:r>
              <a:rPr lang="da-DK" sz="1300" dirty="0">
                <a:cs typeface="Consolas" pitchFamily="49" charset="0"/>
              </a:rPr>
              <a:t>REQ 27: The </a:t>
            </a:r>
            <a:r>
              <a:rPr lang="da-DK" sz="1300" dirty="0" err="1">
                <a:cs typeface="Consolas" pitchFamily="49" charset="0"/>
              </a:rPr>
              <a:t>Text</a:t>
            </a:r>
            <a:r>
              <a:rPr lang="da-DK" sz="1300" dirty="0">
                <a:cs typeface="Consolas" pitchFamily="49" charset="0"/>
              </a:rPr>
              <a:t> Editor </a:t>
            </a:r>
            <a:r>
              <a:rPr lang="da-DK" sz="1300" dirty="0" err="1">
                <a:cs typeface="Consolas" pitchFamily="49" charset="0"/>
              </a:rPr>
              <a:t>shall</a:t>
            </a:r>
            <a:r>
              <a:rPr lang="da-DK" sz="1300" dirty="0">
                <a:cs typeface="Consolas" pitchFamily="49" charset="0"/>
              </a:rPr>
              <a:t> support </a:t>
            </a:r>
            <a:r>
              <a:rPr lang="da-DK" sz="1300" i="1" dirty="0" err="1">
                <a:cs typeface="Consolas" pitchFamily="49" charset="0"/>
              </a:rPr>
              <a:t>YeOlePrinter</a:t>
            </a:r>
            <a:r>
              <a:rPr lang="da-DK" sz="1300" dirty="0">
                <a:cs typeface="Consolas" pitchFamily="49" charset="0"/>
              </a:rPr>
              <a:t> for </a:t>
            </a:r>
            <a:r>
              <a:rPr lang="da-DK" sz="1300" dirty="0" err="1">
                <a:cs typeface="Consolas" pitchFamily="49" charset="0"/>
              </a:rPr>
              <a:t>printing</a:t>
            </a:r>
            <a:r>
              <a:rPr lang="da-DK" sz="1300" dirty="0">
                <a:cs typeface="Consolas" pitchFamily="49" charset="0"/>
              </a:rPr>
              <a:t> the </a:t>
            </a:r>
            <a:r>
              <a:rPr lang="da-DK" sz="1300" dirty="0" err="1">
                <a:cs typeface="Consolas" pitchFamily="49" charset="0"/>
              </a:rPr>
              <a:t>current</a:t>
            </a:r>
            <a:r>
              <a:rPr lang="da-DK" sz="1300" dirty="0">
                <a:cs typeface="Consolas" pitchFamily="49" charset="0"/>
              </a:rPr>
              <a:t> </a:t>
            </a:r>
            <a:r>
              <a:rPr lang="da-DK" sz="1300" dirty="0" err="1">
                <a:cs typeface="Consolas" pitchFamily="49" charset="0"/>
              </a:rPr>
              <a:t>text</a:t>
            </a:r>
            <a:r>
              <a:rPr lang="da-DK" sz="1300" dirty="0">
                <a:cs typeface="Consolas" pitchFamily="49" charset="0"/>
              </a:rPr>
              <a:t> on </a:t>
            </a:r>
            <a:r>
              <a:rPr lang="da-DK" sz="1300" dirty="0" err="1">
                <a:cs typeface="Consolas" pitchFamily="49" charset="0"/>
              </a:rPr>
              <a:t>paper</a:t>
            </a:r>
            <a:endParaRPr lang="da-DK" sz="1300" dirty="0">
              <a:cs typeface="Consolas" pitchFamily="49" charset="0"/>
            </a:endParaRPr>
          </a:p>
          <a:p>
            <a:r>
              <a:rPr lang="da-DK" sz="1300" dirty="0">
                <a:cs typeface="Consolas" pitchFamily="49" charset="0"/>
              </a:rPr>
              <a:t>…</a:t>
            </a:r>
          </a:p>
          <a:p>
            <a:r>
              <a:rPr lang="da-DK" sz="1300" dirty="0">
                <a:cs typeface="Consolas" pitchFamily="49" charset="0"/>
              </a:rPr>
              <a:t>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737" y="4352618"/>
            <a:ext cx="4022256" cy="224676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TextEditor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public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TextEditor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_printer = new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YeOldPrinter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public void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OnPrintButton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foreach (char c in text)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_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printer.PrintChar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(c);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975" y="3071813"/>
            <a:ext cx="2432050" cy="71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247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Text Editor without OCP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9650" y="5170993"/>
            <a:ext cx="3960439" cy="1169551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TheNewPrinter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public void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PrintLine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(string l)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400" i="1" dirty="0">
                <a:latin typeface="Consolas" panose="020B0609020204030204" pitchFamily="49" charset="0"/>
                <a:cs typeface="Consolas" panose="020B0609020204030204" pitchFamily="49" charset="0"/>
              </a:rPr>
              <a:t>// .. print l on paper</a:t>
            </a:r>
            <a:br>
              <a:rPr lang="en-US" sz="1400" i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i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9672" y="1412776"/>
            <a:ext cx="6408712" cy="10926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da-DK" sz="1300" b="1" dirty="0">
                <a:cs typeface="Consolas" pitchFamily="49" charset="0"/>
              </a:rPr>
              <a:t>TEXT EDITOR REQUIREMENTS SPECIFICATION, rev. </a:t>
            </a:r>
            <a:r>
              <a:rPr lang="da-DK" sz="1300" b="1" dirty="0">
                <a:solidFill>
                  <a:srgbClr val="FF0000"/>
                </a:solidFill>
                <a:cs typeface="Consolas" pitchFamily="49" charset="0"/>
              </a:rPr>
              <a:t>2.0</a:t>
            </a:r>
          </a:p>
          <a:p>
            <a:r>
              <a:rPr lang="da-DK" sz="1300" dirty="0">
                <a:cs typeface="Consolas" pitchFamily="49" charset="0"/>
              </a:rPr>
              <a:t>…</a:t>
            </a:r>
          </a:p>
          <a:p>
            <a:r>
              <a:rPr lang="da-DK" sz="1300" dirty="0">
                <a:cs typeface="Consolas" pitchFamily="49" charset="0"/>
              </a:rPr>
              <a:t>REQ 27: The </a:t>
            </a:r>
            <a:r>
              <a:rPr lang="da-DK" sz="1300" dirty="0" err="1">
                <a:cs typeface="Consolas" pitchFamily="49" charset="0"/>
              </a:rPr>
              <a:t>Text</a:t>
            </a:r>
            <a:r>
              <a:rPr lang="da-DK" sz="1300" dirty="0">
                <a:cs typeface="Consolas" pitchFamily="49" charset="0"/>
              </a:rPr>
              <a:t> Editor </a:t>
            </a:r>
            <a:r>
              <a:rPr lang="da-DK" sz="1300" dirty="0" err="1">
                <a:cs typeface="Consolas" pitchFamily="49" charset="0"/>
              </a:rPr>
              <a:t>shall</a:t>
            </a:r>
            <a:r>
              <a:rPr lang="da-DK" sz="1300" dirty="0">
                <a:cs typeface="Consolas" pitchFamily="49" charset="0"/>
              </a:rPr>
              <a:t> support </a:t>
            </a:r>
            <a:r>
              <a:rPr lang="da-DK" sz="1300" i="1" dirty="0" err="1">
                <a:cs typeface="Consolas" pitchFamily="49" charset="0"/>
              </a:rPr>
              <a:t>YeOlePrinter</a:t>
            </a:r>
            <a:r>
              <a:rPr lang="da-DK" sz="1300" dirty="0">
                <a:cs typeface="Consolas" pitchFamily="49" charset="0"/>
              </a:rPr>
              <a:t> for </a:t>
            </a:r>
            <a:r>
              <a:rPr lang="da-DK" sz="1300" dirty="0" err="1">
                <a:cs typeface="Consolas" pitchFamily="49" charset="0"/>
              </a:rPr>
              <a:t>printing</a:t>
            </a:r>
            <a:r>
              <a:rPr lang="da-DK" sz="1300" dirty="0">
                <a:cs typeface="Consolas" pitchFamily="49" charset="0"/>
              </a:rPr>
              <a:t> the </a:t>
            </a:r>
            <a:r>
              <a:rPr lang="da-DK" sz="1300" dirty="0" err="1">
                <a:cs typeface="Consolas" pitchFamily="49" charset="0"/>
              </a:rPr>
              <a:t>current</a:t>
            </a:r>
            <a:r>
              <a:rPr lang="da-DK" sz="1300" dirty="0">
                <a:cs typeface="Consolas" pitchFamily="49" charset="0"/>
              </a:rPr>
              <a:t> </a:t>
            </a:r>
            <a:r>
              <a:rPr lang="da-DK" sz="1300" dirty="0" err="1">
                <a:cs typeface="Consolas" pitchFamily="49" charset="0"/>
              </a:rPr>
              <a:t>text</a:t>
            </a:r>
            <a:r>
              <a:rPr lang="da-DK" sz="1300" dirty="0">
                <a:cs typeface="Consolas" pitchFamily="49" charset="0"/>
              </a:rPr>
              <a:t> on </a:t>
            </a:r>
            <a:r>
              <a:rPr lang="da-DK" sz="1300" dirty="0" err="1">
                <a:cs typeface="Consolas" pitchFamily="49" charset="0"/>
              </a:rPr>
              <a:t>paper</a:t>
            </a:r>
            <a:endParaRPr lang="da-DK" sz="1300" dirty="0">
              <a:cs typeface="Consolas" pitchFamily="49" charset="0"/>
            </a:endParaRPr>
          </a:p>
          <a:p>
            <a:r>
              <a:rPr lang="da-DK" sz="1300" dirty="0">
                <a:cs typeface="Consolas" pitchFamily="49" charset="0"/>
              </a:rPr>
              <a:t>REQ 27: The </a:t>
            </a:r>
            <a:r>
              <a:rPr lang="da-DK" sz="1300" dirty="0" err="1">
                <a:cs typeface="Consolas" pitchFamily="49" charset="0"/>
              </a:rPr>
              <a:t>Text</a:t>
            </a:r>
            <a:r>
              <a:rPr lang="da-DK" sz="1300" dirty="0">
                <a:cs typeface="Consolas" pitchFamily="49" charset="0"/>
              </a:rPr>
              <a:t> Editor </a:t>
            </a:r>
            <a:r>
              <a:rPr lang="da-DK" sz="1300" dirty="0" err="1">
                <a:cs typeface="Consolas" pitchFamily="49" charset="0"/>
              </a:rPr>
              <a:t>shall</a:t>
            </a:r>
            <a:r>
              <a:rPr lang="da-DK" sz="1300" dirty="0">
                <a:cs typeface="Consolas" pitchFamily="49" charset="0"/>
              </a:rPr>
              <a:t> support </a:t>
            </a:r>
            <a:r>
              <a:rPr lang="da-DK" sz="1300" i="1" dirty="0" err="1">
                <a:cs typeface="Consolas" pitchFamily="49" charset="0"/>
              </a:rPr>
              <a:t>TheNewPrinter</a:t>
            </a:r>
            <a:r>
              <a:rPr lang="da-DK" sz="1300" dirty="0">
                <a:cs typeface="Consolas" pitchFamily="49" charset="0"/>
              </a:rPr>
              <a:t> for </a:t>
            </a:r>
            <a:r>
              <a:rPr lang="da-DK" sz="1300" dirty="0" err="1">
                <a:cs typeface="Consolas" pitchFamily="49" charset="0"/>
              </a:rPr>
              <a:t>printing</a:t>
            </a:r>
            <a:r>
              <a:rPr lang="da-DK" sz="1300" dirty="0">
                <a:cs typeface="Consolas" pitchFamily="49" charset="0"/>
              </a:rPr>
              <a:t> the </a:t>
            </a:r>
            <a:r>
              <a:rPr lang="da-DK" sz="1300" dirty="0" err="1">
                <a:cs typeface="Consolas" pitchFamily="49" charset="0"/>
              </a:rPr>
              <a:t>current</a:t>
            </a:r>
            <a:r>
              <a:rPr lang="da-DK" sz="1300" dirty="0">
                <a:cs typeface="Consolas" pitchFamily="49" charset="0"/>
              </a:rPr>
              <a:t> </a:t>
            </a:r>
            <a:r>
              <a:rPr lang="da-DK" sz="1300" dirty="0" err="1">
                <a:cs typeface="Consolas" pitchFamily="49" charset="0"/>
              </a:rPr>
              <a:t>text</a:t>
            </a:r>
            <a:r>
              <a:rPr lang="da-DK" sz="1300" dirty="0">
                <a:cs typeface="Consolas" pitchFamily="49" charset="0"/>
              </a:rPr>
              <a:t> on </a:t>
            </a:r>
            <a:r>
              <a:rPr lang="da-DK" sz="1300" dirty="0" err="1">
                <a:cs typeface="Consolas" pitchFamily="49" charset="0"/>
              </a:rPr>
              <a:t>paper</a:t>
            </a:r>
            <a:endParaRPr lang="da-DK" sz="1300" dirty="0">
              <a:cs typeface="Consolas" pitchFamily="49" charset="0"/>
            </a:endParaRPr>
          </a:p>
          <a:p>
            <a:r>
              <a:rPr lang="da-DK" sz="1300" dirty="0">
                <a:cs typeface="Consolas" pitchFamily="49" charset="0"/>
              </a:rPr>
              <a:t>…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691680" y="1959079"/>
            <a:ext cx="5904656" cy="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cxnSpLocks/>
          </p:cNvCxnSpPr>
          <p:nvPr/>
        </p:nvCxnSpPr>
        <p:spPr>
          <a:xfrm flipV="1">
            <a:off x="2339752" y="3645024"/>
            <a:ext cx="1016223" cy="9662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23528" y="2696878"/>
            <a:ext cx="2880320" cy="12926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da-DK" sz="1300" dirty="0">
                <a:cs typeface="Consolas" pitchFamily="49" charset="0"/>
              </a:rPr>
              <a:t>Note </a:t>
            </a:r>
            <a:r>
              <a:rPr lang="da-DK" sz="1300" dirty="0" err="1">
                <a:cs typeface="Consolas" pitchFamily="49" charset="0"/>
              </a:rPr>
              <a:t>how</a:t>
            </a:r>
            <a:r>
              <a:rPr lang="da-DK" sz="1300" dirty="0">
                <a:cs typeface="Consolas" pitchFamily="49" charset="0"/>
              </a:rPr>
              <a:t> </a:t>
            </a:r>
            <a:r>
              <a:rPr lang="da-DK" sz="1300" dirty="0" err="1">
                <a:latin typeface="Consolas" pitchFamily="49" charset="0"/>
                <a:cs typeface="Consolas" pitchFamily="49" charset="0"/>
              </a:rPr>
              <a:t>TextEditor</a:t>
            </a:r>
            <a:r>
              <a:rPr lang="da-DK" sz="1300" dirty="0">
                <a:cs typeface="Consolas" pitchFamily="49" charset="0"/>
              </a:rPr>
              <a:t> has to </a:t>
            </a:r>
            <a:r>
              <a:rPr lang="da-DK" sz="1300" dirty="0" err="1">
                <a:cs typeface="Consolas" pitchFamily="49" charset="0"/>
              </a:rPr>
              <a:t>change</a:t>
            </a:r>
            <a:r>
              <a:rPr lang="da-DK" sz="1300" dirty="0">
                <a:cs typeface="Consolas" pitchFamily="49" charset="0"/>
              </a:rPr>
              <a:t> to support </a:t>
            </a:r>
            <a:r>
              <a:rPr lang="da-DK" sz="1300" dirty="0" err="1">
                <a:cs typeface="Consolas" pitchFamily="49" charset="0"/>
              </a:rPr>
              <a:t>requirements</a:t>
            </a:r>
            <a:r>
              <a:rPr lang="da-DK" sz="1300" dirty="0">
                <a:cs typeface="Consolas" pitchFamily="49" charset="0"/>
              </a:rPr>
              <a:t> for new printer</a:t>
            </a:r>
          </a:p>
          <a:p>
            <a:pPr>
              <a:tabLst>
                <a:tab pos="360363" algn="l"/>
              </a:tabLst>
            </a:pPr>
            <a:r>
              <a:rPr lang="da-DK" sz="1300" dirty="0">
                <a:cs typeface="Consolas" pitchFamily="49" charset="0"/>
                <a:sym typeface="Wingdings" pitchFamily="2" charset="2"/>
              </a:rPr>
              <a:t>	</a:t>
            </a:r>
            <a:r>
              <a:rPr lang="da-DK" sz="1300" dirty="0" err="1">
                <a:latin typeface="Consolas" pitchFamily="49" charset="0"/>
                <a:cs typeface="Consolas" pitchFamily="49" charset="0"/>
              </a:rPr>
              <a:t>TextEditor</a:t>
            </a:r>
            <a:r>
              <a:rPr lang="da-DK" sz="1300" dirty="0">
                <a:cs typeface="Consolas" pitchFamily="49" charset="0"/>
              </a:rPr>
              <a:t> not </a:t>
            </a:r>
            <a:r>
              <a:rPr lang="da-DK" sz="1300" dirty="0" err="1">
                <a:cs typeface="Consolas" pitchFamily="49" charset="0"/>
              </a:rPr>
              <a:t>closed</a:t>
            </a:r>
            <a:r>
              <a:rPr lang="da-DK" sz="1300" dirty="0">
                <a:cs typeface="Consolas" pitchFamily="49" charset="0"/>
              </a:rPr>
              <a:t> for 	</a:t>
            </a:r>
            <a:r>
              <a:rPr lang="da-DK" sz="1300" dirty="0" err="1">
                <a:cs typeface="Consolas" pitchFamily="49" charset="0"/>
              </a:rPr>
              <a:t>modifications</a:t>
            </a:r>
            <a:endParaRPr lang="da-DK" sz="1300" dirty="0">
              <a:cs typeface="Consolas" pitchFamily="49" charset="0"/>
            </a:endParaRPr>
          </a:p>
          <a:p>
            <a:pPr>
              <a:tabLst>
                <a:tab pos="360363" algn="l"/>
              </a:tabLst>
            </a:pPr>
            <a:r>
              <a:rPr lang="da-DK" sz="1300" dirty="0">
                <a:cs typeface="Consolas" pitchFamily="49" charset="0"/>
                <a:sym typeface="Wingdings" pitchFamily="2" charset="2"/>
              </a:rPr>
              <a:t>	</a:t>
            </a:r>
            <a:r>
              <a:rPr lang="da-DK" sz="1300" i="1" dirty="0" err="1">
                <a:latin typeface="Consolas" pitchFamily="49" charset="0"/>
                <a:cs typeface="Consolas" pitchFamily="49" charset="0"/>
              </a:rPr>
              <a:t>TextEditor</a:t>
            </a:r>
            <a:r>
              <a:rPr lang="da-DK" sz="1300" i="1" dirty="0">
                <a:cs typeface="Consolas" pitchFamily="49" charset="0"/>
              </a:rPr>
              <a:t> </a:t>
            </a:r>
            <a:r>
              <a:rPr lang="da-DK" sz="1300" i="1" dirty="0" err="1">
                <a:cs typeface="Consolas" pitchFamily="49" charset="0"/>
              </a:rPr>
              <a:t>violates</a:t>
            </a:r>
            <a:r>
              <a:rPr lang="da-DK" sz="1300" i="1" dirty="0">
                <a:cs typeface="Consolas" pitchFamily="49" charset="0"/>
              </a:rPr>
              <a:t> OCP!</a:t>
            </a:r>
          </a:p>
        </p:txBody>
      </p:sp>
      <p:cxnSp>
        <p:nvCxnSpPr>
          <p:cNvPr id="18" name="Straight Arrow Connector 17"/>
          <p:cNvCxnSpPr>
            <a:stCxn id="23" idx="2"/>
          </p:cNvCxnSpPr>
          <p:nvPr/>
        </p:nvCxnSpPr>
        <p:spPr>
          <a:xfrm flipH="1">
            <a:off x="1583668" y="3989540"/>
            <a:ext cx="180020" cy="553315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975" y="3071813"/>
            <a:ext cx="2432050" cy="71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624" y="3071813"/>
            <a:ext cx="946150" cy="71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1" name="Straight Arrow Connector 20"/>
          <p:cNvCxnSpPr>
            <a:cxnSpLocks/>
            <a:endCxn id="2050" idx="2"/>
          </p:cNvCxnSpPr>
          <p:nvPr/>
        </p:nvCxnSpPr>
        <p:spPr>
          <a:xfrm flipH="1" flipV="1">
            <a:off x="5422699" y="3789363"/>
            <a:ext cx="1232437" cy="13536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9CAA70A-12A4-0564-3D41-2D0E88E73D32}"/>
              </a:ext>
            </a:extLst>
          </p:cNvPr>
          <p:cNvSpPr txBox="1"/>
          <p:nvPr/>
        </p:nvSpPr>
        <p:spPr>
          <a:xfrm>
            <a:off x="4674916" y="5170992"/>
            <a:ext cx="3960440" cy="1169551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YeOldPrinter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public void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PrintChar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(char c)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400" i="1" dirty="0">
                <a:latin typeface="Consolas" panose="020B0609020204030204" pitchFamily="49" charset="0"/>
                <a:cs typeface="Consolas" panose="020B0609020204030204" pitchFamily="49" charset="0"/>
              </a:rPr>
              <a:t>// .. print c on paper</a:t>
            </a:r>
            <a:br>
              <a:rPr lang="en-US" sz="1400" i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i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4BB4F6-6CFE-65FB-9482-9C382401B1B7}"/>
              </a:ext>
            </a:extLst>
          </p:cNvPr>
          <p:cNvSpPr txBox="1"/>
          <p:nvPr/>
        </p:nvSpPr>
        <p:spPr>
          <a:xfrm>
            <a:off x="469236" y="4611231"/>
            <a:ext cx="4022256" cy="224676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TextEditor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public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TextEditor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_printer = new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TheNewPrinter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public void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OnPrintButton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foreach (char c in text)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_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printer.PrintChar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(c);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7B4A0D-5073-4171-8AD2-CCF241DB228D}"/>
              </a:ext>
            </a:extLst>
          </p:cNvPr>
          <p:cNvSpPr txBox="1"/>
          <p:nvPr/>
        </p:nvSpPr>
        <p:spPr>
          <a:xfrm>
            <a:off x="469236" y="4611231"/>
            <a:ext cx="4022256" cy="224676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TextEditor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public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TextEditor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_printer = new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YeOldPrinter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public void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OnPrintButton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foreach (char c in text)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_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printer.PrintChar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(c);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08168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3" grpId="0" animBg="1"/>
      <p:bldP spid="3" grpId="0" animBg="1"/>
      <p:bldP spid="8" grpId="1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OCP newbie dialog II</a:t>
            </a:r>
          </a:p>
        </p:txBody>
      </p:sp>
      <p:sp>
        <p:nvSpPr>
          <p:cNvPr id="3" name="Rounded Rectangular Callout 2"/>
          <p:cNvSpPr/>
          <p:nvPr/>
        </p:nvSpPr>
        <p:spPr>
          <a:xfrm>
            <a:off x="611560" y="1628799"/>
            <a:ext cx="4104456" cy="592923"/>
          </a:xfrm>
          <a:prstGeom prst="wedgeRoundRectCallout">
            <a:avLst>
              <a:gd name="adj1" fmla="val -50248"/>
              <a:gd name="adj2" fmla="val 10482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738188"/>
            <a:r>
              <a:rPr lang="en-US" sz="1600" i="1" dirty="0"/>
              <a:t>Damn…what went wrong? I didn’t want to change </a:t>
            </a:r>
            <a:r>
              <a:rPr lang="en-US" sz="1400" b="1" i="1" dirty="0" err="1">
                <a:latin typeface="Consolas" panose="020B0609020204030204" pitchFamily="49" charset="0"/>
                <a:cs typeface="Consolas" panose="020B0609020204030204" pitchFamily="49" charset="0"/>
              </a:rPr>
              <a:t>TextEditor</a:t>
            </a:r>
            <a:r>
              <a:rPr lang="en-US" sz="1600" i="1" dirty="0"/>
              <a:t>, only the printer it uses!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2915816" y="2564904"/>
            <a:ext cx="5400599" cy="881371"/>
          </a:xfrm>
          <a:prstGeom prst="wedgeRoundRectCallout">
            <a:avLst>
              <a:gd name="adj1" fmla="val 51223"/>
              <a:gd name="adj2" fmla="val 124809"/>
              <a:gd name="adj3" fmla="val 16667"/>
            </a:avLst>
          </a:prstGeom>
          <a:solidFill>
            <a:schemeClr val="accent3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738188"/>
            <a:r>
              <a:rPr lang="en-US" sz="1400" b="1" i="1" dirty="0" err="1">
                <a:latin typeface="Consolas" panose="020B0609020204030204" pitchFamily="49" charset="0"/>
                <a:cs typeface="Consolas" panose="020B0609020204030204" pitchFamily="49" charset="0"/>
              </a:rPr>
              <a:t>TextEditor</a:t>
            </a:r>
            <a:r>
              <a:rPr lang="en-US" sz="1400" b="1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i="1" dirty="0"/>
              <a:t>was too tightly coupled to </a:t>
            </a:r>
            <a:r>
              <a:rPr lang="en-US" sz="1400" b="1" i="1" dirty="0">
                <a:latin typeface="Consolas" panose="020B0609020204030204" pitchFamily="49" charset="0"/>
                <a:cs typeface="Consolas" panose="020B0609020204030204" pitchFamily="49" charset="0"/>
              </a:rPr>
              <a:t>Printer</a:t>
            </a:r>
            <a:r>
              <a:rPr lang="en-US" sz="1600" i="1" dirty="0"/>
              <a:t>, therefore extensions to the printer used rippled through –</a:t>
            </a:r>
            <a:r>
              <a:rPr lang="en-US" sz="1400" b="1" i="1" dirty="0" err="1">
                <a:latin typeface="Consolas" panose="020B0609020204030204" pitchFamily="49" charset="0"/>
                <a:cs typeface="Consolas" panose="020B0609020204030204" pitchFamily="49" charset="0"/>
              </a:rPr>
              <a:t>TextEditor</a:t>
            </a:r>
            <a:r>
              <a:rPr lang="en-US" sz="1400" b="1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i="1" dirty="0"/>
              <a:t>was not closed for modifications when changes were needed…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609554" y="3879985"/>
            <a:ext cx="5690637" cy="826222"/>
          </a:xfrm>
          <a:prstGeom prst="wedgeRoundRectCallout">
            <a:avLst>
              <a:gd name="adj1" fmla="val -50248"/>
              <a:gd name="adj2" fmla="val 10482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738188"/>
            <a:r>
              <a:rPr lang="en-US" sz="1600" i="1" dirty="0"/>
              <a:t>But how could I ever avoid that? It is a whole new printer I am trying to use. And what if the supported printer is changed again? Or if we need to support several printers?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4064612" y="5157192"/>
            <a:ext cx="4217195" cy="864096"/>
          </a:xfrm>
          <a:prstGeom prst="wedgeRoundRectCallout">
            <a:avLst>
              <a:gd name="adj1" fmla="val 52474"/>
              <a:gd name="adj2" fmla="val 69863"/>
              <a:gd name="adj3" fmla="val 16667"/>
            </a:avLst>
          </a:prstGeom>
          <a:solidFill>
            <a:schemeClr val="accent3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738188"/>
            <a:r>
              <a:rPr lang="en-US" sz="1600" i="1" dirty="0"/>
              <a:t>We could apply OCP and make </a:t>
            </a:r>
            <a:r>
              <a:rPr lang="en-US" sz="1400" b="1" i="1" dirty="0" err="1">
                <a:latin typeface="Consolas" panose="020B0609020204030204" pitchFamily="49" charset="0"/>
                <a:cs typeface="Consolas" panose="020B0609020204030204" pitchFamily="49" charset="0"/>
              </a:rPr>
              <a:t>TextEditor</a:t>
            </a:r>
            <a:r>
              <a:rPr lang="en-US" sz="1600" i="1" dirty="0"/>
              <a:t> open for extension (the new printer or printers) but closed for modifications…let me show you!</a:t>
            </a:r>
          </a:p>
        </p:txBody>
      </p:sp>
    </p:spTree>
    <p:extLst>
      <p:ext uri="{BB962C8B-B14F-4D97-AF65-F5344CB8AC3E}">
        <p14:creationId xmlns:p14="http://schemas.microsoft.com/office/powerpoint/2010/main" val="140893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Text Editor with OCP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4008" y="4576479"/>
            <a:ext cx="4392488" cy="224676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YeOldPrinter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: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Iprinter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public void Print(string text)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foreach (char c in text)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PrintChar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(c);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private void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PrintChar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(char c)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400" i="1" dirty="0">
                <a:latin typeface="Consolas" panose="020B0609020204030204" pitchFamily="49" charset="0"/>
                <a:cs typeface="Consolas" panose="020B0609020204030204" pitchFamily="49" charset="0"/>
              </a:rPr>
              <a:t>// .. print c on paper</a:t>
            </a:r>
            <a:br>
              <a:rPr lang="en-US" sz="1400" i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i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2273861" y="2996952"/>
            <a:ext cx="1024964" cy="154590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5148064" y="4151517"/>
            <a:ext cx="432048" cy="3913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619672" y="1412776"/>
            <a:ext cx="6408712" cy="10926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da-DK" sz="1300" b="1" dirty="0">
                <a:cs typeface="Consolas" pitchFamily="49" charset="0"/>
              </a:rPr>
              <a:t>TEXT EDITOR REQUIREMENTS SPECIFICATION, rev. 1.0</a:t>
            </a:r>
          </a:p>
          <a:p>
            <a:r>
              <a:rPr lang="da-DK" sz="1300" dirty="0">
                <a:cs typeface="Consolas" pitchFamily="49" charset="0"/>
              </a:rPr>
              <a:t>…</a:t>
            </a:r>
          </a:p>
          <a:p>
            <a:r>
              <a:rPr lang="da-DK" sz="1300" dirty="0">
                <a:cs typeface="Consolas" pitchFamily="49" charset="0"/>
              </a:rPr>
              <a:t>REQ 27: The </a:t>
            </a:r>
            <a:r>
              <a:rPr lang="da-DK" sz="1300" dirty="0" err="1">
                <a:cs typeface="Consolas" pitchFamily="49" charset="0"/>
              </a:rPr>
              <a:t>Text</a:t>
            </a:r>
            <a:r>
              <a:rPr lang="da-DK" sz="1300" dirty="0">
                <a:cs typeface="Consolas" pitchFamily="49" charset="0"/>
              </a:rPr>
              <a:t> Editor </a:t>
            </a:r>
            <a:r>
              <a:rPr lang="da-DK" sz="1300" dirty="0" err="1">
                <a:cs typeface="Consolas" pitchFamily="49" charset="0"/>
              </a:rPr>
              <a:t>shall</a:t>
            </a:r>
            <a:r>
              <a:rPr lang="da-DK" sz="1300" dirty="0">
                <a:cs typeface="Consolas" pitchFamily="49" charset="0"/>
              </a:rPr>
              <a:t> support </a:t>
            </a:r>
            <a:r>
              <a:rPr lang="da-DK" sz="1300" i="1" dirty="0" err="1">
                <a:cs typeface="Consolas" pitchFamily="49" charset="0"/>
              </a:rPr>
              <a:t>YeOlePrinter</a:t>
            </a:r>
            <a:r>
              <a:rPr lang="da-DK" sz="1300" dirty="0">
                <a:cs typeface="Consolas" pitchFamily="49" charset="0"/>
              </a:rPr>
              <a:t> for </a:t>
            </a:r>
            <a:r>
              <a:rPr lang="da-DK" sz="1300" dirty="0" err="1">
                <a:cs typeface="Consolas" pitchFamily="49" charset="0"/>
              </a:rPr>
              <a:t>printing</a:t>
            </a:r>
            <a:r>
              <a:rPr lang="da-DK" sz="1300" dirty="0">
                <a:cs typeface="Consolas" pitchFamily="49" charset="0"/>
              </a:rPr>
              <a:t> the </a:t>
            </a:r>
            <a:r>
              <a:rPr lang="da-DK" sz="1300" dirty="0" err="1">
                <a:cs typeface="Consolas" pitchFamily="49" charset="0"/>
              </a:rPr>
              <a:t>current</a:t>
            </a:r>
            <a:r>
              <a:rPr lang="da-DK" sz="1300" dirty="0">
                <a:cs typeface="Consolas" pitchFamily="49" charset="0"/>
              </a:rPr>
              <a:t> </a:t>
            </a:r>
            <a:r>
              <a:rPr lang="da-DK" sz="1300" dirty="0" err="1">
                <a:cs typeface="Consolas" pitchFamily="49" charset="0"/>
              </a:rPr>
              <a:t>text</a:t>
            </a:r>
            <a:r>
              <a:rPr lang="da-DK" sz="1300" dirty="0">
                <a:cs typeface="Consolas" pitchFamily="49" charset="0"/>
              </a:rPr>
              <a:t> on </a:t>
            </a:r>
            <a:r>
              <a:rPr lang="da-DK" sz="1300" dirty="0" err="1">
                <a:cs typeface="Consolas" pitchFamily="49" charset="0"/>
              </a:rPr>
              <a:t>paper</a:t>
            </a:r>
            <a:endParaRPr lang="da-DK" sz="1300" dirty="0">
              <a:cs typeface="Consolas" pitchFamily="49" charset="0"/>
            </a:endParaRPr>
          </a:p>
          <a:p>
            <a:r>
              <a:rPr lang="da-DK" sz="1300" dirty="0">
                <a:cs typeface="Consolas" pitchFamily="49" charset="0"/>
              </a:rPr>
              <a:t>…</a:t>
            </a:r>
          </a:p>
          <a:p>
            <a:r>
              <a:rPr lang="da-DK" sz="1300" dirty="0">
                <a:cs typeface="Consolas" pitchFamily="49" charset="0"/>
              </a:rPr>
              <a:t>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9704" y="4542855"/>
            <a:ext cx="4310289" cy="181588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TextEditor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public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TextEditor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IPrinter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printer)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_printer =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IPrinter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public void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OnPrintButton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_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printer.Print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(text);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Cloud Callout 2"/>
          <p:cNvSpPr/>
          <p:nvPr/>
        </p:nvSpPr>
        <p:spPr>
          <a:xfrm>
            <a:off x="107504" y="2283115"/>
            <a:ext cx="2678839" cy="1427673"/>
          </a:xfrm>
          <a:prstGeom prst="cloudCallout">
            <a:avLst>
              <a:gd name="adj1" fmla="val -29367"/>
              <a:gd name="adj2" fmla="val 78512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1300" dirty="0">
                <a:solidFill>
                  <a:schemeClr val="tx1"/>
                </a:solidFill>
                <a:cs typeface="Consolas" pitchFamily="49" charset="0"/>
              </a:rPr>
              <a:t>Hmm…</a:t>
            </a:r>
            <a:r>
              <a:rPr lang="da-DK" sz="1300" dirty="0" err="1">
                <a:solidFill>
                  <a:schemeClr val="tx1"/>
                </a:solidFill>
                <a:cs typeface="Consolas" pitchFamily="49" charset="0"/>
              </a:rPr>
              <a:t>this</a:t>
            </a:r>
            <a:r>
              <a:rPr lang="da-DK" sz="1300" dirty="0">
                <a:solidFill>
                  <a:schemeClr val="tx1"/>
                </a:solidFill>
                <a:cs typeface="Consolas" pitchFamily="49" charset="0"/>
              </a:rPr>
              <a:t> looks </a:t>
            </a:r>
            <a:r>
              <a:rPr lang="da-DK" sz="1300" dirty="0" err="1">
                <a:solidFill>
                  <a:schemeClr val="tx1"/>
                </a:solidFill>
                <a:cs typeface="Consolas" pitchFamily="49" charset="0"/>
              </a:rPr>
              <a:t>likely</a:t>
            </a:r>
            <a:r>
              <a:rPr lang="da-DK" sz="1300" dirty="0">
                <a:solidFill>
                  <a:schemeClr val="tx1"/>
                </a:solidFill>
                <a:cs typeface="Consolas" pitchFamily="49" charset="0"/>
              </a:rPr>
              <a:t> to </a:t>
            </a:r>
            <a:r>
              <a:rPr lang="da-DK" sz="1300" dirty="0" err="1">
                <a:solidFill>
                  <a:schemeClr val="tx1"/>
                </a:solidFill>
                <a:cs typeface="Consolas" pitchFamily="49" charset="0"/>
              </a:rPr>
              <a:t>change</a:t>
            </a:r>
            <a:r>
              <a:rPr lang="da-DK" sz="1300" dirty="0">
                <a:solidFill>
                  <a:schemeClr val="tx1"/>
                </a:solidFill>
                <a:cs typeface="Consolas" pitchFamily="49" charset="0"/>
              </a:rPr>
              <a:t> in the future. I am </a:t>
            </a:r>
            <a:r>
              <a:rPr lang="da-DK" sz="1300" dirty="0" err="1">
                <a:solidFill>
                  <a:schemeClr val="tx1"/>
                </a:solidFill>
                <a:cs typeface="Consolas" pitchFamily="49" charset="0"/>
              </a:rPr>
              <a:t>going</a:t>
            </a:r>
            <a:r>
              <a:rPr lang="da-DK" sz="1300" dirty="0">
                <a:solidFill>
                  <a:schemeClr val="tx1"/>
                </a:solidFill>
                <a:cs typeface="Consolas" pitchFamily="49" charset="0"/>
              </a:rPr>
              <a:t> to </a:t>
            </a:r>
            <a:r>
              <a:rPr lang="da-DK" sz="1300" dirty="0" err="1">
                <a:solidFill>
                  <a:schemeClr val="tx1"/>
                </a:solidFill>
                <a:cs typeface="Consolas" pitchFamily="49" charset="0"/>
              </a:rPr>
              <a:t>apply</a:t>
            </a:r>
            <a:r>
              <a:rPr lang="da-DK" sz="1300" dirty="0">
                <a:solidFill>
                  <a:schemeClr val="tx1"/>
                </a:solidFill>
                <a:cs typeface="Consolas" pitchFamily="49" charset="0"/>
              </a:rPr>
              <a:t> OCP!</a:t>
            </a:r>
            <a:endParaRPr lang="da-DK" sz="1300" i="1" dirty="0">
              <a:solidFill>
                <a:schemeClr val="tx1"/>
              </a:solidFill>
              <a:cs typeface="Consolas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825" y="2443163"/>
            <a:ext cx="2546350" cy="197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316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7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Text Editor with OCP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9672" y="1412776"/>
            <a:ext cx="6408712" cy="10926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da-DK" sz="1300" b="1" dirty="0">
                <a:cs typeface="Consolas" pitchFamily="49" charset="0"/>
              </a:rPr>
              <a:t>TEXT EDITOR REQUIREMENTS SPECIFICATION, rev. 2.0</a:t>
            </a:r>
          </a:p>
          <a:p>
            <a:r>
              <a:rPr lang="da-DK" sz="1300" dirty="0">
                <a:cs typeface="Consolas" pitchFamily="49" charset="0"/>
              </a:rPr>
              <a:t>…</a:t>
            </a:r>
          </a:p>
          <a:p>
            <a:r>
              <a:rPr lang="da-DK" sz="1300" dirty="0">
                <a:cs typeface="Consolas" pitchFamily="49" charset="0"/>
              </a:rPr>
              <a:t>REQ 27: The </a:t>
            </a:r>
            <a:r>
              <a:rPr lang="da-DK" sz="1300" dirty="0" err="1">
                <a:cs typeface="Consolas" pitchFamily="49" charset="0"/>
              </a:rPr>
              <a:t>Text</a:t>
            </a:r>
            <a:r>
              <a:rPr lang="da-DK" sz="1300" dirty="0">
                <a:cs typeface="Consolas" pitchFamily="49" charset="0"/>
              </a:rPr>
              <a:t> Editor </a:t>
            </a:r>
            <a:r>
              <a:rPr lang="da-DK" sz="1300" dirty="0" err="1">
                <a:cs typeface="Consolas" pitchFamily="49" charset="0"/>
              </a:rPr>
              <a:t>shall</a:t>
            </a:r>
            <a:r>
              <a:rPr lang="da-DK" sz="1300" dirty="0">
                <a:cs typeface="Consolas" pitchFamily="49" charset="0"/>
              </a:rPr>
              <a:t> support </a:t>
            </a:r>
            <a:r>
              <a:rPr lang="da-DK" sz="1300" i="1" dirty="0" err="1">
                <a:cs typeface="Consolas" pitchFamily="49" charset="0"/>
              </a:rPr>
              <a:t>YeOlePrinter</a:t>
            </a:r>
            <a:r>
              <a:rPr lang="da-DK" sz="1300" dirty="0">
                <a:cs typeface="Consolas" pitchFamily="49" charset="0"/>
              </a:rPr>
              <a:t> for </a:t>
            </a:r>
            <a:r>
              <a:rPr lang="da-DK" sz="1300" dirty="0" err="1">
                <a:cs typeface="Consolas" pitchFamily="49" charset="0"/>
              </a:rPr>
              <a:t>printing</a:t>
            </a:r>
            <a:r>
              <a:rPr lang="da-DK" sz="1300" dirty="0">
                <a:cs typeface="Consolas" pitchFamily="49" charset="0"/>
              </a:rPr>
              <a:t> the </a:t>
            </a:r>
            <a:r>
              <a:rPr lang="da-DK" sz="1300" dirty="0" err="1">
                <a:cs typeface="Consolas" pitchFamily="49" charset="0"/>
              </a:rPr>
              <a:t>current</a:t>
            </a:r>
            <a:r>
              <a:rPr lang="da-DK" sz="1300" dirty="0">
                <a:cs typeface="Consolas" pitchFamily="49" charset="0"/>
              </a:rPr>
              <a:t> </a:t>
            </a:r>
            <a:r>
              <a:rPr lang="da-DK" sz="1300" dirty="0" err="1">
                <a:cs typeface="Consolas" pitchFamily="49" charset="0"/>
              </a:rPr>
              <a:t>text</a:t>
            </a:r>
            <a:r>
              <a:rPr lang="da-DK" sz="1300" dirty="0">
                <a:cs typeface="Consolas" pitchFamily="49" charset="0"/>
              </a:rPr>
              <a:t> on </a:t>
            </a:r>
            <a:r>
              <a:rPr lang="da-DK" sz="1300" dirty="0" err="1">
                <a:cs typeface="Consolas" pitchFamily="49" charset="0"/>
              </a:rPr>
              <a:t>paper</a:t>
            </a:r>
            <a:endParaRPr lang="da-DK" sz="1300" dirty="0">
              <a:cs typeface="Consolas" pitchFamily="49" charset="0"/>
            </a:endParaRPr>
          </a:p>
          <a:p>
            <a:r>
              <a:rPr lang="da-DK" sz="1300" dirty="0">
                <a:cs typeface="Consolas" pitchFamily="49" charset="0"/>
              </a:rPr>
              <a:t>REQ 28: The </a:t>
            </a:r>
            <a:r>
              <a:rPr lang="da-DK" sz="1300" dirty="0" err="1">
                <a:cs typeface="Consolas" pitchFamily="49" charset="0"/>
              </a:rPr>
              <a:t>Text</a:t>
            </a:r>
            <a:r>
              <a:rPr lang="da-DK" sz="1300" dirty="0">
                <a:cs typeface="Consolas" pitchFamily="49" charset="0"/>
              </a:rPr>
              <a:t> Editor </a:t>
            </a:r>
            <a:r>
              <a:rPr lang="da-DK" sz="1300" dirty="0" err="1">
                <a:cs typeface="Consolas" pitchFamily="49" charset="0"/>
              </a:rPr>
              <a:t>shall</a:t>
            </a:r>
            <a:r>
              <a:rPr lang="da-DK" sz="1300" dirty="0">
                <a:cs typeface="Consolas" pitchFamily="49" charset="0"/>
              </a:rPr>
              <a:t> support </a:t>
            </a:r>
            <a:r>
              <a:rPr lang="da-DK" sz="1300" i="1" dirty="0" err="1">
                <a:cs typeface="Consolas" pitchFamily="49" charset="0"/>
              </a:rPr>
              <a:t>TheNewPrinter</a:t>
            </a:r>
            <a:r>
              <a:rPr lang="da-DK" sz="1300" dirty="0">
                <a:cs typeface="Consolas" pitchFamily="49" charset="0"/>
              </a:rPr>
              <a:t> for </a:t>
            </a:r>
            <a:r>
              <a:rPr lang="da-DK" sz="1300" dirty="0" err="1">
                <a:cs typeface="Consolas" pitchFamily="49" charset="0"/>
              </a:rPr>
              <a:t>printing</a:t>
            </a:r>
            <a:r>
              <a:rPr lang="da-DK" sz="1300" dirty="0">
                <a:cs typeface="Consolas" pitchFamily="49" charset="0"/>
              </a:rPr>
              <a:t> the </a:t>
            </a:r>
            <a:r>
              <a:rPr lang="da-DK" sz="1300" dirty="0" err="1">
                <a:cs typeface="Consolas" pitchFamily="49" charset="0"/>
              </a:rPr>
              <a:t>current</a:t>
            </a:r>
            <a:r>
              <a:rPr lang="da-DK" sz="1300" dirty="0">
                <a:cs typeface="Consolas" pitchFamily="49" charset="0"/>
              </a:rPr>
              <a:t> </a:t>
            </a:r>
            <a:r>
              <a:rPr lang="da-DK" sz="1300" dirty="0" err="1">
                <a:cs typeface="Consolas" pitchFamily="49" charset="0"/>
              </a:rPr>
              <a:t>text</a:t>
            </a:r>
            <a:r>
              <a:rPr lang="da-DK" sz="1300" dirty="0">
                <a:cs typeface="Consolas" pitchFamily="49" charset="0"/>
              </a:rPr>
              <a:t> on </a:t>
            </a:r>
            <a:r>
              <a:rPr lang="da-DK" sz="1300" dirty="0" err="1">
                <a:cs typeface="Consolas" pitchFamily="49" charset="0"/>
              </a:rPr>
              <a:t>paper</a:t>
            </a:r>
            <a:endParaRPr lang="da-DK" sz="1300" dirty="0">
              <a:cs typeface="Consolas" pitchFamily="49" charset="0"/>
            </a:endParaRPr>
          </a:p>
          <a:p>
            <a:r>
              <a:rPr lang="da-DK" sz="1300" dirty="0">
                <a:cs typeface="Consolas" pitchFamily="49" charset="0"/>
              </a:rPr>
              <a:t>…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691680" y="1959079"/>
            <a:ext cx="5904656" cy="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2273861" y="2996952"/>
            <a:ext cx="1024964" cy="154590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504" y="4542855"/>
            <a:ext cx="4320480" cy="181588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TextEditor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public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TextEditor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IPrinter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printer)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_printer =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IPrinter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public void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OnPrintButton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_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printer.Print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(text);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4008" y="4576479"/>
            <a:ext cx="4499992" cy="181588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TheNewPrinter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: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Iprinter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public void Print(string text) {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var lines =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text.Split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("\n");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foreach (var line in lines)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4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printLine</a:t>
            </a:r>
            <a:r>
              <a:rPr lang="en-US" sz="1400" i="1" dirty="0">
                <a:latin typeface="Consolas" panose="020B0609020204030204" pitchFamily="49" charset="0"/>
                <a:cs typeface="Consolas" panose="020B0609020204030204" pitchFamily="49" charset="0"/>
              </a:rPr>
              <a:t>(line);</a:t>
            </a:r>
            <a:br>
              <a:rPr lang="en-US" sz="1400" i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i="1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H="1" flipV="1">
            <a:off x="6530482" y="4141160"/>
            <a:ext cx="432048" cy="3913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loud Callout 24"/>
          <p:cNvSpPr/>
          <p:nvPr/>
        </p:nvSpPr>
        <p:spPr>
          <a:xfrm>
            <a:off x="6012160" y="2294466"/>
            <a:ext cx="2916324" cy="844188"/>
          </a:xfrm>
          <a:prstGeom prst="cloudCallout">
            <a:avLst>
              <a:gd name="adj1" fmla="val 31626"/>
              <a:gd name="adj2" fmla="val 122908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1300" dirty="0">
                <a:solidFill>
                  <a:schemeClr val="tx1"/>
                </a:solidFill>
                <a:cs typeface="Consolas" pitchFamily="49" charset="0"/>
              </a:rPr>
              <a:t>Ha! I </a:t>
            </a:r>
            <a:r>
              <a:rPr lang="da-DK" sz="1300" dirty="0" err="1">
                <a:solidFill>
                  <a:schemeClr val="tx1"/>
                </a:solidFill>
                <a:cs typeface="Consolas" pitchFamily="49" charset="0"/>
              </a:rPr>
              <a:t>knew</a:t>
            </a:r>
            <a:r>
              <a:rPr lang="da-DK" sz="1300" dirty="0">
                <a:solidFill>
                  <a:schemeClr val="tx1"/>
                </a:solidFill>
                <a:cs typeface="Consolas" pitchFamily="49" charset="0"/>
              </a:rPr>
              <a:t> it! </a:t>
            </a:r>
            <a:r>
              <a:rPr lang="da-DK" sz="1300" dirty="0" err="1">
                <a:solidFill>
                  <a:schemeClr val="tx1"/>
                </a:solidFill>
                <a:cs typeface="Consolas" pitchFamily="49" charset="0"/>
              </a:rPr>
              <a:t>Salesmen</a:t>
            </a:r>
            <a:r>
              <a:rPr lang="da-DK" sz="1300" dirty="0">
                <a:solidFill>
                  <a:schemeClr val="tx1"/>
                </a:solidFill>
                <a:cs typeface="Consolas" pitchFamily="49" charset="0"/>
              </a:rPr>
              <a:t> </a:t>
            </a:r>
            <a:r>
              <a:rPr lang="da-DK" sz="1300" dirty="0" err="1">
                <a:solidFill>
                  <a:schemeClr val="tx1"/>
                </a:solidFill>
                <a:cs typeface="Consolas" pitchFamily="49" charset="0"/>
              </a:rPr>
              <a:t>are</a:t>
            </a:r>
            <a:r>
              <a:rPr lang="da-DK" sz="1300" dirty="0">
                <a:solidFill>
                  <a:schemeClr val="tx1"/>
                </a:solidFill>
                <a:cs typeface="Consolas" pitchFamily="49" charset="0"/>
              </a:rPr>
              <a:t> </a:t>
            </a:r>
            <a:r>
              <a:rPr lang="da-DK" sz="1300" i="1" dirty="0">
                <a:solidFill>
                  <a:schemeClr val="tx1"/>
                </a:solidFill>
                <a:cs typeface="Consolas" pitchFamily="49" charset="0"/>
              </a:rPr>
              <a:t>bastards</a:t>
            </a:r>
            <a:r>
              <a:rPr lang="da-DK" sz="1300" dirty="0">
                <a:solidFill>
                  <a:schemeClr val="tx1"/>
                </a:solidFill>
                <a:cs typeface="Consolas" pitchFamily="49" charset="0"/>
              </a:rPr>
              <a:t>! Good </a:t>
            </a:r>
            <a:r>
              <a:rPr lang="da-DK" sz="1300" dirty="0" err="1">
                <a:solidFill>
                  <a:schemeClr val="tx1"/>
                </a:solidFill>
                <a:cs typeface="Consolas" pitchFamily="49" charset="0"/>
              </a:rPr>
              <a:t>thing</a:t>
            </a:r>
            <a:r>
              <a:rPr lang="da-DK" sz="1300" dirty="0">
                <a:solidFill>
                  <a:schemeClr val="tx1"/>
                </a:solidFill>
                <a:cs typeface="Consolas" pitchFamily="49" charset="0"/>
              </a:rPr>
              <a:t> I had OCP in </a:t>
            </a:r>
            <a:r>
              <a:rPr lang="da-DK" sz="1300" dirty="0" err="1">
                <a:solidFill>
                  <a:schemeClr val="tx1"/>
                </a:solidFill>
                <a:cs typeface="Consolas" pitchFamily="49" charset="0"/>
              </a:rPr>
              <a:t>place</a:t>
            </a:r>
            <a:r>
              <a:rPr lang="da-DK" sz="1300" dirty="0">
                <a:solidFill>
                  <a:schemeClr val="tx1"/>
                </a:solidFill>
                <a:cs typeface="Consolas" pitchFamily="49" charset="0"/>
              </a:rPr>
              <a:t>…</a:t>
            </a:r>
            <a:endParaRPr lang="da-DK" sz="1300" i="1" dirty="0">
              <a:solidFill>
                <a:schemeClr val="tx1"/>
              </a:solidFill>
              <a:cs typeface="Consolas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7504" y="2696878"/>
            <a:ext cx="3168353" cy="89255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da-DK" sz="1300" dirty="0">
                <a:cs typeface="Consolas" pitchFamily="49" charset="0"/>
              </a:rPr>
              <a:t>Note </a:t>
            </a:r>
            <a:r>
              <a:rPr lang="da-DK" sz="1300" dirty="0" err="1">
                <a:cs typeface="Consolas" pitchFamily="49" charset="0"/>
              </a:rPr>
              <a:t>how</a:t>
            </a:r>
            <a:r>
              <a:rPr lang="da-DK" sz="1300" dirty="0">
                <a:cs typeface="Consolas" pitchFamily="49" charset="0"/>
              </a:rPr>
              <a:t> </a:t>
            </a:r>
            <a:r>
              <a:rPr lang="da-DK" sz="1300" dirty="0" err="1">
                <a:latin typeface="Consolas" pitchFamily="49" charset="0"/>
                <a:cs typeface="Consolas" pitchFamily="49" charset="0"/>
              </a:rPr>
              <a:t>TextEditor</a:t>
            </a:r>
            <a:r>
              <a:rPr lang="da-DK" sz="1300" dirty="0">
                <a:cs typeface="Consolas" pitchFamily="49" charset="0"/>
              </a:rPr>
              <a:t> did not </a:t>
            </a:r>
            <a:r>
              <a:rPr lang="da-DK" sz="1300" dirty="0" err="1">
                <a:cs typeface="Consolas" pitchFamily="49" charset="0"/>
              </a:rPr>
              <a:t>change</a:t>
            </a:r>
            <a:r>
              <a:rPr lang="da-DK" sz="1300" dirty="0">
                <a:cs typeface="Consolas" pitchFamily="49" charset="0"/>
              </a:rPr>
              <a:t> to </a:t>
            </a:r>
            <a:r>
              <a:rPr lang="da-DK" sz="1300" dirty="0" err="1">
                <a:cs typeface="Consolas" pitchFamily="49" charset="0"/>
              </a:rPr>
              <a:t>use</a:t>
            </a:r>
            <a:r>
              <a:rPr lang="da-DK" sz="1300" dirty="0">
                <a:cs typeface="Consolas" pitchFamily="49" charset="0"/>
              </a:rPr>
              <a:t> the new printer</a:t>
            </a:r>
          </a:p>
          <a:p>
            <a:pPr>
              <a:tabLst>
                <a:tab pos="360363" algn="l"/>
              </a:tabLst>
            </a:pPr>
            <a:r>
              <a:rPr lang="da-DK" sz="1300" dirty="0">
                <a:cs typeface="Consolas" pitchFamily="49" charset="0"/>
                <a:sym typeface="Wingdings" pitchFamily="2" charset="2"/>
              </a:rPr>
              <a:t>	</a:t>
            </a:r>
            <a:r>
              <a:rPr lang="da-DK" sz="1300" dirty="0" err="1">
                <a:latin typeface="Consolas" pitchFamily="49" charset="0"/>
                <a:cs typeface="Consolas" pitchFamily="49" charset="0"/>
              </a:rPr>
              <a:t>TextEditor</a:t>
            </a:r>
            <a:r>
              <a:rPr lang="da-DK" sz="1300" dirty="0">
                <a:cs typeface="Consolas" pitchFamily="49" charset="0"/>
              </a:rPr>
              <a:t> </a:t>
            </a:r>
            <a:r>
              <a:rPr lang="da-DK" sz="1300" dirty="0" err="1">
                <a:cs typeface="Consolas" pitchFamily="49" charset="0"/>
              </a:rPr>
              <a:t>closed</a:t>
            </a:r>
            <a:r>
              <a:rPr lang="da-DK" sz="1300" dirty="0">
                <a:cs typeface="Consolas" pitchFamily="49" charset="0"/>
              </a:rPr>
              <a:t> for </a:t>
            </a:r>
            <a:r>
              <a:rPr lang="da-DK" sz="1300" dirty="0" err="1">
                <a:cs typeface="Consolas" pitchFamily="49" charset="0"/>
              </a:rPr>
              <a:t>modifications</a:t>
            </a:r>
            <a:endParaRPr lang="da-DK" sz="1300" dirty="0">
              <a:cs typeface="Consolas" pitchFamily="49" charset="0"/>
            </a:endParaRPr>
          </a:p>
          <a:p>
            <a:pPr>
              <a:tabLst>
                <a:tab pos="360363" algn="l"/>
              </a:tabLst>
            </a:pPr>
            <a:r>
              <a:rPr lang="da-DK" sz="1300" dirty="0">
                <a:cs typeface="Consolas" pitchFamily="49" charset="0"/>
                <a:sym typeface="Wingdings" pitchFamily="2" charset="2"/>
              </a:rPr>
              <a:t>	</a:t>
            </a:r>
            <a:r>
              <a:rPr lang="da-DK" sz="1300" i="1" dirty="0" err="1">
                <a:latin typeface="Consolas" pitchFamily="49" charset="0"/>
                <a:cs typeface="Consolas" pitchFamily="49" charset="0"/>
              </a:rPr>
              <a:t>TextEditor</a:t>
            </a:r>
            <a:r>
              <a:rPr lang="da-DK" sz="1300" i="1" dirty="0">
                <a:cs typeface="Consolas" pitchFamily="49" charset="0"/>
              </a:rPr>
              <a:t> </a:t>
            </a:r>
            <a:r>
              <a:rPr lang="da-DK" sz="1300" i="1" dirty="0" err="1">
                <a:cs typeface="Consolas" pitchFamily="49" charset="0"/>
              </a:rPr>
              <a:t>adheres</a:t>
            </a:r>
            <a:r>
              <a:rPr lang="da-DK" sz="1300" i="1" dirty="0">
                <a:cs typeface="Consolas" pitchFamily="49" charset="0"/>
              </a:rPr>
              <a:t> to OCP!</a:t>
            </a:r>
          </a:p>
        </p:txBody>
      </p:sp>
      <p:cxnSp>
        <p:nvCxnSpPr>
          <p:cNvPr id="27" name="Straight Arrow Connector 26"/>
          <p:cNvCxnSpPr>
            <a:stCxn id="26" idx="2"/>
          </p:cNvCxnSpPr>
          <p:nvPr/>
        </p:nvCxnSpPr>
        <p:spPr>
          <a:xfrm flipH="1">
            <a:off x="1367645" y="3589430"/>
            <a:ext cx="324036" cy="953425"/>
          </a:xfrm>
          <a:prstGeom prst="straightConnector1">
            <a:avLst/>
          </a:prstGeom>
          <a:ln w="28575">
            <a:solidFill>
              <a:schemeClr val="accent3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825" y="2443163"/>
            <a:ext cx="2546350" cy="197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3127131"/>
            <a:ext cx="1174750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4467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5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stlong.files.wordpress.com/2011/06/hammer_nai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28601"/>
            <a:ext cx="6264696" cy="6264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final word of caution</a:t>
            </a:r>
          </a:p>
        </p:txBody>
      </p:sp>
    </p:spTree>
    <p:extLst>
      <p:ext uri="{BB962C8B-B14F-4D97-AF65-F5344CB8AC3E}">
        <p14:creationId xmlns:p14="http://schemas.microsoft.com/office/powerpoint/2010/main" val="3936050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43000"/>
            <a:ext cx="60960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8627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2695</TotalTime>
  <Words>1106</Words>
  <Application>Microsoft Macintosh PowerPoint</Application>
  <PresentationFormat>On-screen Show (4:3)</PresentationFormat>
  <Paragraphs>96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AU Passata</vt:lpstr>
      <vt:lpstr>Calibri</vt:lpstr>
      <vt:lpstr>Consolas</vt:lpstr>
      <vt:lpstr>Office Theme</vt:lpstr>
      <vt:lpstr>PowerPoint Presentation</vt:lpstr>
      <vt:lpstr>The Open-Closed Principle (OCP)</vt:lpstr>
      <vt:lpstr>The SOLID acronym</vt:lpstr>
      <vt:lpstr>The Open-Closed Principle (OCP)</vt:lpstr>
      <vt:lpstr>The Open-Closed Principle (OCP)</vt:lpstr>
      <vt:lpstr>OCP dissected</vt:lpstr>
      <vt:lpstr>The OCP dialog</vt:lpstr>
      <vt:lpstr>Text Editor without OCP</vt:lpstr>
      <vt:lpstr>Text Editor without OCP</vt:lpstr>
      <vt:lpstr>The OCP newbie dialog II</vt:lpstr>
      <vt:lpstr>Text Editor with OCP</vt:lpstr>
      <vt:lpstr>Text Editor with OCP</vt:lpstr>
      <vt:lpstr>A final word of caution</vt:lpstr>
      <vt:lpstr>Questions?</vt:lpstr>
    </vt:vector>
  </TitlesOfParts>
  <Company>IHA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Steen Fredborg Krøyer</dc:creator>
  <cp:lastModifiedBy>Henrik Bitsch Kirk</cp:lastModifiedBy>
  <cp:revision>142</cp:revision>
  <dcterms:created xsi:type="dcterms:W3CDTF">2011-04-02T15:06:22Z</dcterms:created>
  <dcterms:modified xsi:type="dcterms:W3CDTF">2026-09-02T07:29:52Z</dcterms:modified>
</cp:coreProperties>
</file>