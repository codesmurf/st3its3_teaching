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5"/>
  </p:notesMasterIdLst>
  <p:sldIdLst>
    <p:sldId id="256" r:id="rId5"/>
    <p:sldId id="258" r:id="rId6"/>
    <p:sldId id="310" r:id="rId7"/>
    <p:sldId id="311" r:id="rId8"/>
    <p:sldId id="334" r:id="rId9"/>
    <p:sldId id="312" r:id="rId10"/>
    <p:sldId id="319" r:id="rId11"/>
    <p:sldId id="328" r:id="rId12"/>
    <p:sldId id="321" r:id="rId13"/>
    <p:sldId id="329" r:id="rId14"/>
    <p:sldId id="331" r:id="rId15"/>
    <p:sldId id="335" r:id="rId16"/>
    <p:sldId id="336" r:id="rId17"/>
    <p:sldId id="338" r:id="rId18"/>
    <p:sldId id="325" r:id="rId19"/>
    <p:sldId id="324" r:id="rId20"/>
    <p:sldId id="322" r:id="rId21"/>
    <p:sldId id="323" r:id="rId22"/>
    <p:sldId id="332" r:id="rId23"/>
    <p:sldId id="326" r:id="rId24"/>
    <p:sldId id="309" r:id="rId25"/>
    <p:sldId id="333" r:id="rId26"/>
    <p:sldId id="327" r:id="rId27"/>
    <p:sldId id="314" r:id="rId28"/>
    <p:sldId id="318" r:id="rId29"/>
    <p:sldId id="315" r:id="rId30"/>
    <p:sldId id="316" r:id="rId31"/>
    <p:sldId id="317" r:id="rId32"/>
    <p:sldId id="259" r:id="rId33"/>
    <p:sldId id="257" r:id="rId34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8229" autoAdjust="0"/>
  </p:normalViewPr>
  <p:slideViewPr>
    <p:cSldViewPr snapToGrid="0" showGuides="1">
      <p:cViewPr varScale="1">
        <p:scale>
          <a:sx n="72" d="100"/>
          <a:sy n="72" d="100"/>
        </p:scale>
        <p:origin x="3648" y="12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Sørensen Loft" userId="42949a3e-5aba-4e5d-931a-6d7b2cf6ec97" providerId="ADAL" clId="{FA52C119-A23A-4EFB-B8A5-4BE503ADFC14}"/>
    <pc:docChg chg="modSld">
      <pc:chgData name="Michael Sørensen Loft" userId="42949a3e-5aba-4e5d-931a-6d7b2cf6ec97" providerId="ADAL" clId="{FA52C119-A23A-4EFB-B8A5-4BE503ADFC14}" dt="2025-11-06T12:09:52.044" v="133" actId="20577"/>
      <pc:docMkLst>
        <pc:docMk/>
      </pc:docMkLst>
      <pc:sldChg chg="modSp mod">
        <pc:chgData name="Michael Sørensen Loft" userId="42949a3e-5aba-4e5d-931a-6d7b2cf6ec97" providerId="ADAL" clId="{FA52C119-A23A-4EFB-B8A5-4BE503ADFC14}" dt="2025-11-06T12:09:52.044" v="133" actId="20577"/>
        <pc:sldMkLst>
          <pc:docMk/>
          <pc:sldMk cId="4049658727" sldId="331"/>
        </pc:sldMkLst>
        <pc:spChg chg="mod">
          <ac:chgData name="Michael Sørensen Loft" userId="42949a3e-5aba-4e5d-931a-6d7b2cf6ec97" providerId="ADAL" clId="{FA52C119-A23A-4EFB-B8A5-4BE503ADFC14}" dt="2025-11-06T12:09:52.044" v="133" actId="20577"/>
          <ac:spMkLst>
            <pc:docMk/>
            <pc:sldMk cId="4049658727" sldId="331"/>
            <ac:spMk id="6" creationId="{00000000-0000-0000-0000-000000000000}"/>
          </ac:spMkLst>
        </pc:spChg>
      </pc:sldChg>
      <pc:sldChg chg="modSp mod">
        <pc:chgData name="Michael Sørensen Loft" userId="42949a3e-5aba-4e5d-931a-6d7b2cf6ec97" providerId="ADAL" clId="{FA52C119-A23A-4EFB-B8A5-4BE503ADFC14}" dt="2025-11-05T21:22:23.597" v="114" actId="20577"/>
        <pc:sldMkLst>
          <pc:docMk/>
          <pc:sldMk cId="2947379116" sldId="338"/>
        </pc:sldMkLst>
        <pc:spChg chg="mod">
          <ac:chgData name="Michael Sørensen Loft" userId="42949a3e-5aba-4e5d-931a-6d7b2cf6ec97" providerId="ADAL" clId="{FA52C119-A23A-4EFB-B8A5-4BE503ADFC14}" dt="2025-11-05T21:22:23.597" v="114" actId="20577"/>
          <ac:spMkLst>
            <pc:docMk/>
            <pc:sldMk cId="2947379116" sldId="338"/>
            <ac:spMk id="3" creationId="{00000000-0000-0000-0000-000000000000}"/>
          </ac:spMkLst>
        </pc:spChg>
        <pc:spChg chg="mod">
          <ac:chgData name="Michael Sørensen Loft" userId="42949a3e-5aba-4e5d-931a-6d7b2cf6ec97" providerId="ADAL" clId="{FA52C119-A23A-4EFB-B8A5-4BE503ADFC14}" dt="2025-11-05T21:22:21.955" v="113" actId="14100"/>
          <ac:spMkLst>
            <pc:docMk/>
            <pc:sldMk cId="2947379116" sldId="338"/>
            <ac:spMk id="6" creationId="{63CDE260-C006-D248-906A-EB7A6381FE8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D45B35-5990-4A22-9246-3EAB55A12994}" type="datetimeFigureOut">
              <a:rPr lang="da-DK" smtClean="0"/>
              <a:t>05-11-2025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AB761-37ED-4EFA-99FC-D346B55B115C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3903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3356143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Re-</a:t>
            </a:r>
            <a:r>
              <a:rPr lang="da-DK" dirty="0" err="1"/>
              <a:t>cap</a:t>
            </a:r>
            <a:r>
              <a:rPr lang="da-DK" dirty="0"/>
              <a:t> on </a:t>
            </a:r>
            <a:r>
              <a:rPr lang="da-DK" dirty="0" err="1"/>
              <a:t>some</a:t>
            </a:r>
            <a:r>
              <a:rPr lang="da-DK" dirty="0"/>
              <a:t> of the </a:t>
            </a:r>
            <a:r>
              <a:rPr lang="da-DK" dirty="0" err="1"/>
              <a:t>material</a:t>
            </a:r>
            <a:r>
              <a:rPr lang="da-DK" dirty="0"/>
              <a:t> from last time. </a:t>
            </a:r>
          </a:p>
          <a:p>
            <a:pPr lvl="1"/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baseline="0" dirty="0"/>
              <a:t> a </a:t>
            </a:r>
            <a:r>
              <a:rPr lang="da-DK" baseline="0" dirty="0" err="1"/>
              <a:t>way</a:t>
            </a:r>
            <a:r>
              <a:rPr lang="da-DK" baseline="0" dirty="0"/>
              <a:t> to </a:t>
            </a:r>
            <a:r>
              <a:rPr lang="da-DK" baseline="0" dirty="0" err="1"/>
              <a:t>build</a:t>
            </a:r>
            <a:r>
              <a:rPr lang="da-DK" baseline="0" dirty="0"/>
              <a:t> </a:t>
            </a:r>
            <a:r>
              <a:rPr lang="da-DK" baseline="0" dirty="0" err="1"/>
              <a:t>different</a:t>
            </a:r>
            <a:r>
              <a:rPr lang="da-DK" baseline="0" dirty="0"/>
              <a:t> versions of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84321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Re-</a:t>
            </a:r>
            <a:r>
              <a:rPr lang="da-DK" dirty="0" err="1"/>
              <a:t>cap</a:t>
            </a:r>
            <a:r>
              <a:rPr lang="da-DK" dirty="0"/>
              <a:t> from last </a:t>
            </a:r>
            <a:r>
              <a:rPr lang="da-DK" dirty="0" err="1"/>
              <a:t>weeks</a:t>
            </a:r>
            <a:r>
              <a:rPr lang="da-DK" dirty="0"/>
              <a:t> </a:t>
            </a:r>
            <a:r>
              <a:rPr lang="da-DK" dirty="0" err="1"/>
              <a:t>lesson</a:t>
            </a:r>
            <a:r>
              <a:rPr lang="da-DK" dirty="0"/>
              <a:t> in </a:t>
            </a:r>
            <a:r>
              <a:rPr lang="da-DK" dirty="0" err="1"/>
              <a:t>factories</a:t>
            </a:r>
            <a:r>
              <a:rPr lang="da-DK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B42F7E-C03E-4A75-829B-A53EDB2B71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0417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baseline="0" dirty="0" err="1"/>
              <a:t>Also</a:t>
            </a:r>
            <a:r>
              <a:rPr lang="da-DK" baseline="0" dirty="0"/>
              <a:t>, </a:t>
            </a:r>
            <a:r>
              <a:rPr lang="da-DK" baseline="0" dirty="0" err="1"/>
              <a:t>sometimes</a:t>
            </a:r>
            <a:r>
              <a:rPr lang="da-DK" baseline="0" dirty="0"/>
              <a:t>, the user is </a:t>
            </a:r>
            <a:r>
              <a:rPr lang="da-DK" baseline="0" dirty="0" err="1"/>
              <a:t>allowed</a:t>
            </a:r>
            <a:r>
              <a:rPr lang="da-DK" baseline="0" dirty="0"/>
              <a:t> to </a:t>
            </a:r>
            <a:r>
              <a:rPr lang="da-DK" baseline="0" dirty="0" err="1"/>
              <a:t>configure</a:t>
            </a:r>
            <a:r>
              <a:rPr lang="da-DK" baseline="0" dirty="0"/>
              <a:t> </a:t>
            </a:r>
            <a:r>
              <a:rPr lang="da-DK" baseline="0" dirty="0" err="1"/>
              <a:t>our</a:t>
            </a:r>
            <a:r>
              <a:rPr lang="da-DK" baseline="0" dirty="0"/>
              <a:t> software and </a:t>
            </a:r>
            <a:r>
              <a:rPr lang="da-DK" baseline="0" dirty="0" err="1"/>
              <a:t>we</a:t>
            </a:r>
            <a:r>
              <a:rPr lang="da-DK" baseline="0" dirty="0"/>
              <a:t> </a:t>
            </a:r>
            <a:r>
              <a:rPr lang="da-DK" baseline="0" dirty="0" err="1"/>
              <a:t>don’t</a:t>
            </a:r>
            <a:r>
              <a:rPr lang="da-DK" baseline="0" dirty="0"/>
              <a:t> </a:t>
            </a:r>
            <a:r>
              <a:rPr lang="da-DK" baseline="0" dirty="0" err="1"/>
              <a:t>want</a:t>
            </a:r>
            <a:r>
              <a:rPr lang="da-DK" baseline="0" dirty="0"/>
              <a:t> to do </a:t>
            </a:r>
            <a:r>
              <a:rPr lang="da-DK" baseline="0" dirty="0" err="1"/>
              <a:t>that</a:t>
            </a:r>
            <a:r>
              <a:rPr lang="da-DK" baseline="0" dirty="0"/>
              <a:t> </a:t>
            </a:r>
            <a:r>
              <a:rPr lang="da-DK" baseline="0" dirty="0" err="1"/>
              <a:t>every</a:t>
            </a:r>
            <a:r>
              <a:rPr lang="da-DK" baseline="0" dirty="0"/>
              <a:t> time the program starts.</a:t>
            </a:r>
            <a:endParaRPr lang="da-DK" dirty="0"/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03281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System.Configuration</a:t>
            </a:r>
            <a:r>
              <a:rPr lang="da-DK" baseline="0" dirty="0"/>
              <a:t> is the old/</a:t>
            </a:r>
            <a:r>
              <a:rPr lang="da-DK" baseline="0" dirty="0" err="1"/>
              <a:t>classic</a:t>
            </a:r>
            <a:r>
              <a:rPr lang="da-DK" baseline="0" dirty="0"/>
              <a:t> </a:t>
            </a:r>
            <a:r>
              <a:rPr lang="da-DK" baseline="0" dirty="0" err="1"/>
              <a:t>way</a:t>
            </a:r>
            <a:r>
              <a:rPr lang="da-DK" baseline="0" dirty="0"/>
              <a:t> of </a:t>
            </a:r>
            <a:r>
              <a:rPr lang="da-DK" baseline="0" dirty="0" err="1"/>
              <a:t>accessing</a:t>
            </a:r>
            <a:r>
              <a:rPr lang="da-DK" baseline="0" dirty="0"/>
              <a:t> </a:t>
            </a:r>
            <a:r>
              <a:rPr lang="da-DK" baseline="0" dirty="0" err="1"/>
              <a:t>key</a:t>
            </a:r>
            <a:r>
              <a:rPr lang="da-DK" baseline="0" dirty="0"/>
              <a:t>/</a:t>
            </a:r>
            <a:r>
              <a:rPr lang="da-DK" baseline="0" dirty="0" err="1"/>
              <a:t>value</a:t>
            </a:r>
            <a:r>
              <a:rPr lang="da-DK" baseline="0" dirty="0"/>
              <a:t> pairs in xml files.</a:t>
            </a:r>
          </a:p>
          <a:p>
            <a:r>
              <a:rPr lang="da-DK" baseline="0" dirty="0" err="1"/>
              <a:t>Microsoft.Extensions.Configuration</a:t>
            </a:r>
            <a:r>
              <a:rPr lang="da-DK" baseline="0" dirty="0"/>
              <a:t> has </a:t>
            </a:r>
            <a:r>
              <a:rPr lang="da-DK" baseline="0" dirty="0" err="1"/>
              <a:t>been</a:t>
            </a:r>
            <a:r>
              <a:rPr lang="da-DK" baseline="0" dirty="0"/>
              <a:t> </a:t>
            </a:r>
            <a:r>
              <a:rPr lang="da-DK" baseline="0" dirty="0" err="1"/>
              <a:t>developed</a:t>
            </a:r>
            <a:r>
              <a:rPr lang="da-DK" baseline="0" dirty="0"/>
              <a:t> in the ASP.NET Core </a:t>
            </a:r>
            <a:r>
              <a:rPr lang="da-DK" baseline="0" dirty="0" err="1"/>
              <a:t>context</a:t>
            </a:r>
            <a:r>
              <a:rPr lang="da-DK" baseline="0" dirty="0"/>
              <a:t> and is a </a:t>
            </a:r>
            <a:r>
              <a:rPr lang="da-DK" baseline="0" dirty="0" err="1"/>
              <a:t>great</a:t>
            </a:r>
            <a:r>
              <a:rPr lang="da-DK" baseline="0" dirty="0"/>
              <a:t> </a:t>
            </a:r>
            <a:r>
              <a:rPr lang="da-DK" baseline="0" dirty="0" err="1"/>
              <a:t>way</a:t>
            </a:r>
            <a:r>
              <a:rPr lang="da-DK" baseline="0" dirty="0"/>
              <a:t> of </a:t>
            </a:r>
            <a:r>
              <a:rPr lang="da-DK" baseline="0" dirty="0" err="1"/>
              <a:t>accessing</a:t>
            </a:r>
            <a:r>
              <a:rPr lang="da-DK" baseline="0" dirty="0"/>
              <a:t> </a:t>
            </a:r>
            <a:r>
              <a:rPr lang="da-DK" baseline="0" dirty="0" err="1"/>
              <a:t>configurations</a:t>
            </a:r>
            <a:r>
              <a:rPr lang="da-DK" baseline="0" dirty="0"/>
              <a:t> in multiple formats. </a:t>
            </a:r>
            <a:r>
              <a:rPr lang="da-DK" baseline="0" dirty="0" err="1"/>
              <a:t>Unfortunately</a:t>
            </a:r>
            <a:r>
              <a:rPr lang="da-DK" baseline="0" dirty="0"/>
              <a:t>, </a:t>
            </a:r>
            <a:r>
              <a:rPr lang="da-DK" baseline="0" dirty="0" err="1"/>
              <a:t>there</a:t>
            </a:r>
            <a:r>
              <a:rPr lang="da-DK" baseline="0" dirty="0"/>
              <a:t> is no support for </a:t>
            </a:r>
            <a:r>
              <a:rPr lang="da-DK" baseline="0" dirty="0" err="1"/>
              <a:t>writing</a:t>
            </a:r>
            <a:r>
              <a:rPr lang="da-DK" baseline="0" dirty="0"/>
              <a:t> to the </a:t>
            </a:r>
            <a:r>
              <a:rPr lang="da-DK" baseline="0" dirty="0" err="1"/>
              <a:t>configuration</a:t>
            </a:r>
            <a:r>
              <a:rPr lang="da-DK" baseline="0" dirty="0"/>
              <a:t> files.</a:t>
            </a:r>
          </a:p>
          <a:p>
            <a:r>
              <a:rPr lang="da-DK" baseline="0" dirty="0" err="1"/>
              <a:t>XMLSerializer</a:t>
            </a:r>
            <a:r>
              <a:rPr lang="da-DK" baseline="0" dirty="0"/>
              <a:t> </a:t>
            </a:r>
            <a:r>
              <a:rPr lang="da-DK" baseline="0" dirty="0" err="1"/>
              <a:t>can</a:t>
            </a:r>
            <a:r>
              <a:rPr lang="da-DK" baseline="0" dirty="0"/>
              <a:t> </a:t>
            </a:r>
            <a:r>
              <a:rPr lang="da-DK" baseline="0" dirty="0" err="1"/>
              <a:t>create</a:t>
            </a:r>
            <a:r>
              <a:rPr lang="da-DK" baseline="0" dirty="0"/>
              <a:t> an XML file from an </a:t>
            </a:r>
            <a:r>
              <a:rPr lang="da-DK" baseline="0" dirty="0" err="1"/>
              <a:t>object</a:t>
            </a:r>
            <a:r>
              <a:rPr lang="da-DK" baseline="0" dirty="0"/>
              <a:t> </a:t>
            </a:r>
            <a:r>
              <a:rPr lang="da-DK" baseline="0" dirty="0" err="1"/>
              <a:t>graph</a:t>
            </a:r>
            <a:r>
              <a:rPr lang="da-DK" baseline="0" dirty="0"/>
              <a:t> and load it back </a:t>
            </a:r>
            <a:r>
              <a:rPr lang="da-DK" baseline="0" dirty="0" err="1"/>
              <a:t>into</a:t>
            </a:r>
            <a:r>
              <a:rPr lang="da-DK" baseline="0" dirty="0"/>
              <a:t> the </a:t>
            </a:r>
            <a:r>
              <a:rPr lang="da-DK" baseline="0" dirty="0" err="1"/>
              <a:t>objects</a:t>
            </a:r>
            <a:r>
              <a:rPr lang="da-DK" baseline="0" dirty="0"/>
              <a:t>.</a:t>
            </a:r>
          </a:p>
          <a:p>
            <a:r>
              <a:rPr lang="da-DK" baseline="0" dirty="0" err="1"/>
              <a:t>DataContractJsonSerializer</a:t>
            </a:r>
            <a:r>
              <a:rPr lang="da-DK" baseline="0" dirty="0"/>
              <a:t> </a:t>
            </a:r>
            <a:r>
              <a:rPr lang="da-DK" baseline="0" dirty="0" err="1"/>
              <a:t>can</a:t>
            </a:r>
            <a:r>
              <a:rPr lang="da-DK" baseline="0" dirty="0"/>
              <a:t> </a:t>
            </a:r>
            <a:r>
              <a:rPr lang="da-DK" baseline="0" dirty="0" err="1"/>
              <a:t>also</a:t>
            </a:r>
            <a:r>
              <a:rPr lang="da-DK" baseline="0" dirty="0"/>
              <a:t> load/save an </a:t>
            </a:r>
            <a:r>
              <a:rPr lang="da-DK" baseline="0" dirty="0" err="1"/>
              <a:t>object</a:t>
            </a:r>
            <a:r>
              <a:rPr lang="da-DK" baseline="0" dirty="0"/>
              <a:t> </a:t>
            </a:r>
            <a:r>
              <a:rPr lang="da-DK" baseline="0" dirty="0" err="1"/>
              <a:t>graph</a:t>
            </a:r>
            <a:r>
              <a:rPr lang="da-DK" baseline="0" dirty="0"/>
              <a:t>.</a:t>
            </a:r>
            <a:endParaRPr lang="da-DK" dirty="0"/>
          </a:p>
          <a:p>
            <a:endParaRPr lang="da-DK" dirty="0"/>
          </a:p>
          <a:p>
            <a:r>
              <a:rPr lang="da-DK" dirty="0"/>
              <a:t>https://www.codeproject.com/Articles/1173468/Four-Ways-to-Read-Configuration-Setting-in-Csharp</a:t>
            </a:r>
          </a:p>
          <a:p>
            <a:r>
              <a:rPr lang="da-DK" dirty="0"/>
              <a:t>http://codesamplez.com/programming/serialize-deserialize-c-sharp-objects</a:t>
            </a:r>
          </a:p>
          <a:p>
            <a:r>
              <a:rPr lang="da-DK" dirty="0"/>
              <a:t>https://docs.microsoft.com/en-us/dotnet/framework/wcf/feature-details/how-to-serialize-and-deserialize-json-data</a:t>
            </a:r>
          </a:p>
          <a:p>
            <a:r>
              <a:rPr lang="da-DK" dirty="0"/>
              <a:t>https://docs.microsoft.com/en-us/aspnet/core/fundamentals/configuration?tabs=basicconfiguration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09966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72463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23743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24198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81972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16326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7863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Don’t</a:t>
            </a:r>
            <a:r>
              <a:rPr lang="da-DK" dirty="0"/>
              <a:t> </a:t>
            </a:r>
            <a:r>
              <a:rPr lang="da-DK" dirty="0" err="1"/>
              <a:t>overwrite</a:t>
            </a:r>
            <a:r>
              <a:rPr lang="da-DK" dirty="0"/>
              <a:t>:</a:t>
            </a:r>
          </a:p>
          <a:p>
            <a:pPr lvl="1"/>
            <a:r>
              <a:rPr lang="da-DK" dirty="0"/>
              <a:t>The bad</a:t>
            </a:r>
            <a:r>
              <a:rPr lang="da-DK" baseline="0" dirty="0"/>
              <a:t> file </a:t>
            </a:r>
            <a:r>
              <a:rPr lang="da-DK" baseline="0" dirty="0" err="1"/>
              <a:t>may</a:t>
            </a:r>
            <a:r>
              <a:rPr lang="da-DK" baseline="0" dirty="0"/>
              <a:t> just </a:t>
            </a:r>
            <a:r>
              <a:rPr lang="da-DK" baseline="0" dirty="0" err="1"/>
              <a:t>be</a:t>
            </a:r>
            <a:r>
              <a:rPr lang="da-DK" baseline="0" dirty="0"/>
              <a:t> a </a:t>
            </a:r>
            <a:r>
              <a:rPr lang="da-DK" baseline="0" dirty="0" err="1"/>
              <a:t>little</a:t>
            </a:r>
            <a:r>
              <a:rPr lang="da-DK" baseline="0" dirty="0"/>
              <a:t> </a:t>
            </a:r>
            <a:r>
              <a:rPr lang="da-DK" baseline="0" dirty="0" err="1"/>
              <a:t>malformed</a:t>
            </a:r>
            <a:r>
              <a:rPr lang="da-DK" baseline="0" dirty="0"/>
              <a:t> and the user </a:t>
            </a:r>
            <a:r>
              <a:rPr lang="da-DK" baseline="0" dirty="0" err="1"/>
              <a:t>may</a:t>
            </a:r>
            <a:r>
              <a:rPr lang="da-DK" baseline="0" dirty="0"/>
              <a:t> have </a:t>
            </a:r>
            <a:r>
              <a:rPr lang="da-DK" baseline="0" dirty="0" err="1"/>
              <a:t>spent</a:t>
            </a:r>
            <a:r>
              <a:rPr lang="da-DK" baseline="0" dirty="0"/>
              <a:t> a long time </a:t>
            </a:r>
            <a:r>
              <a:rPr lang="da-DK" baseline="0" dirty="0" err="1"/>
              <a:t>configuring</a:t>
            </a:r>
            <a:r>
              <a:rPr lang="da-DK" baseline="0" dirty="0"/>
              <a:t> the </a:t>
            </a:r>
            <a:r>
              <a:rPr lang="da-DK" baseline="0" dirty="0" err="1"/>
              <a:t>application</a:t>
            </a:r>
            <a:r>
              <a:rPr lang="da-DK" baseline="0" dirty="0"/>
              <a:t>. </a:t>
            </a:r>
            <a:r>
              <a:rPr lang="da-DK" baseline="0" dirty="0" err="1"/>
              <a:t>You</a:t>
            </a:r>
            <a:r>
              <a:rPr lang="da-DK" baseline="0" dirty="0"/>
              <a:t> </a:t>
            </a:r>
            <a:r>
              <a:rPr lang="da-DK" baseline="0" dirty="0" err="1"/>
              <a:t>don’t</a:t>
            </a:r>
            <a:r>
              <a:rPr lang="da-DK" baseline="0" dirty="0"/>
              <a:t> </a:t>
            </a:r>
            <a:r>
              <a:rPr lang="da-DK" baseline="0" dirty="0" err="1"/>
              <a:t>want</a:t>
            </a:r>
            <a:r>
              <a:rPr lang="da-DK" baseline="0" dirty="0"/>
              <a:t> to </a:t>
            </a:r>
            <a:r>
              <a:rPr lang="da-DK" baseline="0" dirty="0" err="1"/>
              <a:t>throw</a:t>
            </a:r>
            <a:r>
              <a:rPr lang="da-DK" baseline="0" dirty="0"/>
              <a:t> </a:t>
            </a:r>
            <a:r>
              <a:rPr lang="da-DK" baseline="0" dirty="0" err="1"/>
              <a:t>that</a:t>
            </a:r>
            <a:r>
              <a:rPr lang="da-DK" baseline="0" dirty="0"/>
              <a:t> </a:t>
            </a:r>
            <a:r>
              <a:rPr lang="da-DK" baseline="0" dirty="0" err="1"/>
              <a:t>away</a:t>
            </a:r>
            <a:r>
              <a:rPr lang="da-DK" baseline="0" dirty="0"/>
              <a:t>, just </a:t>
            </a:r>
            <a:r>
              <a:rPr lang="da-DK" baseline="0" dirty="0" err="1"/>
              <a:t>because</a:t>
            </a:r>
            <a:r>
              <a:rPr lang="da-DK" baseline="0" dirty="0"/>
              <a:t> of a </a:t>
            </a:r>
            <a:r>
              <a:rPr lang="da-DK" baseline="0" dirty="0" err="1"/>
              <a:t>spelling</a:t>
            </a:r>
            <a:r>
              <a:rPr lang="da-DK" baseline="0" dirty="0"/>
              <a:t> </a:t>
            </a:r>
            <a:r>
              <a:rPr lang="da-DK" baseline="0" dirty="0" err="1"/>
              <a:t>error</a:t>
            </a:r>
            <a:r>
              <a:rPr lang="da-DK" baseline="0" dirty="0"/>
              <a:t> or a missing end tag.</a:t>
            </a:r>
          </a:p>
          <a:p>
            <a:pPr lvl="1"/>
            <a:r>
              <a:rPr lang="da-DK" baseline="0" dirty="0" err="1"/>
              <a:t>Also</a:t>
            </a:r>
            <a:r>
              <a:rPr lang="da-DK" baseline="0" dirty="0"/>
              <a:t>, the default </a:t>
            </a:r>
            <a:r>
              <a:rPr lang="da-DK" baseline="0" dirty="0" err="1"/>
              <a:t>configuration</a:t>
            </a:r>
            <a:r>
              <a:rPr lang="da-DK" baseline="0" dirty="0"/>
              <a:t> </a:t>
            </a:r>
            <a:r>
              <a:rPr lang="da-DK" baseline="0" dirty="0" err="1"/>
              <a:t>may</a:t>
            </a:r>
            <a:r>
              <a:rPr lang="da-DK" baseline="0" dirty="0"/>
              <a:t> NOT </a:t>
            </a:r>
            <a:r>
              <a:rPr lang="da-DK" baseline="0" dirty="0" err="1"/>
              <a:t>be</a:t>
            </a:r>
            <a:r>
              <a:rPr lang="da-DK" baseline="0" dirty="0"/>
              <a:t> </a:t>
            </a:r>
            <a:r>
              <a:rPr lang="da-DK" baseline="0" dirty="0" err="1"/>
              <a:t>what</a:t>
            </a:r>
            <a:r>
              <a:rPr lang="da-DK" baseline="0" dirty="0"/>
              <a:t> a user </a:t>
            </a:r>
            <a:r>
              <a:rPr lang="da-DK" baseline="0" dirty="0" err="1"/>
              <a:t>wants</a:t>
            </a:r>
            <a:r>
              <a:rPr lang="da-DK" baseline="0" dirty="0"/>
              <a:t>.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047416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34513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16827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19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671984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240115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41449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199036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868995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565480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1AB761-37ED-4EFA-99FC-D346B55B115C}" type="slidenum">
              <a:rPr lang="da-DK" smtClean="0"/>
              <a:t>28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20822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326"/>
            <a:ext cx="12192000" cy="6858001"/>
          </a:xfrm>
          <a:prstGeom prst="rect">
            <a:avLst/>
          </a:prstGeom>
        </p:spPr>
      </p:pic>
      <p:sp>
        <p:nvSpPr>
          <p:cNvPr id="12" name="Text Placeholder 3"/>
          <p:cNvSpPr txBox="1">
            <a:spLocks noGrp="1"/>
          </p:cNvSpPr>
          <p:nvPr>
            <p:ph type="body" idx="4294967295" hasCustomPrompt="1"/>
          </p:nvPr>
        </p:nvSpPr>
        <p:spPr>
          <a:xfrm>
            <a:off x="985842" y="3715426"/>
            <a:ext cx="7161215" cy="1746083"/>
          </a:xfrm>
        </p:spPr>
        <p:txBody>
          <a:bodyPr/>
          <a:lstStyle>
            <a:lvl1pPr>
              <a:lnSpc>
                <a:spcPct val="101000"/>
              </a:lnSpc>
              <a:buNone/>
              <a:defRPr sz="2700">
                <a:solidFill>
                  <a:srgbClr val="FFFFFF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pic>
        <p:nvPicPr>
          <p:cNvPr id="13" name="Au 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2401" y="5997604"/>
            <a:ext cx="557564" cy="55800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4" name="OFF_logo2Computed"/>
          <p:cNvSpPr txBox="1"/>
          <p:nvPr userDrawn="1"/>
        </p:nvSpPr>
        <p:spPr>
          <a:xfrm>
            <a:off x="971998" y="5997604"/>
            <a:ext cx="2350044" cy="67661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583204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600" b="0" i="0" u="none" strike="noStrike" kern="1200" cap="all" spc="40" baseline="0" dirty="0">
                <a:solidFill>
                  <a:srgbClr val="FFFFFF"/>
                </a:solidFill>
                <a:uFillTx/>
                <a:latin typeface="AU Passata Light" pitchFamily="34"/>
              </a:rPr>
              <a:t>Aarhus University School of Engineering</a:t>
            </a:r>
          </a:p>
        </p:txBody>
      </p:sp>
      <p:sp>
        <p:nvSpPr>
          <p:cNvPr id="16" name="OFF_logo1Computed"/>
          <p:cNvSpPr/>
          <p:nvPr userDrawn="1"/>
        </p:nvSpPr>
        <p:spPr>
          <a:xfrm>
            <a:off x="971998" y="5997604"/>
            <a:ext cx="64" cy="451119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none" lIns="0" tIns="309597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000" b="0" i="0" u="none" strike="noStrike" kern="1200" cap="all" spc="0" baseline="0" dirty="0">
                <a:solidFill>
                  <a:srgbClr val="FFFFFF"/>
                </a:solidFill>
                <a:uFillTx/>
                <a:latin typeface="AU Passata" pitchFamily="34"/>
              </a:rPr>
              <a:t>Aarhus University</a:t>
            </a:r>
          </a:p>
        </p:txBody>
      </p:sp>
      <p:pic>
        <p:nvPicPr>
          <p:cNvPr id="18" name="SecondaryLogo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06002" y="5997604"/>
            <a:ext cx="1658236" cy="55800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USR_Title"/>
          <p:cNvSpPr txBox="1"/>
          <p:nvPr userDrawn="1"/>
        </p:nvSpPr>
        <p:spPr>
          <a:xfrm>
            <a:off x="6240048" y="5997604"/>
            <a:ext cx="2982416" cy="6845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75204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700" b="0" i="0" u="none" strike="noStrike" kern="1200" cap="all" spc="0" baseline="0" dirty="0">
                <a:solidFill>
                  <a:srgbClr val="FFFFFF"/>
                </a:solidFill>
                <a:uFillTx/>
                <a:latin typeface="Gill Sans MT" panose="020B0502020104020203" pitchFamily="34" charset="0"/>
              </a:rPr>
              <a:t>Michael Loft</a:t>
            </a:r>
          </a:p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700" b="0" i="0" u="none" strike="noStrike" kern="1200" cap="all" spc="0" baseline="0" dirty="0">
                <a:solidFill>
                  <a:srgbClr val="FFFFFF"/>
                </a:solidFill>
                <a:uFillTx/>
                <a:latin typeface="Gill Sans MT" panose="020B0502020104020203" pitchFamily="34" charset="0"/>
              </a:rPr>
              <a:t>ml@ase.au.dk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985842" y="1904999"/>
            <a:ext cx="9755188" cy="127433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528597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3335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026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4396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18474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3500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80572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39235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3983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88279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1538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16077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784DCDB-1FCD-41A5-91F9-4E118556DFCB}" type="slidenum">
              <a:rPr lang="da-DK" smtClean="0"/>
              <a:t>‹#›</a:t>
            </a:fld>
            <a:endParaRPr lang="da-DK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326"/>
            <a:ext cx="12192000" cy="6858001"/>
          </a:xfrm>
          <a:prstGeom prst="rect">
            <a:avLst/>
          </a:prstGeom>
        </p:spPr>
      </p:pic>
      <p:pic>
        <p:nvPicPr>
          <p:cNvPr id="8" name="Logo whit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8266" y="2864714"/>
            <a:ext cx="2228401" cy="111699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LAN_AUWBreak"/>
          <p:cNvSpPr/>
          <p:nvPr userDrawn="1"/>
        </p:nvSpPr>
        <p:spPr>
          <a:xfrm>
            <a:off x="6022613" y="2804400"/>
            <a:ext cx="64" cy="757571"/>
          </a:xfrm>
          <a:prstGeom prst="rect">
            <a:avLst/>
          </a:prstGeom>
          <a:noFill/>
          <a:ln cap="flat">
            <a:noFill/>
            <a:prstDash val="solid"/>
          </a:ln>
        </p:spPr>
        <p:txBody>
          <a:bodyPr vert="horz" wrap="none" lIns="0" tIns="183602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4000" b="0" i="0" u="none" strike="noStrike" kern="1200" cap="all" spc="0" baseline="0" dirty="0">
                <a:solidFill>
                  <a:srgbClr val="FFFFFF"/>
                </a:solidFill>
                <a:uFillTx/>
                <a:latin typeface="AU Passata" pitchFamily="34"/>
              </a:rPr>
              <a:t>Aarhus University</a:t>
            </a:r>
          </a:p>
        </p:txBody>
      </p:sp>
    </p:spTree>
    <p:extLst>
      <p:ext uri="{BB962C8B-B14F-4D97-AF65-F5344CB8AC3E}">
        <p14:creationId xmlns:p14="http://schemas.microsoft.com/office/powerpoint/2010/main" val="354775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01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da-DK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1965"/>
            <a:ext cx="10515600" cy="4864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a-DK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4DCDB-1FCD-41A5-91F9-4E118556DFCB}" type="slidenum">
              <a:rPr lang="da-DK" smtClean="0"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88037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ill Sans MT" panose="020B05020201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standard/serialization/system-text-json/customize-properties?pivots=dotnet-6-0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learn.microsoft.com/en-us/dotnet/standard/serialization/system-text-json/ignore-properties?pivots=dotnet-6-0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standard/serialization/system-text-json/customize-properties?pivots=dotnet-6-0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stockmedia.cc/computing_technology/slides/DSD_8790.jpg" TargetMode="External"/><Relationship Id="rId2" Type="http://schemas.openxmlformats.org/officeDocument/2006/relationships/hyperlink" Target="https://upload.wikimedia.org/wikipedia/commons/e/eb/Digital-clock-alarm.jpg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jreviews.com/reviews-cta/bonus.png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162269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 err="1"/>
              <a:t>Why</a:t>
            </a:r>
            <a:r>
              <a:rPr lang="da-DK" dirty="0"/>
              <a:t> do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dirty="0" err="1"/>
              <a:t>configuration</a:t>
            </a:r>
            <a:r>
              <a:rPr lang="da-DK" dirty="0"/>
              <a:t> files?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How to </a:t>
            </a:r>
            <a:r>
              <a:rPr lang="da-DK" dirty="0" err="1"/>
              <a:t>read</a:t>
            </a:r>
            <a:r>
              <a:rPr lang="da-DK" dirty="0"/>
              <a:t> and </a:t>
            </a:r>
            <a:r>
              <a:rPr lang="da-DK" dirty="0" err="1"/>
              <a:t>write</a:t>
            </a:r>
            <a:r>
              <a:rPr lang="da-DK" dirty="0"/>
              <a:t> </a:t>
            </a:r>
            <a:r>
              <a:rPr lang="da-DK" dirty="0" err="1"/>
              <a:t>configuration</a:t>
            </a:r>
            <a:r>
              <a:rPr lang="da-DK" dirty="0"/>
              <a:t> files</a:t>
            </a:r>
          </a:p>
          <a:p>
            <a:pPr marL="457200" lvl="1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Default </a:t>
            </a:r>
            <a:r>
              <a:rPr lang="da-DK" dirty="0" err="1"/>
              <a:t>configuration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57163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 do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dirty="0" err="1"/>
              <a:t>configuration</a:t>
            </a:r>
            <a:r>
              <a:rPr lang="da-DK" dirty="0"/>
              <a:t> files?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38885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Configuration – an example</a:t>
            </a:r>
            <a:endParaRPr lang="en-US" sz="1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11965"/>
            <a:ext cx="7202016" cy="4864998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1 application library containing all code, referenced by 1 application project which is </a:t>
            </a:r>
            <a:r>
              <a:rPr lang="en-US" sz="2000" i="1" dirty="0"/>
              <a:t>configured</a:t>
            </a:r>
            <a:r>
              <a:rPr lang="en-US" sz="2000" dirty="0"/>
              <a:t> by 5 individual files</a:t>
            </a:r>
            <a:endParaRPr lang="en-US" sz="1800" dirty="0"/>
          </a:p>
          <a:p>
            <a:pPr lvl="1"/>
            <a:endParaRPr lang="en-US" sz="1400" dirty="0"/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242892"/>
            <a:ext cx="1024268" cy="115230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13445" y="2603167"/>
            <a:ext cx="1704317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400" dirty="0" err="1">
                <a:solidFill>
                  <a:schemeClr val="tx1"/>
                </a:solidFill>
              </a:rPr>
              <a:t>HospitalBed</a:t>
            </a:r>
            <a:r>
              <a:rPr lang="da-DK" sz="1400" dirty="0">
                <a:solidFill>
                  <a:schemeClr val="tx1"/>
                </a:solidFill>
              </a:rPr>
              <a:t>.</a:t>
            </a:r>
          </a:p>
          <a:p>
            <a:pPr algn="ctr"/>
            <a:r>
              <a:rPr lang="da-DK" sz="1400" dirty="0">
                <a:solidFill>
                  <a:schemeClr val="tx1"/>
                </a:solidFill>
              </a:rPr>
              <a:t>Application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333786" y="2852936"/>
            <a:ext cx="576064" cy="21602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8" name="Content Placeholder 2"/>
          <p:cNvSpPr txBox="1">
            <a:spLocks/>
          </p:cNvSpPr>
          <p:nvPr/>
        </p:nvSpPr>
        <p:spPr>
          <a:xfrm>
            <a:off x="1919536" y="1376772"/>
            <a:ext cx="7344816" cy="6480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rgbClr val="294E92"/>
              </a:buClr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sz="1400" dirty="0"/>
          </a:p>
        </p:txBody>
      </p:sp>
      <p:sp>
        <p:nvSpPr>
          <p:cNvPr id="39" name="Rectangle 38"/>
          <p:cNvSpPr/>
          <p:nvPr/>
        </p:nvSpPr>
        <p:spPr>
          <a:xfrm>
            <a:off x="2207569" y="2676054"/>
            <a:ext cx="1224136" cy="6480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400" dirty="0" err="1">
                <a:solidFill>
                  <a:schemeClr val="tx1"/>
                </a:solidFill>
              </a:rPr>
              <a:t>HospitalBed</a:t>
            </a:r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127910" y="2820070"/>
            <a:ext cx="1224136" cy="36004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dirty="0">
                <a:solidFill>
                  <a:schemeClr val="tx1"/>
                </a:solidFill>
              </a:rPr>
              <a:t>HospitalBed.dll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91775" y="2892078"/>
            <a:ext cx="576064" cy="21602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5" name="Right Arrow 44"/>
          <p:cNvSpPr/>
          <p:nvPr/>
        </p:nvSpPr>
        <p:spPr>
          <a:xfrm>
            <a:off x="5594713" y="2868072"/>
            <a:ext cx="668753" cy="21602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3" name="TextBox 52"/>
          <p:cNvSpPr txBox="1"/>
          <p:nvPr/>
        </p:nvSpPr>
        <p:spPr>
          <a:xfrm>
            <a:off x="4086138" y="3975337"/>
            <a:ext cx="1457904" cy="461665"/>
          </a:xfrm>
          <a:prstGeom prst="rect">
            <a:avLst/>
          </a:prstGeom>
          <a:solidFill>
            <a:srgbClr val="FFAE37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Filter: </a:t>
            </a:r>
            <a:r>
              <a:rPr lang="da-DK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Raw</a:t>
            </a:r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Alarm: </a:t>
            </a:r>
            <a:r>
              <a:rPr lang="da-DK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Buzzer</a:t>
            </a:r>
            <a:endParaRPr lang="da-DK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103461" y="4941072"/>
            <a:ext cx="1753280" cy="461665"/>
          </a:xfrm>
          <a:prstGeom prst="rect">
            <a:avLst/>
          </a:prstGeom>
          <a:solidFill>
            <a:srgbClr val="F77643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Filter: 3-sample </a:t>
            </a:r>
          </a:p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Alarm: </a:t>
            </a:r>
            <a:r>
              <a:rPr lang="da-DK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Email</a:t>
            </a:r>
            <a:endParaRPr lang="da-DK" sz="12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304688" y="4922560"/>
            <a:ext cx="1605163" cy="461665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Filter: 3-sample </a:t>
            </a:r>
          </a:p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Alarm: Light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32015" y="5664381"/>
            <a:ext cx="1612918" cy="461665"/>
          </a:xfrm>
          <a:prstGeom prst="rect">
            <a:avLst/>
          </a:prstGeom>
          <a:solidFill>
            <a:srgbClr val="2E4E9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Filter: 3-sample</a:t>
            </a:r>
          </a:p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Alarm: SMS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64728" y="4013558"/>
            <a:ext cx="1167577" cy="46166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Filter: </a:t>
            </a:r>
            <a:r>
              <a:rPr lang="da-DK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Raw</a:t>
            </a:r>
            <a:endParaRPr lang="da-DK" sz="12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da-DK" sz="1200" dirty="0">
                <a:solidFill>
                  <a:schemeClr val="bg1"/>
                </a:solidFill>
                <a:latin typeface="Consolas" panose="020B0609020204030204" pitchFamily="49" charset="0"/>
              </a:rPr>
              <a:t>Alarm: SMS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86138" y="3763360"/>
            <a:ext cx="11112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i="1" dirty="0"/>
              <a:t>Nordjylland.txt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03461" y="4697085"/>
            <a:ext cx="10984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i="1" dirty="0"/>
              <a:t>Midtjylland.txt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9401" y="5326609"/>
            <a:ext cx="1016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i="1" dirty="0"/>
              <a:t>Sydjylland.txt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56494" y="5436007"/>
            <a:ext cx="9173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i="1" dirty="0"/>
              <a:t>Sjælland.txt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66225" y="4437002"/>
            <a:ext cx="12012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i="1"/>
              <a:t>Hovedstaden.txt</a:t>
            </a:r>
            <a:endParaRPr lang="da-DK" sz="1200" i="1" dirty="0"/>
          </a:p>
        </p:txBody>
      </p:sp>
      <p:sp>
        <p:nvSpPr>
          <p:cNvPr id="63" name="Right Arrow 62"/>
          <p:cNvSpPr/>
          <p:nvPr/>
        </p:nvSpPr>
        <p:spPr>
          <a:xfrm rot="18590431">
            <a:off x="5459995" y="3701473"/>
            <a:ext cx="1100755" cy="21602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4" name="Right Arrow 63"/>
          <p:cNvSpPr/>
          <p:nvPr/>
        </p:nvSpPr>
        <p:spPr>
          <a:xfrm rot="18054762">
            <a:off x="5501711" y="4020782"/>
            <a:ext cx="1730902" cy="21602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5" name="Right Arrow 64"/>
          <p:cNvSpPr/>
          <p:nvPr/>
        </p:nvSpPr>
        <p:spPr>
          <a:xfrm rot="17089402">
            <a:off x="5785841" y="4393413"/>
            <a:ext cx="2361943" cy="21602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6" name="Right Arrow 65"/>
          <p:cNvSpPr/>
          <p:nvPr/>
        </p:nvSpPr>
        <p:spPr>
          <a:xfrm rot="16200000">
            <a:off x="6757764" y="3972598"/>
            <a:ext cx="1447237" cy="21602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7" name="Right Arrow 66"/>
          <p:cNvSpPr/>
          <p:nvPr/>
        </p:nvSpPr>
        <p:spPr>
          <a:xfrm rot="15351592">
            <a:off x="7639985" y="3523068"/>
            <a:ext cx="504056" cy="21602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8" name="Rectangle 67"/>
          <p:cNvSpPr/>
          <p:nvPr/>
        </p:nvSpPr>
        <p:spPr>
          <a:xfrm>
            <a:off x="9125874" y="1811958"/>
            <a:ext cx="1224136" cy="360040"/>
          </a:xfrm>
          <a:prstGeom prst="rect">
            <a:avLst/>
          </a:prstGeom>
          <a:solidFill>
            <a:srgbClr val="FFBE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dirty="0"/>
              <a:t>HospitalBed.exe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25874" y="2273317"/>
            <a:ext cx="1224136" cy="360040"/>
          </a:xfrm>
          <a:prstGeom prst="rect">
            <a:avLst/>
          </a:prstGeom>
          <a:solidFill>
            <a:srgbClr val="F776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dirty="0"/>
              <a:t>HospitalBed.exe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25874" y="3198134"/>
            <a:ext cx="1224136" cy="36004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dirty="0"/>
              <a:t>HospitalBed.exe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36492" y="2736775"/>
            <a:ext cx="1224136" cy="36004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dirty="0"/>
              <a:t>HospitalBed.exe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25874" y="3659493"/>
            <a:ext cx="1224136" cy="36004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dirty="0"/>
              <a:t>HospitalBed.exe</a:t>
            </a:r>
          </a:p>
        </p:txBody>
      </p:sp>
    </p:spTree>
    <p:extLst>
      <p:ext uri="{BB962C8B-B14F-4D97-AF65-F5344CB8AC3E}">
        <p14:creationId xmlns:p14="http://schemas.microsoft.com/office/powerpoint/2010/main" val="4195470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8496" y="1289560"/>
            <a:ext cx="7215007" cy="5402597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Or </a:t>
            </a:r>
            <a:r>
              <a:rPr lang="da-DK" dirty="0" err="1"/>
              <a:t>simply</a:t>
            </a:r>
            <a:r>
              <a:rPr lang="da-DK" dirty="0"/>
              <a:t> user </a:t>
            </a:r>
            <a:r>
              <a:rPr lang="da-DK" dirty="0" err="1"/>
              <a:t>settings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300721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Ways</a:t>
            </a:r>
            <a:r>
              <a:rPr lang="da-DK" dirty="0"/>
              <a:t> to </a:t>
            </a:r>
            <a:r>
              <a:rPr lang="da-DK" dirty="0" err="1"/>
              <a:t>work</a:t>
            </a:r>
            <a:r>
              <a:rPr lang="da-DK" dirty="0"/>
              <a:t> with </a:t>
            </a:r>
            <a:r>
              <a:rPr lang="da-DK" dirty="0" err="1"/>
              <a:t>configuration</a:t>
            </a:r>
            <a:r>
              <a:rPr lang="da-DK" dirty="0"/>
              <a:t> in .NET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50065"/>
            <a:ext cx="10515600" cy="486499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a-DK" dirty="0" err="1"/>
              <a:t>System.Configuration</a:t>
            </a:r>
            <a:r>
              <a:rPr lang="da-DK" dirty="0"/>
              <a:t> </a:t>
            </a:r>
          </a:p>
          <a:p>
            <a:pPr marL="457200" lvl="1" indent="0">
              <a:buNone/>
            </a:pPr>
            <a:r>
              <a:rPr lang="da-DK" dirty="0"/>
              <a:t>Read and </a:t>
            </a:r>
            <a:r>
              <a:rPr lang="da-DK" dirty="0" err="1"/>
              <a:t>write</a:t>
            </a:r>
            <a:r>
              <a:rPr lang="da-DK" dirty="0"/>
              <a:t> </a:t>
            </a:r>
            <a:r>
              <a:rPr lang="da-DK" dirty="0" err="1"/>
              <a:t>key</a:t>
            </a:r>
            <a:r>
              <a:rPr lang="da-DK" dirty="0"/>
              <a:t>/</a:t>
            </a:r>
            <a:r>
              <a:rPr lang="da-DK" dirty="0" err="1"/>
              <a:t>value</a:t>
            </a:r>
            <a:r>
              <a:rPr lang="da-DK" dirty="0"/>
              <a:t> pairs in </a:t>
            </a:r>
            <a:r>
              <a:rPr lang="da-DK" dirty="0" err="1"/>
              <a:t>Web.Config</a:t>
            </a:r>
            <a:r>
              <a:rPr lang="da-DK" dirty="0"/>
              <a:t> or </a:t>
            </a:r>
            <a:r>
              <a:rPr lang="da-DK" dirty="0" err="1"/>
              <a:t>App.Config</a:t>
            </a:r>
            <a:r>
              <a:rPr lang="da-DK" dirty="0"/>
              <a:t> (xml files)</a:t>
            </a:r>
          </a:p>
          <a:p>
            <a:pPr marL="457200" lvl="1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XMLSerializer</a:t>
            </a:r>
            <a:endParaRPr lang="da-DK" dirty="0"/>
          </a:p>
          <a:p>
            <a:pPr marL="457200" lvl="1" indent="0">
              <a:buNone/>
            </a:pPr>
            <a:r>
              <a:rPr lang="da-DK" dirty="0" err="1"/>
              <a:t>Serialize</a:t>
            </a:r>
            <a:r>
              <a:rPr lang="da-DK" dirty="0"/>
              <a:t> and de-</a:t>
            </a:r>
            <a:r>
              <a:rPr lang="da-DK" dirty="0" err="1"/>
              <a:t>serialize</a:t>
            </a:r>
            <a:r>
              <a:rPr lang="da-DK" dirty="0"/>
              <a:t> </a:t>
            </a:r>
            <a:r>
              <a:rPr lang="da-DK" dirty="0" err="1"/>
              <a:t>objects</a:t>
            </a:r>
            <a:r>
              <a:rPr lang="da-DK" dirty="0"/>
              <a:t> to XML</a:t>
            </a:r>
          </a:p>
          <a:p>
            <a:pPr marL="457200" lvl="1" indent="0">
              <a:buNone/>
            </a:pPr>
            <a:r>
              <a:rPr lang="da-DK" dirty="0"/>
              <a:t>data is </a:t>
            </a:r>
            <a:r>
              <a:rPr lang="da-DK" dirty="0" err="1"/>
              <a:t>organized</a:t>
            </a:r>
            <a:r>
              <a:rPr lang="da-DK" dirty="0"/>
              <a:t> as a </a:t>
            </a:r>
            <a:r>
              <a:rPr lang="da-DK" dirty="0" err="1"/>
              <a:t>tree</a:t>
            </a: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JsonSerializer</a:t>
            </a:r>
            <a:endParaRPr lang="da-DK" dirty="0"/>
          </a:p>
          <a:p>
            <a:pPr marL="457200" lvl="1" indent="0">
              <a:buNone/>
            </a:pPr>
            <a:r>
              <a:rPr lang="da-DK" dirty="0" err="1"/>
              <a:t>Serialize</a:t>
            </a:r>
            <a:r>
              <a:rPr lang="da-DK" dirty="0"/>
              <a:t> and de-</a:t>
            </a:r>
            <a:r>
              <a:rPr lang="da-DK" dirty="0" err="1"/>
              <a:t>serialize</a:t>
            </a:r>
            <a:r>
              <a:rPr lang="da-DK" dirty="0"/>
              <a:t> </a:t>
            </a:r>
            <a:r>
              <a:rPr lang="da-DK" dirty="0" err="1"/>
              <a:t>objects</a:t>
            </a:r>
            <a:r>
              <a:rPr lang="da-DK" dirty="0"/>
              <a:t> to JSON</a:t>
            </a:r>
          </a:p>
          <a:p>
            <a:pPr marL="457200" lvl="1" indent="0">
              <a:buNone/>
            </a:pPr>
            <a:r>
              <a:rPr lang="da-DK" dirty="0"/>
              <a:t>data is </a:t>
            </a:r>
            <a:r>
              <a:rPr lang="da-DK" dirty="0" err="1"/>
              <a:t>organized</a:t>
            </a:r>
            <a:r>
              <a:rPr lang="da-DK" dirty="0"/>
              <a:t> as </a:t>
            </a:r>
            <a:r>
              <a:rPr lang="da-DK" dirty="0" err="1"/>
              <a:t>objects</a:t>
            </a: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Microsoft.Extensions.Configuration</a:t>
            </a:r>
            <a:endParaRPr lang="da-DK" dirty="0"/>
          </a:p>
          <a:p>
            <a:pPr marL="457200" lvl="1" indent="0">
              <a:buNone/>
            </a:pPr>
            <a:r>
              <a:rPr lang="da-DK" dirty="0"/>
              <a:t>File format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JSON, XML, </a:t>
            </a:r>
            <a:r>
              <a:rPr lang="da-DK" dirty="0" err="1"/>
              <a:t>ini</a:t>
            </a:r>
            <a:r>
              <a:rPr lang="da-DK" dirty="0"/>
              <a:t> or </a:t>
            </a:r>
            <a:r>
              <a:rPr lang="da-DK" dirty="0" err="1"/>
              <a:t>custom</a:t>
            </a:r>
            <a:endParaRPr lang="da-DK" dirty="0"/>
          </a:p>
          <a:p>
            <a:pPr marL="457200" lvl="1" indent="0">
              <a:buNone/>
            </a:pPr>
            <a:r>
              <a:rPr lang="da-DK" dirty="0"/>
              <a:t>all </a:t>
            </a:r>
            <a:r>
              <a:rPr lang="da-DK" dirty="0" err="1"/>
              <a:t>configuration</a:t>
            </a:r>
            <a:r>
              <a:rPr lang="da-DK" dirty="0"/>
              <a:t> is </a:t>
            </a:r>
            <a:r>
              <a:rPr lang="da-DK" dirty="0" err="1"/>
              <a:t>read</a:t>
            </a:r>
            <a:r>
              <a:rPr lang="da-DK" dirty="0"/>
              <a:t> as </a:t>
            </a:r>
            <a:r>
              <a:rPr lang="da-DK" dirty="0" err="1"/>
              <a:t>keys</a:t>
            </a:r>
            <a:r>
              <a:rPr lang="da-DK" dirty="0"/>
              <a:t>/</a:t>
            </a:r>
            <a:r>
              <a:rPr lang="da-DK" dirty="0" err="1"/>
              <a:t>value</a:t>
            </a:r>
            <a:r>
              <a:rPr lang="da-DK" dirty="0"/>
              <a:t> pairs</a:t>
            </a:r>
          </a:p>
          <a:p>
            <a:pPr marL="457200" lvl="1" indent="0">
              <a:buNone/>
            </a:pPr>
            <a:r>
              <a:rPr lang="da-DK" dirty="0" err="1"/>
              <a:t>can’t</a:t>
            </a:r>
            <a:r>
              <a:rPr lang="da-DK" dirty="0"/>
              <a:t> </a:t>
            </a:r>
            <a:r>
              <a:rPr lang="da-DK" dirty="0" err="1"/>
              <a:t>write</a:t>
            </a:r>
            <a:r>
              <a:rPr lang="da-DK" dirty="0"/>
              <a:t> to files... </a:t>
            </a:r>
            <a:r>
              <a:rPr lang="da-DK" dirty="0">
                <a:sym typeface="Wingdings" panose="05000000000000000000" pitchFamily="2" charset="2"/>
              </a:rPr>
              <a:t></a:t>
            </a:r>
            <a:endParaRPr lang="da-DK" dirty="0"/>
          </a:p>
          <a:p>
            <a:pPr marL="457200" lvl="1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87453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Structuring</a:t>
            </a:r>
            <a:r>
              <a:rPr lang="da-DK" dirty="0"/>
              <a:t> the </a:t>
            </a:r>
            <a:r>
              <a:rPr lang="da-DK" dirty="0" err="1"/>
              <a:t>configuration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0" y="1311965"/>
            <a:ext cx="6273800" cy="1344458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INI files:</a:t>
            </a:r>
          </a:p>
          <a:p>
            <a:pPr marL="0" indent="0">
              <a:buNone/>
            </a:pPr>
            <a:r>
              <a:rPr lang="da-DK" dirty="0"/>
              <a:t>Single </a:t>
            </a:r>
            <a:r>
              <a:rPr lang="da-DK" dirty="0" err="1"/>
              <a:t>level</a:t>
            </a:r>
            <a:r>
              <a:rPr lang="da-DK" dirty="0"/>
              <a:t> of </a:t>
            </a:r>
            <a:r>
              <a:rPr lang="da-DK" dirty="0" err="1"/>
              <a:t>grouping</a:t>
            </a:r>
            <a:r>
              <a:rPr lang="da-DK" dirty="0"/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248356" y="2754489"/>
            <a:ext cx="4583288" cy="180622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“Information” :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 : "Configuration Demo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Json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“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},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“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UserSettings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” :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“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TimeFormat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” : 24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248354" y="4670753"/>
            <a:ext cx="4583289" cy="18542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&lt;root&gt;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&lt;Information&gt;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Demo XML&lt;/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&lt;/Information&gt;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UserSettings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TimeFormat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&gt;24&lt;/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TimeFormat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&lt;/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UserSettings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&lt;/root&gt;</a:t>
            </a:r>
          </a:p>
        </p:txBody>
      </p:sp>
      <p:sp>
        <p:nvSpPr>
          <p:cNvPr id="6" name="Rectangle 5"/>
          <p:cNvSpPr/>
          <p:nvPr/>
        </p:nvSpPr>
        <p:spPr>
          <a:xfrm>
            <a:off x="248354" y="1311965"/>
            <a:ext cx="4583287" cy="134445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[Information]</a:t>
            </a:r>
          </a:p>
          <a:p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Configuration Demo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ini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UserSettings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TimeFormat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24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5080000" y="2754489"/>
            <a:ext cx="6273800" cy="13444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a-DK" dirty="0" err="1"/>
              <a:t>Json</a:t>
            </a:r>
            <a:r>
              <a:rPr lang="da-DK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a-DK" dirty="0"/>
              <a:t>A </a:t>
            </a:r>
            <a:r>
              <a:rPr lang="da-DK" dirty="0" err="1"/>
              <a:t>tree</a:t>
            </a:r>
            <a:r>
              <a:rPr lang="da-DK" dirty="0"/>
              <a:t>, in the form of </a:t>
            </a:r>
            <a:r>
              <a:rPr lang="da-DK" dirty="0" err="1"/>
              <a:t>object</a:t>
            </a:r>
            <a:r>
              <a:rPr lang="da-DK" dirty="0"/>
              <a:t> </a:t>
            </a:r>
            <a:r>
              <a:rPr lang="da-DK" dirty="0" err="1"/>
              <a:t>nested</a:t>
            </a:r>
            <a:r>
              <a:rPr lang="da-DK" dirty="0"/>
              <a:t> in </a:t>
            </a:r>
            <a:r>
              <a:rPr lang="da-DK" dirty="0" err="1"/>
              <a:t>objects</a:t>
            </a:r>
            <a:r>
              <a:rPr lang="da-DK" dirty="0"/>
              <a:t>.</a:t>
            </a:r>
          </a:p>
        </p:txBody>
      </p:sp>
      <p:sp>
        <p:nvSpPr>
          <p:cNvPr id="8" name="Content Placeholder 2"/>
          <p:cNvSpPr txBox="1">
            <a:spLocks/>
          </p:cNvSpPr>
          <p:nvPr/>
        </p:nvSpPr>
        <p:spPr>
          <a:xfrm>
            <a:off x="5080000" y="4670753"/>
            <a:ext cx="6273800" cy="13444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ill Sans MT" panose="020B05020201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a-DK" dirty="0"/>
              <a:t>XML: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a-DK" dirty="0"/>
              <a:t>A </a:t>
            </a:r>
            <a:r>
              <a:rPr lang="da-DK" dirty="0" err="1"/>
              <a:t>tree</a:t>
            </a:r>
            <a:r>
              <a:rPr lang="da-DK" dirty="0"/>
              <a:t>, in the form of xml tags </a:t>
            </a:r>
            <a:r>
              <a:rPr lang="da-DK" dirty="0" err="1"/>
              <a:t>inside</a:t>
            </a:r>
            <a:r>
              <a:rPr lang="da-DK" dirty="0"/>
              <a:t> xml tags.</a:t>
            </a:r>
          </a:p>
        </p:txBody>
      </p:sp>
    </p:spTree>
    <p:extLst>
      <p:ext uri="{BB962C8B-B14F-4D97-AF65-F5344CB8AC3E}">
        <p14:creationId xmlns:p14="http://schemas.microsoft.com/office/powerpoint/2010/main" val="952354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JsonSerializer</a:t>
            </a:r>
            <a:endParaRPr lang="da-DK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36375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JsonSerializer</a:t>
            </a:r>
            <a:r>
              <a:rPr lang="da-DK" dirty="0"/>
              <a:t> – Configuration </a:t>
            </a:r>
            <a:r>
              <a:rPr lang="da-DK" dirty="0" err="1"/>
              <a:t>object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 class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TimeFormatEnum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H12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H24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TimeFormatEnum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TimeFormat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 get; set; }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bool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AlarmIsOn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 get; set; }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string Locale { get; set; }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670800" y="4140199"/>
            <a:ext cx="4017836" cy="25718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400" dirty="0">
                <a:solidFill>
                  <a:schemeClr val="tx1"/>
                </a:solidFill>
              </a:rPr>
              <a:t>{</a:t>
            </a:r>
          </a:p>
          <a:p>
            <a:r>
              <a:rPr lang="en-GB" sz="1400" dirty="0">
                <a:solidFill>
                  <a:schemeClr val="tx1"/>
                </a:solidFill>
              </a:rPr>
              <a:t>  "TimeFormat":0,</a:t>
            </a:r>
          </a:p>
          <a:p>
            <a:r>
              <a:rPr lang="en-GB" sz="1400" dirty="0">
                <a:solidFill>
                  <a:schemeClr val="tx1"/>
                </a:solidFill>
              </a:rPr>
              <a:t>  "</a:t>
            </a:r>
            <a:r>
              <a:rPr lang="en-GB" sz="1400" dirty="0" err="1">
                <a:solidFill>
                  <a:schemeClr val="tx1"/>
                </a:solidFill>
              </a:rPr>
              <a:t>AlarmIsOn</a:t>
            </a:r>
            <a:r>
              <a:rPr lang="en-GB" sz="1400" dirty="0">
                <a:solidFill>
                  <a:schemeClr val="tx1"/>
                </a:solidFill>
              </a:rPr>
              <a:t>":false,</a:t>
            </a:r>
          </a:p>
          <a:p>
            <a:r>
              <a:rPr lang="en-GB" sz="1400" dirty="0">
                <a:solidFill>
                  <a:schemeClr val="tx1"/>
                </a:solidFill>
              </a:rPr>
              <a:t>  "</a:t>
            </a:r>
            <a:r>
              <a:rPr lang="en-GB" sz="1400" dirty="0" err="1">
                <a:solidFill>
                  <a:schemeClr val="tx1"/>
                </a:solidFill>
              </a:rPr>
              <a:t>Locale":"DK</a:t>
            </a:r>
            <a:r>
              <a:rPr lang="en-GB" sz="1400" dirty="0">
                <a:solidFill>
                  <a:schemeClr val="tx1"/>
                </a:solidFill>
              </a:rPr>
              <a:t>”</a:t>
            </a:r>
          </a:p>
          <a:p>
            <a:r>
              <a:rPr lang="en-GB" sz="1400" dirty="0">
                <a:solidFill>
                  <a:schemeClr val="tx1"/>
                </a:solidFill>
              </a:rPr>
              <a:t>}</a:t>
            </a:r>
            <a:endParaRPr lang="en-US" sz="11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311965"/>
            <a:ext cx="4017836" cy="268430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 fontScale="77500" lnSpcReduction="20000"/>
          </a:bodyPr>
          <a:lstStyle/>
          <a:p>
            <a:r>
              <a:rPr lang="da-DK" sz="2800" dirty="0">
                <a:latin typeface="Gill Sans MT" panose="020B0502020104020203" pitchFamily="34" charset="0"/>
              </a:rPr>
              <a:t>The </a:t>
            </a:r>
            <a:r>
              <a:rPr lang="da-DK" sz="2800" dirty="0" err="1">
                <a:latin typeface="Gill Sans MT" panose="020B0502020104020203" pitchFamily="34" charset="0"/>
              </a:rPr>
              <a:t>JsonSerializer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can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be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used</a:t>
            </a:r>
            <a:r>
              <a:rPr lang="da-DK" sz="2800" dirty="0">
                <a:latin typeface="Gill Sans MT" panose="020B0502020104020203" pitchFamily="34" charset="0"/>
              </a:rPr>
              <a:t> to save/load an </a:t>
            </a:r>
            <a:r>
              <a:rPr lang="da-DK" sz="2800" dirty="0" err="1">
                <a:latin typeface="Gill Sans MT" panose="020B0502020104020203" pitchFamily="34" charset="0"/>
              </a:rPr>
              <a:t>object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graph</a:t>
            </a:r>
            <a:r>
              <a:rPr lang="da-DK" sz="2800" dirty="0">
                <a:latin typeface="Gill Sans MT" panose="020B0502020104020203" pitchFamily="34" charset="0"/>
              </a:rPr>
              <a:t>.</a:t>
            </a:r>
          </a:p>
          <a:p>
            <a:endParaRPr lang="da-DK" sz="2800" dirty="0">
              <a:latin typeface="Gill Sans MT" panose="020B0502020104020203" pitchFamily="34" charset="0"/>
            </a:endParaRPr>
          </a:p>
          <a:p>
            <a:r>
              <a:rPr lang="da-DK" sz="2800" dirty="0" err="1">
                <a:latin typeface="Gill Sans MT" panose="020B0502020104020203" pitchFamily="34" charset="0"/>
              </a:rPr>
              <a:t>Create</a:t>
            </a:r>
            <a:r>
              <a:rPr lang="da-DK" sz="2800" dirty="0">
                <a:latin typeface="Gill Sans MT" panose="020B0502020104020203" pitchFamily="34" charset="0"/>
              </a:rPr>
              <a:t> an </a:t>
            </a:r>
            <a:r>
              <a:rPr lang="da-DK" sz="2800" dirty="0" err="1">
                <a:latin typeface="Gill Sans MT" panose="020B0502020104020203" pitchFamily="34" charset="0"/>
              </a:rPr>
              <a:t>object</a:t>
            </a:r>
            <a:r>
              <a:rPr lang="da-DK" sz="2800" dirty="0">
                <a:latin typeface="Gill Sans MT" panose="020B0502020104020203" pitchFamily="34" charset="0"/>
              </a:rPr>
              <a:t> with public properties.</a:t>
            </a:r>
          </a:p>
          <a:p>
            <a:endParaRPr lang="da-DK" sz="2800" dirty="0">
              <a:latin typeface="Gill Sans MT" panose="020B0502020104020203" pitchFamily="34" charset="0"/>
            </a:endParaRPr>
          </a:p>
          <a:p>
            <a:r>
              <a:rPr lang="da-DK" sz="2800" dirty="0" err="1">
                <a:latin typeface="Gill Sans MT" panose="020B0502020104020203" pitchFamily="34" charset="0"/>
              </a:rPr>
              <a:t>There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b="1" dirty="0">
                <a:latin typeface="Gill Sans MT" panose="020B0502020104020203" pitchFamily="34" charset="0"/>
              </a:rPr>
              <a:t>must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be</a:t>
            </a:r>
            <a:r>
              <a:rPr lang="da-DK" sz="2800" dirty="0">
                <a:latin typeface="Gill Sans MT" panose="020B0502020104020203" pitchFamily="34" charset="0"/>
              </a:rPr>
              <a:t> a </a:t>
            </a:r>
            <a:r>
              <a:rPr lang="da-DK" sz="2800" dirty="0" err="1">
                <a:latin typeface="Gill Sans MT" panose="020B0502020104020203" pitchFamily="34" charset="0"/>
              </a:rPr>
              <a:t>parameterless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constructor</a:t>
            </a:r>
            <a:r>
              <a:rPr lang="da-DK" sz="2800" dirty="0">
                <a:latin typeface="Gill Sans MT" panose="020B0502020104020203" pitchFamily="34" charset="0"/>
              </a:rPr>
              <a:t>. But </a:t>
            </a:r>
            <a:r>
              <a:rPr lang="da-DK" sz="2800" dirty="0" err="1">
                <a:latin typeface="Gill Sans MT" panose="020B0502020104020203" pitchFamily="34" charset="0"/>
              </a:rPr>
              <a:t>you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can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add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other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constructors</a:t>
            </a:r>
            <a:r>
              <a:rPr lang="da-DK" sz="2800" dirty="0">
                <a:latin typeface="Gill Sans MT" panose="020B05020201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48677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 err="1"/>
              <a:t>JsonSerializer</a:t>
            </a:r>
            <a:r>
              <a:rPr lang="da-DK" sz="3600" dirty="0"/>
              <a:t> – Save the </a:t>
            </a:r>
            <a:r>
              <a:rPr lang="da-DK" sz="3600" dirty="0" err="1"/>
              <a:t>configuration</a:t>
            </a:r>
            <a:endParaRPr lang="da-DK" sz="3600" dirty="0"/>
          </a:p>
        </p:txBody>
      </p:sp>
      <p:sp>
        <p:nvSpPr>
          <p:cNvPr id="4" name="Rectangle 3"/>
          <p:cNvSpPr/>
          <p:nvPr/>
        </p:nvSpPr>
        <p:spPr>
          <a:xfrm>
            <a:off x="503364" y="12865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 void Save(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	string path)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string json = 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JsonSerializer.Serialize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File.WriteAllText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(path, json);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0800" y="4140199"/>
            <a:ext cx="4017836" cy="25718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{</a:t>
            </a:r>
          </a:p>
          <a:p>
            <a:r>
              <a:rPr lang="en-GB" dirty="0">
                <a:solidFill>
                  <a:schemeClr val="tx1"/>
                </a:solidFill>
              </a:rPr>
              <a:t>  "TimeFormat":0,</a:t>
            </a:r>
          </a:p>
          <a:p>
            <a:r>
              <a:rPr lang="en-GB" dirty="0">
                <a:solidFill>
                  <a:schemeClr val="tx1"/>
                </a:solidFill>
              </a:rPr>
              <a:t>  "AlarmIsOn":false,</a:t>
            </a:r>
          </a:p>
          <a:p>
            <a:r>
              <a:rPr lang="en-GB" dirty="0">
                <a:solidFill>
                  <a:schemeClr val="tx1"/>
                </a:solidFill>
              </a:rPr>
              <a:t>  "</a:t>
            </a:r>
            <a:r>
              <a:rPr lang="en-GB" dirty="0" err="1">
                <a:solidFill>
                  <a:schemeClr val="tx1"/>
                </a:solidFill>
              </a:rPr>
              <a:t>Locale":"DK</a:t>
            </a:r>
            <a:r>
              <a:rPr lang="en-GB" dirty="0">
                <a:solidFill>
                  <a:schemeClr val="tx1"/>
                </a:solidFill>
              </a:rPr>
              <a:t>”</a:t>
            </a:r>
          </a:p>
          <a:p>
            <a:r>
              <a:rPr lang="en-GB" dirty="0">
                <a:solidFill>
                  <a:schemeClr val="tx1"/>
                </a:solidFill>
              </a:rPr>
              <a:t>}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311965"/>
            <a:ext cx="4017836" cy="268430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da-DK" sz="2400" dirty="0" err="1">
                <a:latin typeface="Gill Sans MT" panose="020B0502020104020203" pitchFamily="34" charset="0"/>
              </a:rPr>
              <a:t>Use</a:t>
            </a:r>
            <a:r>
              <a:rPr lang="da-DK" sz="2400" dirty="0">
                <a:latin typeface="Gill Sans MT" panose="020B0502020104020203" pitchFamily="34" charset="0"/>
              </a:rPr>
              <a:t> the </a:t>
            </a:r>
            <a:r>
              <a:rPr lang="da-DK" sz="2400" dirty="0" err="1">
                <a:latin typeface="Gill Sans MT" panose="020B0502020104020203" pitchFamily="34" charset="0"/>
              </a:rPr>
              <a:t>JsonSerializer</a:t>
            </a:r>
            <a:r>
              <a:rPr lang="da-DK" sz="2400" dirty="0">
                <a:latin typeface="Gill Sans MT" panose="020B0502020104020203" pitchFamily="34" charset="0"/>
              </a:rPr>
              <a:t> to save the </a:t>
            </a:r>
            <a:r>
              <a:rPr lang="da-DK" sz="2400" dirty="0" err="1">
                <a:latin typeface="Gill Sans MT" panose="020B0502020104020203" pitchFamily="34" charset="0"/>
              </a:rPr>
              <a:t>object</a:t>
            </a:r>
            <a:r>
              <a:rPr lang="da-DK" sz="2400" dirty="0">
                <a:latin typeface="Gill Sans MT" panose="020B0502020104020203" pitchFamily="34" charset="0"/>
              </a:rPr>
              <a:t> as </a:t>
            </a:r>
            <a:r>
              <a:rPr lang="da-DK" sz="2400" dirty="0" err="1">
                <a:latin typeface="Gill Sans MT" panose="020B0502020104020203" pitchFamily="34" charset="0"/>
              </a:rPr>
              <a:t>Json</a:t>
            </a:r>
            <a:r>
              <a:rPr lang="da-DK" sz="2400" dirty="0">
                <a:latin typeface="Gill Sans MT" panose="020B05020201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06195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600" dirty="0" err="1"/>
              <a:t>JsonSerializer</a:t>
            </a:r>
            <a:r>
              <a:rPr lang="da-DK" sz="3600" dirty="0"/>
              <a:t> – Load the </a:t>
            </a:r>
            <a:r>
              <a:rPr lang="da-DK" sz="3600" dirty="0" err="1"/>
              <a:t>configuration</a:t>
            </a:r>
            <a:endParaRPr lang="da-DK" sz="3600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Load(string filename)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string text =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File.ReadAllText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(filename);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JsonSerializer.Deserialize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&gt;(text);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0800" y="4140199"/>
            <a:ext cx="4017836" cy="25718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"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AlarmIsOn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":</a:t>
            </a:r>
            <a:r>
              <a:rPr lang="fr-FR" sz="1400">
                <a:solidFill>
                  <a:schemeClr val="tx1"/>
                </a:solidFill>
                <a:latin typeface="Consolas" panose="020B0609020204030204" pitchFamily="49" charset="0"/>
              </a:rPr>
              <a:t>true,</a:t>
            </a:r>
            <a:endParaRPr lang="fr-FR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"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Locale":"US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",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"TimeFormat":1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311965"/>
            <a:ext cx="4017836" cy="268430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da-DK" sz="2400" dirty="0" err="1">
                <a:latin typeface="Gill Sans MT" panose="020B0502020104020203" pitchFamily="34" charset="0"/>
              </a:rPr>
              <a:t>Use</a:t>
            </a:r>
            <a:r>
              <a:rPr lang="da-DK" sz="2400" dirty="0">
                <a:latin typeface="Gill Sans MT" panose="020B0502020104020203" pitchFamily="34" charset="0"/>
              </a:rPr>
              <a:t> the </a:t>
            </a:r>
            <a:r>
              <a:rPr lang="en-GB" sz="2400" dirty="0" err="1"/>
              <a:t>JsonSerializer</a:t>
            </a:r>
            <a:r>
              <a:rPr lang="da-DK" sz="2400" dirty="0">
                <a:latin typeface="Gill Sans MT" panose="020B0502020104020203" pitchFamily="34" charset="0"/>
              </a:rPr>
              <a:t> to load the </a:t>
            </a:r>
            <a:r>
              <a:rPr lang="da-DK" sz="2400" dirty="0" err="1">
                <a:latin typeface="Gill Sans MT" panose="020B0502020104020203" pitchFamily="34" charset="0"/>
              </a:rPr>
              <a:t>object</a:t>
            </a:r>
            <a:r>
              <a:rPr lang="da-DK" sz="2400" dirty="0">
                <a:latin typeface="Gill Sans MT" panose="020B0502020104020203" pitchFamily="34" charset="0"/>
              </a:rPr>
              <a:t> from </a:t>
            </a:r>
            <a:r>
              <a:rPr lang="da-DK" sz="2400" dirty="0" err="1">
                <a:latin typeface="Gill Sans MT" panose="020B0502020104020203" pitchFamily="34" charset="0"/>
              </a:rPr>
              <a:t>Json</a:t>
            </a:r>
            <a:r>
              <a:rPr lang="da-DK" sz="2400" dirty="0">
                <a:latin typeface="Gill Sans MT" panose="020B05020201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49658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JsonSerializer</a:t>
            </a:r>
            <a:r>
              <a:rPr lang="da-DK" dirty="0"/>
              <a:t> – Lists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364" y="1333040"/>
            <a:ext cx="6996662" cy="537904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 class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NestedConfigurations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List&lt;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 alarms { get; set; }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670800" y="2588964"/>
            <a:ext cx="4017836" cy="412312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[</a:t>
            </a:r>
          </a:p>
          <a:p>
            <a:r>
              <a:rPr lang="en-GB" dirty="0">
                <a:solidFill>
                  <a:schemeClr val="tx1"/>
                </a:solidFill>
              </a:rPr>
              <a:t>  {</a:t>
            </a:r>
          </a:p>
          <a:p>
            <a:r>
              <a:rPr lang="en-GB" dirty="0">
                <a:solidFill>
                  <a:schemeClr val="tx1"/>
                </a:solidFill>
              </a:rPr>
              <a:t>    "TimeFormat":0,</a:t>
            </a:r>
          </a:p>
          <a:p>
            <a:r>
              <a:rPr lang="en-GB" dirty="0">
                <a:solidFill>
                  <a:schemeClr val="tx1"/>
                </a:solidFill>
              </a:rPr>
              <a:t>    "AlarmIsOn":false,</a:t>
            </a:r>
          </a:p>
          <a:p>
            <a:r>
              <a:rPr lang="en-GB" dirty="0">
                <a:solidFill>
                  <a:schemeClr val="tx1"/>
                </a:solidFill>
              </a:rPr>
              <a:t>    "</a:t>
            </a:r>
            <a:r>
              <a:rPr lang="en-GB" dirty="0" err="1">
                <a:solidFill>
                  <a:schemeClr val="tx1"/>
                </a:solidFill>
              </a:rPr>
              <a:t>Locale":"DK</a:t>
            </a:r>
            <a:r>
              <a:rPr lang="en-GB" dirty="0">
                <a:solidFill>
                  <a:schemeClr val="tx1"/>
                </a:solidFill>
              </a:rPr>
              <a:t>”</a:t>
            </a:r>
          </a:p>
          <a:p>
            <a:r>
              <a:rPr lang="en-GB" dirty="0">
                <a:solidFill>
                  <a:schemeClr val="tx1"/>
                </a:solidFill>
              </a:rPr>
              <a:t>  },</a:t>
            </a:r>
          </a:p>
          <a:p>
            <a:r>
              <a:rPr lang="en-GB" dirty="0">
                <a:solidFill>
                  <a:schemeClr val="tx1"/>
                </a:solidFill>
              </a:rPr>
              <a:t>  {</a:t>
            </a:r>
          </a:p>
          <a:p>
            <a:r>
              <a:rPr lang="en-GB" dirty="0">
                <a:solidFill>
                  <a:schemeClr val="tx1"/>
                </a:solidFill>
              </a:rPr>
              <a:t>    "TimeFormat":1,</a:t>
            </a:r>
          </a:p>
          <a:p>
            <a:r>
              <a:rPr lang="en-GB" dirty="0">
                <a:solidFill>
                  <a:schemeClr val="tx1"/>
                </a:solidFill>
              </a:rPr>
              <a:t>    "AlarmIsOn":true,</a:t>
            </a:r>
          </a:p>
          <a:p>
            <a:r>
              <a:rPr lang="en-GB" dirty="0">
                <a:solidFill>
                  <a:schemeClr val="tx1"/>
                </a:solidFill>
              </a:rPr>
              <a:t>    "</a:t>
            </a:r>
            <a:r>
              <a:rPr lang="en-GB" dirty="0" err="1">
                <a:solidFill>
                  <a:schemeClr val="tx1"/>
                </a:solidFill>
              </a:rPr>
              <a:t>Locale":"DK</a:t>
            </a:r>
            <a:r>
              <a:rPr lang="en-GB" dirty="0">
                <a:solidFill>
                  <a:schemeClr val="tx1"/>
                </a:solidFill>
              </a:rPr>
              <a:t>”</a:t>
            </a:r>
          </a:p>
          <a:p>
            <a:r>
              <a:rPr lang="en-GB" dirty="0">
                <a:solidFill>
                  <a:schemeClr val="tx1"/>
                </a:solidFill>
              </a:rPr>
              <a:t>  }</a:t>
            </a:r>
          </a:p>
          <a:p>
            <a:r>
              <a:rPr lang="en-GB" dirty="0">
                <a:solidFill>
                  <a:schemeClr val="tx1"/>
                </a:solidFill>
              </a:rPr>
              <a:t>]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244906"/>
            <a:ext cx="4017836" cy="1178805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da-DK" sz="2800" dirty="0">
                <a:latin typeface="Gill Sans MT" panose="020B0502020104020203" pitchFamily="34" charset="0"/>
              </a:rPr>
              <a:t>Lists </a:t>
            </a:r>
            <a:r>
              <a:rPr lang="da-DK" sz="2800" dirty="0" err="1">
                <a:latin typeface="Gill Sans MT" panose="020B0502020104020203" pitchFamily="34" charset="0"/>
              </a:rPr>
              <a:t>can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also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be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serialized</a:t>
            </a:r>
            <a:r>
              <a:rPr lang="da-DK" sz="2800" dirty="0">
                <a:latin typeface="Gill Sans MT" panose="020B05020201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2318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JsonSerializer</a:t>
            </a:r>
            <a:r>
              <a:rPr lang="da-DK" dirty="0"/>
              <a:t> - </a:t>
            </a:r>
            <a:r>
              <a:rPr lang="da-DK" dirty="0" err="1"/>
              <a:t>Attributes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495663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public class </a:t>
            </a:r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AlarmSettings</a:t>
            </a:r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</a:t>
            </a:r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TimeFormatEnum</a:t>
            </a:r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H12,</a:t>
            </a:r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H24</a:t>
            </a:r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</a:t>
            </a:r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TimeFormatEnum</a:t>
            </a: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TimeFormat</a:t>
            </a: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 get; set; }</a:t>
            </a:r>
          </a:p>
          <a:p>
            <a:endParaRPr lang="en-GB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[</a:t>
            </a:r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JsonPropertyName</a:t>
            </a: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IsOn</a:t>
            </a: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")]</a:t>
            </a:r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bool </a:t>
            </a:r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AlarmIsOn</a:t>
            </a: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 get; set; }</a:t>
            </a:r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string Locale { get; set; }</a:t>
            </a:r>
          </a:p>
          <a:p>
            <a:endParaRPr lang="en-GB" sz="1600" dirty="0"/>
          </a:p>
          <a:p>
            <a:r>
              <a:rPr lang="en-GB" sz="1600" dirty="0"/>
              <a:t>          </a:t>
            </a: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GB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JsonIgnore</a:t>
            </a: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public bool snoozed {get; set; }</a:t>
            </a:r>
            <a:b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311965"/>
            <a:ext cx="4017836" cy="268430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da-DK" sz="2800" dirty="0" err="1">
                <a:latin typeface="Gill Sans MT" panose="020B0502020104020203" pitchFamily="34" charset="0"/>
              </a:rPr>
              <a:t>Attributes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can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be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used</a:t>
            </a:r>
            <a:r>
              <a:rPr lang="da-DK" sz="2800" dirty="0">
                <a:latin typeface="Gill Sans MT" panose="020B0502020104020203" pitchFamily="34" charset="0"/>
              </a:rPr>
              <a:t> to </a:t>
            </a:r>
            <a:r>
              <a:rPr lang="da-DK" sz="2800" dirty="0" err="1">
                <a:latin typeface="Gill Sans MT" panose="020B0502020104020203" pitchFamily="34" charset="0"/>
              </a:rPr>
              <a:t>change</a:t>
            </a:r>
            <a:r>
              <a:rPr lang="da-DK" sz="2800" dirty="0">
                <a:latin typeface="Gill Sans MT" panose="020B0502020104020203" pitchFamily="34" charset="0"/>
              </a:rPr>
              <a:t> the </a:t>
            </a:r>
            <a:r>
              <a:rPr lang="da-DK" sz="2800" dirty="0" err="1">
                <a:latin typeface="Gill Sans MT" panose="020B0502020104020203" pitchFamily="34" charset="0"/>
              </a:rPr>
              <a:t>Json</a:t>
            </a:r>
            <a:r>
              <a:rPr lang="da-DK" sz="2800" dirty="0">
                <a:latin typeface="Gill Sans MT" panose="020B0502020104020203" pitchFamily="34" charset="0"/>
              </a:rPr>
              <a:t> element </a:t>
            </a:r>
            <a:r>
              <a:rPr lang="da-DK" sz="2800" dirty="0" err="1">
                <a:latin typeface="Gill Sans MT" panose="020B0502020104020203" pitchFamily="34" charset="0"/>
              </a:rPr>
              <a:t>name</a:t>
            </a:r>
            <a:r>
              <a:rPr lang="da-DK" sz="2800" dirty="0">
                <a:latin typeface="Gill Sans MT" panose="020B0502020104020203" pitchFamily="34" charset="0"/>
              </a:rPr>
              <a:t> or </a:t>
            </a:r>
            <a:r>
              <a:rPr lang="da-DK" sz="2800" dirty="0" err="1">
                <a:latin typeface="Gill Sans MT" panose="020B0502020104020203" pitchFamily="34" charset="0"/>
              </a:rPr>
              <a:t>ignore</a:t>
            </a:r>
            <a:r>
              <a:rPr lang="da-DK" sz="2800" dirty="0">
                <a:latin typeface="Gill Sans MT" panose="020B0502020104020203" pitchFamily="34" charset="0"/>
              </a:rPr>
              <a:t> a class </a:t>
            </a:r>
            <a:r>
              <a:rPr lang="da-DK" sz="2800" dirty="0" err="1">
                <a:latin typeface="Gill Sans MT" panose="020B0502020104020203" pitchFamily="34" charset="0"/>
              </a:rPr>
              <a:t>field</a:t>
            </a:r>
            <a:r>
              <a:rPr lang="da-DK" sz="2800" dirty="0">
                <a:latin typeface="Gill Sans MT" panose="020B0502020104020203" pitchFamily="34" charset="0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150" y="6494778"/>
            <a:ext cx="9074829" cy="23675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200" dirty="0">
                <a:latin typeface="Gill Sans MT" panose="020B0502020104020203" pitchFamily="34" charset="0"/>
                <a:hlinkClick r:id="rId3"/>
              </a:rPr>
              <a:t>https://learn.microsoft.com/en-us/dotnet/standard/serialization/system-text-json/customize-properties?pivots=dotnet-6-0</a:t>
            </a:r>
            <a:endParaRPr lang="da-DK" sz="1200" dirty="0">
              <a:latin typeface="Gill Sans MT" panose="020B0502020104020203" pitchFamily="34" charset="0"/>
            </a:endParaRPr>
          </a:p>
          <a:p>
            <a:r>
              <a:rPr lang="da-DK" sz="1200" dirty="0">
                <a:latin typeface="Gill Sans MT" panose="020B0502020104020203" pitchFamily="34" charset="0"/>
                <a:hlinkClick r:id="rId4"/>
              </a:rPr>
              <a:t>https://learn.microsoft.com/en-us/dotnet/standard/serialization/system-text-json/ignore-properties?pivots=dotnet-6-0</a:t>
            </a:r>
            <a:endParaRPr lang="da-DK" sz="1200" dirty="0">
              <a:latin typeface="Gill Sans MT" panose="020B0502020104020203" pitchFamily="34" charset="0"/>
            </a:endParaRPr>
          </a:p>
          <a:p>
            <a:endParaRPr lang="da-DK" sz="1200" dirty="0">
              <a:latin typeface="Gill Sans MT" panose="020B05020201040202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CDE260-C006-D248-906A-EB7A6381FE83}"/>
              </a:ext>
            </a:extLst>
          </p:cNvPr>
          <p:cNvSpPr/>
          <p:nvPr/>
        </p:nvSpPr>
        <p:spPr>
          <a:xfrm>
            <a:off x="7670800" y="3695699"/>
            <a:ext cx="4017836" cy="25718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FR" sz="1400">
                <a:solidFill>
                  <a:schemeClr val="tx1"/>
                </a:solidFill>
                <a:latin typeface="Consolas" panose="020B0609020204030204" pitchFamily="49" charset="0"/>
              </a:rPr>
              <a:t> "IsOn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":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"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Locale":"US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",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"TimeFormat":2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232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JsonSerializer</a:t>
            </a:r>
            <a:r>
              <a:rPr lang="da-DK" dirty="0"/>
              <a:t> – </a:t>
            </a:r>
            <a:r>
              <a:rPr lang="da-DK" dirty="0" err="1"/>
              <a:t>Readable</a:t>
            </a:r>
            <a:r>
              <a:rPr lang="da-DK" dirty="0"/>
              <a:t> </a:t>
            </a:r>
            <a:r>
              <a:rPr lang="da-DK" dirty="0" err="1"/>
              <a:t>enums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495663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options = </a:t>
            </a:r>
            <a:r>
              <a:rPr lang="da-DK" sz="1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JsonSerializerOptions</a:t>
            </a:r>
            <a:endParaRPr lang="da-DK" sz="1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{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WriteIndented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400" dirty="0">
                <a:solidFill>
                  <a:srgbClr val="0000FF"/>
                </a:solidFill>
                <a:latin typeface="Cascadia Mono" panose="020B0609020000020004" pitchFamily="49" charset="0"/>
              </a:rPr>
              <a:t>true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,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   Converters =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</a:t>
            </a:r>
            <a:r>
              <a:rPr lang="da-DK" sz="1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JsonStringEnumConverter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JsonNamingPolicy.CamelCase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};</a:t>
            </a:r>
          </a:p>
          <a:p>
            <a:endParaRPr lang="da-DK" sz="1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AlarmSettings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alarmSettings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AlarmSettings</a:t>
            </a:r>
            <a:endParaRPr lang="da-DK" sz="1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{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 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Locale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400" dirty="0">
                <a:solidFill>
                  <a:srgbClr val="A31515"/>
                </a:solidFill>
                <a:latin typeface="Cascadia Mono" panose="020B0609020000020004" pitchFamily="49" charset="0"/>
              </a:rPr>
              <a:t>"DK"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,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 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TimeFormat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= AlarmSettings.TimeFormatEnum.H12,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 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AlarmIsOn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400" dirty="0">
                <a:solidFill>
                  <a:srgbClr val="0000FF"/>
                </a:solidFill>
                <a:latin typeface="Cascadia Mono" panose="020B0609020000020004" pitchFamily="49" charset="0"/>
              </a:rPr>
              <a:t>false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,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};</a:t>
            </a:r>
          </a:p>
          <a:p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</a:p>
          <a:p>
            <a:r>
              <a:rPr lang="da-DK" sz="1400" dirty="0">
                <a:solidFill>
                  <a:srgbClr val="0000FF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filename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a-DK" sz="1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settings.json</a:t>
            </a:r>
            <a:r>
              <a:rPr lang="da-DK" sz="1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a-DK" sz="1400" dirty="0">
                <a:solidFill>
                  <a:srgbClr val="0000FF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jsona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JsonSerializer.Serialize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a-DK" sz="1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alarmSettings</a:t>
            </a:r>
            <a:r>
              <a:rPr lang="da-DK" sz="1400" dirty="0">
                <a:solidFill>
                  <a:srgbClr val="000000"/>
                </a:solidFill>
                <a:latin typeface="Cascadia Mono" panose="020B0609020000020004" pitchFamily="49" charset="0"/>
              </a:rPr>
              <a:t>, options);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311965"/>
            <a:ext cx="4017836" cy="268430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da-DK" sz="2800" dirty="0" err="1">
                <a:latin typeface="Gill Sans MT" panose="020B0502020104020203" pitchFamily="34" charset="0"/>
              </a:rPr>
              <a:t>JsonSerializerOptions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can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be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used</a:t>
            </a:r>
            <a:r>
              <a:rPr lang="da-DK" sz="2800" dirty="0">
                <a:latin typeface="Gill Sans MT" panose="020B0502020104020203" pitchFamily="34" charset="0"/>
              </a:rPr>
              <a:t> to </a:t>
            </a:r>
            <a:r>
              <a:rPr lang="da-DK" sz="2800" dirty="0" err="1">
                <a:latin typeface="Gill Sans MT" panose="020B0502020104020203" pitchFamily="34" charset="0"/>
              </a:rPr>
              <a:t>make</a:t>
            </a:r>
            <a:r>
              <a:rPr lang="da-DK" sz="2800" dirty="0">
                <a:latin typeface="Gill Sans MT" panose="020B0502020104020203" pitchFamily="34" charset="0"/>
              </a:rPr>
              <a:t> the </a:t>
            </a:r>
            <a:r>
              <a:rPr lang="da-DK" sz="2800" dirty="0" err="1">
                <a:latin typeface="Gill Sans MT" panose="020B0502020104020203" pitchFamily="34" charset="0"/>
              </a:rPr>
              <a:t>Json</a:t>
            </a:r>
            <a:r>
              <a:rPr lang="da-DK" sz="2800" dirty="0">
                <a:latin typeface="Gill Sans MT" panose="020B0502020104020203" pitchFamily="34" charset="0"/>
              </a:rPr>
              <a:t> have </a:t>
            </a:r>
            <a:r>
              <a:rPr lang="da-DK" sz="2800" dirty="0" err="1">
                <a:latin typeface="Gill Sans MT" panose="020B0502020104020203" pitchFamily="34" charset="0"/>
              </a:rPr>
              <a:t>readable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enums</a:t>
            </a:r>
            <a:r>
              <a:rPr lang="da-DK" sz="2800" dirty="0">
                <a:latin typeface="Gill Sans MT" panose="020B0502020104020203" pitchFamily="34" charset="0"/>
              </a:rPr>
              <a:t>.</a:t>
            </a:r>
          </a:p>
          <a:p>
            <a:endParaRPr lang="da-DK" sz="2800" dirty="0">
              <a:latin typeface="Gill Sans MT" panose="020B0502020104020203" pitchFamily="34" charset="0"/>
            </a:endParaRPr>
          </a:p>
          <a:p>
            <a:r>
              <a:rPr lang="da-DK" sz="2800" dirty="0">
                <a:latin typeface="Gill Sans MT" panose="020B0502020104020203" pitchFamily="34" charset="0"/>
              </a:rPr>
              <a:t>It </a:t>
            </a:r>
            <a:r>
              <a:rPr lang="da-DK" sz="2800" dirty="0" err="1">
                <a:latin typeface="Gill Sans MT" panose="020B0502020104020203" pitchFamily="34" charset="0"/>
              </a:rPr>
              <a:t>can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also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change</a:t>
            </a:r>
            <a:r>
              <a:rPr lang="da-DK" sz="2800" dirty="0">
                <a:latin typeface="Gill Sans MT" panose="020B0502020104020203" pitchFamily="34" charset="0"/>
              </a:rPr>
              <a:t> the </a:t>
            </a:r>
            <a:r>
              <a:rPr lang="da-DK" sz="2800" dirty="0" err="1">
                <a:latin typeface="Gill Sans MT" panose="020B0502020104020203" pitchFamily="34" charset="0"/>
              </a:rPr>
              <a:t>casing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used</a:t>
            </a:r>
            <a:r>
              <a:rPr lang="da-DK" sz="2800" dirty="0">
                <a:latin typeface="Gill Sans MT" panose="020B0502020104020203" pitchFamily="34" charset="0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150" y="6494778"/>
            <a:ext cx="9074829" cy="23675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200" dirty="0">
                <a:latin typeface="Gill Sans MT" panose="020B0502020104020203" pitchFamily="34" charset="0"/>
                <a:hlinkClick r:id="rId3"/>
              </a:rPr>
              <a:t>https://learn.microsoft.com/en-us/dotnet/standard/serialization/system-text-json/customize-properties?pivots=dotnet-6-0</a:t>
            </a:r>
            <a:endParaRPr lang="da-DK" sz="1200" dirty="0">
              <a:latin typeface="Gill Sans MT" panose="020B05020201040202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CDE260-C006-D248-906A-EB7A6381FE83}"/>
              </a:ext>
            </a:extLst>
          </p:cNvPr>
          <p:cNvSpPr/>
          <p:nvPr/>
        </p:nvSpPr>
        <p:spPr>
          <a:xfrm>
            <a:off x="7670800" y="4124812"/>
            <a:ext cx="4017836" cy="21427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TimeFormat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": "h12",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AlarmIsOn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": false,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"Locale": "DK"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29473791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JsonSerializer</a:t>
            </a:r>
            <a:r>
              <a:rPr lang="da-DK" dirty="0"/>
              <a:t> – </a:t>
            </a:r>
            <a:r>
              <a:rPr lang="da-DK" dirty="0" err="1"/>
              <a:t>Error</a:t>
            </a:r>
            <a:r>
              <a:rPr lang="da-DK" dirty="0"/>
              <a:t>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The </a:t>
            </a:r>
            <a:r>
              <a:rPr lang="da-DK" dirty="0" err="1"/>
              <a:t>JsonSerializer</a:t>
            </a:r>
            <a:r>
              <a:rPr lang="da-DK" dirty="0"/>
              <a:t> </a:t>
            </a:r>
            <a:r>
              <a:rPr lang="da-DK" dirty="0" err="1"/>
              <a:t>throws</a:t>
            </a:r>
            <a:r>
              <a:rPr lang="da-DK" dirty="0"/>
              <a:t> an </a:t>
            </a:r>
            <a:r>
              <a:rPr lang="da-DK" dirty="0" err="1"/>
              <a:t>exception</a:t>
            </a:r>
            <a:r>
              <a:rPr lang="da-DK" dirty="0"/>
              <a:t>, if the </a:t>
            </a:r>
            <a:r>
              <a:rPr lang="da-DK" dirty="0" err="1"/>
              <a:t>Json</a:t>
            </a:r>
            <a:r>
              <a:rPr lang="da-DK" dirty="0"/>
              <a:t> </a:t>
            </a:r>
            <a:r>
              <a:rPr lang="da-DK" dirty="0" err="1"/>
              <a:t>can’t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de-</a:t>
            </a:r>
            <a:r>
              <a:rPr lang="da-DK" dirty="0" err="1"/>
              <a:t>serialized</a:t>
            </a:r>
            <a:r>
              <a:rPr lang="da-DK" dirty="0"/>
              <a:t> to the </a:t>
            </a:r>
            <a:r>
              <a:rPr lang="da-DK" dirty="0" err="1"/>
              <a:t>object</a:t>
            </a:r>
            <a:r>
              <a:rPr lang="da-DK" dirty="0"/>
              <a:t> </a:t>
            </a:r>
            <a:r>
              <a:rPr lang="da-DK" dirty="0" err="1"/>
              <a:t>graph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to handle </a:t>
            </a:r>
            <a:r>
              <a:rPr lang="da-DK" dirty="0" err="1"/>
              <a:t>this</a:t>
            </a:r>
            <a:r>
              <a:rPr lang="da-DK" dirty="0"/>
              <a:t> in the </a:t>
            </a:r>
            <a:r>
              <a:rPr lang="da-DK" dirty="0" err="1"/>
              <a:t>code</a:t>
            </a:r>
            <a:r>
              <a:rPr lang="da-DK" dirty="0"/>
              <a:t>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A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way</a:t>
            </a:r>
            <a:r>
              <a:rPr lang="da-DK" dirty="0"/>
              <a:t>:</a:t>
            </a:r>
          </a:p>
          <a:p>
            <a:pPr marL="457200" lvl="1" indent="0">
              <a:buNone/>
            </a:pPr>
            <a:r>
              <a:rPr lang="da-DK" dirty="0"/>
              <a:t>Provide the user with an </a:t>
            </a:r>
            <a:r>
              <a:rPr lang="da-DK" dirty="0" err="1"/>
              <a:t>error</a:t>
            </a:r>
            <a:r>
              <a:rPr lang="da-DK" dirty="0"/>
              <a:t> </a:t>
            </a:r>
            <a:r>
              <a:rPr lang="da-DK" dirty="0" err="1"/>
              <a:t>message</a:t>
            </a:r>
            <a:r>
              <a:rPr lang="da-DK" dirty="0"/>
              <a:t>, </a:t>
            </a:r>
            <a:r>
              <a:rPr lang="da-DK" dirty="0" err="1"/>
              <a:t>create</a:t>
            </a:r>
            <a:r>
              <a:rPr lang="da-DK" dirty="0"/>
              <a:t> a valid </a:t>
            </a:r>
            <a:r>
              <a:rPr lang="da-DK" dirty="0" err="1"/>
              <a:t>configuration</a:t>
            </a:r>
            <a:r>
              <a:rPr lang="da-DK" dirty="0"/>
              <a:t> file, </a:t>
            </a:r>
            <a:r>
              <a:rPr lang="da-DK" dirty="0" err="1"/>
              <a:t>which</a:t>
            </a:r>
            <a:r>
              <a:rPr lang="da-DK" dirty="0"/>
              <a:t> the user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modify</a:t>
            </a:r>
            <a:r>
              <a:rPr lang="da-DK" dirty="0"/>
              <a:t> and exit the program.</a:t>
            </a:r>
          </a:p>
          <a:p>
            <a:pPr marL="457200" lvl="1" indent="0">
              <a:buNone/>
            </a:pPr>
            <a:endParaRPr lang="da-DK" dirty="0"/>
          </a:p>
          <a:p>
            <a:pPr marL="457200" lvl="1" indent="0">
              <a:buNone/>
            </a:pPr>
            <a:r>
              <a:rPr lang="da-DK" b="1" dirty="0" err="1"/>
              <a:t>Don’t</a:t>
            </a:r>
            <a:r>
              <a:rPr lang="da-DK" dirty="0"/>
              <a:t> </a:t>
            </a:r>
            <a:r>
              <a:rPr lang="da-DK" dirty="0" err="1"/>
              <a:t>overwrite</a:t>
            </a:r>
            <a:r>
              <a:rPr lang="da-DK" dirty="0"/>
              <a:t> the bad </a:t>
            </a:r>
            <a:r>
              <a:rPr lang="da-DK" dirty="0" err="1"/>
              <a:t>configuration</a:t>
            </a:r>
            <a:r>
              <a:rPr lang="da-DK" dirty="0"/>
              <a:t> file.</a:t>
            </a:r>
          </a:p>
          <a:p>
            <a:pPr marL="457200" lvl="1" indent="0">
              <a:buNone/>
            </a:pPr>
            <a:r>
              <a:rPr lang="da-DK" dirty="0" err="1"/>
              <a:t>Create</a:t>
            </a:r>
            <a:r>
              <a:rPr lang="da-DK" dirty="0"/>
              <a:t> </a:t>
            </a:r>
            <a:r>
              <a:rPr lang="da-DK" dirty="0" err="1"/>
              <a:t>something</a:t>
            </a:r>
            <a:r>
              <a:rPr lang="da-DK" dirty="0"/>
              <a:t> like ”</a:t>
            </a:r>
            <a:r>
              <a:rPr lang="da-DK" b="1" dirty="0" err="1"/>
              <a:t>hospitalbed.config.default</a:t>
            </a:r>
            <a:r>
              <a:rPr lang="da-DK" dirty="0"/>
              <a:t>” </a:t>
            </a:r>
            <a:r>
              <a:rPr lang="da-DK" dirty="0" err="1"/>
              <a:t>instead</a:t>
            </a:r>
            <a:r>
              <a:rPr lang="da-DK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77009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XMLSerializer</a:t>
            </a:r>
            <a:endParaRPr lang="da-DK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456921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XMLSerializer</a:t>
            </a:r>
            <a:r>
              <a:rPr lang="da-DK" dirty="0"/>
              <a:t> – Save the </a:t>
            </a:r>
            <a:r>
              <a:rPr lang="da-DK" dirty="0" err="1"/>
              <a:t>configuration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public static void Save(Configuration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		     string path)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fs = new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FileStream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(path,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FileMode.Create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XmlSerializer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serializer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		new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XmlSerializer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typeof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(Configuration));</a:t>
            </a:r>
          </a:p>
          <a:p>
            <a:endParaRPr lang="en-US" sz="16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serializer.Serialize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(fs, configuration);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fs.Close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0800" y="4140199"/>
            <a:ext cx="4017836" cy="25718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&lt;?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version="1.0"?&gt;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&lt;Configuration 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xmlns:xsi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="http://www.w3.org/2001/XMLSchema-instance" 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xmlns:xsd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="http://www.w3.org/2001/XMLSchema"&gt;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TimeFormat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&gt;H24&lt;/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TimeFormat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AlarmIsOn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&gt;false&lt;/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AlarmIsOn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&lt;Locale&gt;US&lt;/Locale&gt;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&lt;/Configuration&gt;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311965"/>
            <a:ext cx="4017836" cy="268430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da-DK" sz="2800" dirty="0" err="1">
                <a:latin typeface="Gill Sans MT" panose="020B0502020104020203" pitchFamily="34" charset="0"/>
              </a:rPr>
              <a:t>Use</a:t>
            </a:r>
            <a:r>
              <a:rPr lang="da-DK" sz="2800" dirty="0">
                <a:latin typeface="Gill Sans MT" panose="020B0502020104020203" pitchFamily="34" charset="0"/>
              </a:rPr>
              <a:t> the </a:t>
            </a:r>
            <a:r>
              <a:rPr lang="da-DK" sz="2800" dirty="0" err="1">
                <a:latin typeface="Gill Sans MT" panose="020B0502020104020203" pitchFamily="34" charset="0"/>
              </a:rPr>
              <a:t>XMLSerializer</a:t>
            </a:r>
            <a:r>
              <a:rPr lang="da-DK" sz="2800" dirty="0">
                <a:latin typeface="Gill Sans MT" panose="020B0502020104020203" pitchFamily="34" charset="0"/>
              </a:rPr>
              <a:t> to save the </a:t>
            </a:r>
            <a:r>
              <a:rPr lang="da-DK" sz="2800" dirty="0" err="1">
                <a:latin typeface="Gill Sans MT" panose="020B0502020104020203" pitchFamily="34" charset="0"/>
              </a:rPr>
              <a:t>object</a:t>
            </a:r>
            <a:r>
              <a:rPr lang="da-DK" sz="2800" dirty="0">
                <a:latin typeface="Gill Sans MT" panose="020B0502020104020203" pitchFamily="34" charset="0"/>
              </a:rPr>
              <a:t> as XML.</a:t>
            </a:r>
          </a:p>
        </p:txBody>
      </p:sp>
    </p:spTree>
    <p:extLst>
      <p:ext uri="{BB962C8B-B14F-4D97-AF65-F5344CB8AC3E}">
        <p14:creationId xmlns:p14="http://schemas.microsoft.com/office/powerpoint/2010/main" val="36760325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XMLSerializer</a:t>
            </a:r>
            <a:r>
              <a:rPr lang="da-DK" dirty="0"/>
              <a:t> – Load the </a:t>
            </a:r>
            <a:r>
              <a:rPr lang="da-DK" dirty="0" err="1"/>
              <a:t>configuration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public static Configuration Load(string path)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FileStream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fs = new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FileStream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(path,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			     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FileMode.Open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XmlSerializer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serializer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new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XmlSerializer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typeof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(Configuration));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Configuration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(Configuration)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serializer.Deserialize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(fs);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fs.close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return configuration;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0800" y="4140199"/>
            <a:ext cx="4017836" cy="25718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&lt;?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version="1.0"?&gt;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&lt;Configuration 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xmlns:xsi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="http://www.w3.org/2001/XMLSchema-instance" 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xmlns:xsd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="http://www.w3.org/2001/XMLSchema"&gt;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TimeFormat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&gt;H24&lt;/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TimeFormat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AlarmIsOn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&gt;false&lt;/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AlarmIsOn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&lt;Locale&gt;US&lt;/Locale&gt;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&lt;/Configuration&gt;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311965"/>
            <a:ext cx="4017836" cy="268430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da-DK" sz="2800" dirty="0" err="1">
                <a:latin typeface="Gill Sans MT" panose="020B0502020104020203" pitchFamily="34" charset="0"/>
              </a:rPr>
              <a:t>Use</a:t>
            </a:r>
            <a:r>
              <a:rPr lang="da-DK" sz="2800" dirty="0">
                <a:latin typeface="Gill Sans MT" panose="020B0502020104020203" pitchFamily="34" charset="0"/>
              </a:rPr>
              <a:t> the </a:t>
            </a:r>
            <a:r>
              <a:rPr lang="da-DK" sz="2800" dirty="0" err="1">
                <a:latin typeface="Gill Sans MT" panose="020B0502020104020203" pitchFamily="34" charset="0"/>
              </a:rPr>
              <a:t>XMLSerializer</a:t>
            </a:r>
            <a:r>
              <a:rPr lang="da-DK" sz="2800" dirty="0">
                <a:latin typeface="Gill Sans MT" panose="020B0502020104020203" pitchFamily="34" charset="0"/>
              </a:rPr>
              <a:t> to load the </a:t>
            </a:r>
            <a:r>
              <a:rPr lang="da-DK" sz="2800" dirty="0" err="1">
                <a:latin typeface="Gill Sans MT" panose="020B0502020104020203" pitchFamily="34" charset="0"/>
              </a:rPr>
              <a:t>object</a:t>
            </a:r>
            <a:r>
              <a:rPr lang="da-DK" sz="2800" dirty="0">
                <a:latin typeface="Gill Sans MT" panose="020B0502020104020203" pitchFamily="34" charset="0"/>
              </a:rPr>
              <a:t> from XML.</a:t>
            </a:r>
          </a:p>
        </p:txBody>
      </p:sp>
    </p:spTree>
    <p:extLst>
      <p:ext uri="{BB962C8B-B14F-4D97-AF65-F5344CB8AC3E}">
        <p14:creationId xmlns:p14="http://schemas.microsoft.com/office/powerpoint/2010/main" val="18171975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XMLSerializer</a:t>
            </a:r>
            <a:r>
              <a:rPr lang="da-DK" dirty="0"/>
              <a:t> – Lists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364" y="1333040"/>
            <a:ext cx="6996662" cy="537904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public class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NestedConfiguration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public List&lt;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AlarmConfiguration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&gt; Alarms { get; set; }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= new List&lt;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AlarmConfiguration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&gt;();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public class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AlarmConfiguration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public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AlarmConfiguration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public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Hour { get; set; }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public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Minute { get; set; }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public bool Active { get; set; }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0800" y="2588964"/>
            <a:ext cx="4017836" cy="412312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&lt;?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version="1.0"?&gt;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NestedConfiguration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xmlns:xsi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="http://www.w3.org/2001/XMLSchema-instance" 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xmlns:xsd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="http://www.w3.org/2001/XMLSchema"&gt;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Alarms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AlarmConfiguration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Hour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&gt;6&lt;/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Hour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&lt;Minute&gt;20&lt;/Minute&gt;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&lt;Active&gt;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&lt;/Active&gt;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AlarmConfiguration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AlarmConfiguration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&lt;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Hour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&gt;6&lt;/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Hour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&lt;Minute&gt;30&lt;/Minute&gt;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&lt;Active&gt;false&lt;/Active&gt;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  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AlarmConfiguration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Alarms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&lt;/</a:t>
            </a:r>
            <a:r>
              <a:rPr lang="fr-FR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NestedConfiguration</a:t>
            </a:r>
            <a:r>
              <a:rPr lang="fr-FR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244906"/>
            <a:ext cx="4017836" cy="1178805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da-DK" sz="2800" dirty="0">
                <a:latin typeface="Gill Sans MT" panose="020B0502020104020203" pitchFamily="34" charset="0"/>
              </a:rPr>
              <a:t>Lists </a:t>
            </a:r>
            <a:r>
              <a:rPr lang="da-DK" sz="2800" dirty="0" err="1">
                <a:latin typeface="Gill Sans MT" panose="020B0502020104020203" pitchFamily="34" charset="0"/>
              </a:rPr>
              <a:t>can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also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be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serialized</a:t>
            </a:r>
            <a:r>
              <a:rPr lang="da-DK" sz="2800" dirty="0">
                <a:latin typeface="Gill Sans MT" panose="020B05020201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00729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XMLSerializer</a:t>
            </a:r>
            <a:r>
              <a:rPr lang="da-DK" dirty="0"/>
              <a:t> - </a:t>
            </a:r>
            <a:r>
              <a:rPr lang="da-DK" dirty="0" err="1"/>
              <a:t>Attributes</a:t>
            </a:r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495663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public class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TaxRates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{ 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[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XmlElement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ElementName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"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TaxRate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")] 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public decimal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ReturnTaxRate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;  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// The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XmlSerializer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ignores this field.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[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XmlIgnore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public string Comment;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670800" y="1311965"/>
            <a:ext cx="4017836" cy="2684302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da-DK" sz="2800" dirty="0" err="1">
                <a:latin typeface="Gill Sans MT" panose="020B0502020104020203" pitchFamily="34" charset="0"/>
              </a:rPr>
              <a:t>Attributes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can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be</a:t>
            </a:r>
            <a:r>
              <a:rPr lang="da-DK" sz="2800" dirty="0">
                <a:latin typeface="Gill Sans MT" panose="020B0502020104020203" pitchFamily="34" charset="0"/>
              </a:rPr>
              <a:t> </a:t>
            </a:r>
            <a:r>
              <a:rPr lang="da-DK" sz="2800" dirty="0" err="1">
                <a:latin typeface="Gill Sans MT" panose="020B0502020104020203" pitchFamily="34" charset="0"/>
              </a:rPr>
              <a:t>used</a:t>
            </a:r>
            <a:r>
              <a:rPr lang="da-DK" sz="2800" dirty="0">
                <a:latin typeface="Gill Sans MT" panose="020B0502020104020203" pitchFamily="34" charset="0"/>
              </a:rPr>
              <a:t> to </a:t>
            </a:r>
            <a:r>
              <a:rPr lang="da-DK" sz="2800" dirty="0" err="1">
                <a:latin typeface="Gill Sans MT" panose="020B0502020104020203" pitchFamily="34" charset="0"/>
              </a:rPr>
              <a:t>change</a:t>
            </a:r>
            <a:r>
              <a:rPr lang="da-DK" sz="2800" dirty="0">
                <a:latin typeface="Gill Sans MT" panose="020B0502020104020203" pitchFamily="34" charset="0"/>
              </a:rPr>
              <a:t> the XML element </a:t>
            </a:r>
            <a:r>
              <a:rPr lang="da-DK" sz="2800" dirty="0" err="1">
                <a:latin typeface="Gill Sans MT" panose="020B0502020104020203" pitchFamily="34" charset="0"/>
              </a:rPr>
              <a:t>name</a:t>
            </a:r>
            <a:r>
              <a:rPr lang="da-DK" sz="2800" dirty="0">
                <a:latin typeface="Gill Sans MT" panose="020B0502020104020203" pitchFamily="34" charset="0"/>
              </a:rPr>
              <a:t> or </a:t>
            </a:r>
            <a:r>
              <a:rPr lang="da-DK" sz="2800" dirty="0" err="1">
                <a:latin typeface="Gill Sans MT" panose="020B0502020104020203" pitchFamily="34" charset="0"/>
              </a:rPr>
              <a:t>ignore</a:t>
            </a:r>
            <a:r>
              <a:rPr lang="da-DK" sz="2800" dirty="0">
                <a:latin typeface="Gill Sans MT" panose="020B0502020104020203" pitchFamily="34" charset="0"/>
              </a:rPr>
              <a:t> a class </a:t>
            </a:r>
            <a:r>
              <a:rPr lang="da-DK" sz="2800" dirty="0" err="1">
                <a:latin typeface="Gill Sans MT" panose="020B0502020104020203" pitchFamily="34" charset="0"/>
              </a:rPr>
              <a:t>field</a:t>
            </a:r>
            <a:r>
              <a:rPr lang="da-DK" sz="2800" dirty="0">
                <a:latin typeface="Gill Sans MT" panose="020B0502020104020203" pitchFamily="34" charset="0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151" y="6494778"/>
            <a:ext cx="6929610" cy="23675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r>
              <a:rPr lang="da-DK" sz="1200" dirty="0">
                <a:latin typeface="Gill Sans MT" panose="020B0502020104020203" pitchFamily="34" charset="0"/>
              </a:rPr>
              <a:t>https://docs.microsoft.com/en-us/dotnet/standard/serialization/controlling-xml-serialization-using-attributes</a:t>
            </a:r>
          </a:p>
        </p:txBody>
      </p:sp>
    </p:spTree>
    <p:extLst>
      <p:ext uri="{BB962C8B-B14F-4D97-AF65-F5344CB8AC3E}">
        <p14:creationId xmlns:p14="http://schemas.microsoft.com/office/powerpoint/2010/main" val="5275400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 contrast="-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6465" y="-758636"/>
            <a:ext cx="12604930" cy="8375272"/>
          </a:xfrm>
          <a:prstGeom prst="rect">
            <a:avLst/>
          </a:prstGeom>
          <a:solidFill>
            <a:schemeClr val="tx1">
              <a:alpha val="43000"/>
            </a:schemeClr>
          </a:solidFill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Your</a:t>
            </a:r>
            <a:r>
              <a:rPr lang="da-DK" sz="5400" dirty="0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</a:t>
            </a:r>
            <a:r>
              <a:rPr lang="da-DK" sz="5400" dirty="0" err="1">
                <a:ln w="127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turn</a:t>
            </a:r>
            <a:endParaRPr lang="da-DK" sz="5400" dirty="0">
              <a:ln w="127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Solve</a:t>
            </a:r>
            <a:r>
              <a:rPr lang="da-DK" sz="6000" b="1" dirty="0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 the </a:t>
            </a:r>
            <a:r>
              <a:rPr lang="da-DK" sz="6000" b="1" dirty="0" err="1">
                <a:ln w="2540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exercises</a:t>
            </a:r>
            <a:endParaRPr lang="da-DK" sz="6000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da-DK" sz="6000" b="1" dirty="0">
              <a:ln w="25400"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91890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Extra </a:t>
            </a:r>
            <a:r>
              <a:rPr lang="da-DK" dirty="0" err="1"/>
              <a:t>stuff</a:t>
            </a:r>
            <a:r>
              <a:rPr lang="da-DK" dirty="0"/>
              <a:t> – just for </a:t>
            </a:r>
            <a:r>
              <a:rPr lang="da-DK" dirty="0" err="1"/>
              <a:t>informational</a:t>
            </a:r>
            <a:r>
              <a:rPr lang="da-DK" dirty="0"/>
              <a:t> purpose!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764" y="2022959"/>
            <a:ext cx="10124472" cy="3442320"/>
          </a:xfrm>
        </p:spPr>
      </p:pic>
    </p:spTree>
    <p:extLst>
      <p:ext uri="{BB962C8B-B14F-4D97-AF65-F5344CB8AC3E}">
        <p14:creationId xmlns:p14="http://schemas.microsoft.com/office/powerpoint/2010/main" val="35689124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sz="5400" dirty="0" err="1"/>
              <a:t>Microsoft.Extensions.Configuration</a:t>
            </a:r>
            <a:endParaRPr lang="da-DK" sz="54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16961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Microsoft.Extensions.Configuration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3363" y="1311965"/>
            <a:ext cx="10850436" cy="5958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dirty="0"/>
              <a:t>Installation </a:t>
            </a:r>
            <a:r>
              <a:rPr lang="da-DK" dirty="0" err="1"/>
              <a:t>through</a:t>
            </a:r>
            <a:r>
              <a:rPr lang="da-DK" dirty="0"/>
              <a:t> </a:t>
            </a:r>
            <a:r>
              <a:rPr lang="da-DK" dirty="0" err="1"/>
              <a:t>NuGet</a:t>
            </a:r>
            <a:r>
              <a:rPr lang="da-DK" dirty="0"/>
              <a:t> </a:t>
            </a:r>
            <a:r>
              <a:rPr lang="da-DK" dirty="0" err="1"/>
              <a:t>package</a:t>
            </a:r>
            <a:r>
              <a:rPr lang="da-DK" dirty="0"/>
              <a:t> manager.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363" y="2009423"/>
            <a:ext cx="11293526" cy="282222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Install-Package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Microsoft.Extensions.Configuration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-Version 5.0.0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Install-Package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Microsoft.Extensions.Configuration.FileExtensions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-Version 5.0.0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Install-Package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Microsoft.Extensions.Configuration.Json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-Version 5.0.0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Install-Package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Microsoft.Extensions.Configuration.Xml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-Version 5.0.0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Install-Package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Microsoft.Extensions.Configuration.Ini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-Version 5.0.0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Install-Package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Microsoft.Extensions.Configuration.Binder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-Version 5.0.0</a:t>
            </a:r>
          </a:p>
        </p:txBody>
      </p:sp>
    </p:spTree>
    <p:extLst>
      <p:ext uri="{BB962C8B-B14F-4D97-AF65-F5344CB8AC3E}">
        <p14:creationId xmlns:p14="http://schemas.microsoft.com/office/powerpoint/2010/main" val="272805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Key/Value </a:t>
            </a:r>
            <a:r>
              <a:rPr lang="da-DK" dirty="0" err="1"/>
              <a:t>access</a:t>
            </a:r>
            <a:endParaRPr lang="da-D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11965"/>
            <a:ext cx="10515600" cy="1352213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4" name="Rectangle 3"/>
          <p:cNvSpPr/>
          <p:nvPr/>
        </p:nvSpPr>
        <p:spPr>
          <a:xfrm>
            <a:off x="670782" y="3420533"/>
            <a:ext cx="10850436" cy="2133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applicationName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= configuration["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"];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("Application name is {0}",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</a:rPr>
              <a:t>applicationName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1439370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Reading a JSON 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JsonConfiguration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ReadConfiguration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configurationBuilder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new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ConfigurationBuilder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currentDirectory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Directory.GetCurrentDirectory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string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configPath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Path.Combine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currentDirectory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      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ConfigurationDemo.json.config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IConfigurationRoot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configuration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configurationBuilder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.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AddJsonFile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configPath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, optional: false)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.Build();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applicationName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configuration["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"];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("Application name is {0}", 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applicationName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0800" y="1311965"/>
            <a:ext cx="4017836" cy="5400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 : "Configuration Demo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Json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583951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Reading an XML 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XmlConfiguration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ReadConfiguration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configurationBuilder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new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ConfigurationBuilder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currentDirectory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Directory.GetCurrentDirectory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string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configPath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Path.Combine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currentDirectory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      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ConfigurationDemo.xml.config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IConfigurationRoot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configuration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configurationBuilder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.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AddXmlFile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configPath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, optional: false)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.Build();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applicationName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configuration["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"];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("Application name is {0}", 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applicationName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0800" y="1311965"/>
            <a:ext cx="4017836" cy="5400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&lt;root&gt;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&lt;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Demo XML&lt;/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&lt;/root&gt;</a:t>
            </a:r>
          </a:p>
        </p:txBody>
      </p:sp>
    </p:spTree>
    <p:extLst>
      <p:ext uri="{BB962C8B-B14F-4D97-AF65-F5344CB8AC3E}">
        <p14:creationId xmlns:p14="http://schemas.microsoft.com/office/powerpoint/2010/main" val="51836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Reading an INI 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3364" y="1311965"/>
            <a:ext cx="6996662" cy="540012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class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IniConfiguration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public void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ReadConfiguration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configurationBuilder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new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ConfigurationBuilder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currentDirectory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Directory.GetCurrentDirectory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string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configPath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Path.Combine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currentDirectory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      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ConfigurationDemo.ini.config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IConfigurationRoot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configuration =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configurationBuilder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.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AddIniFile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configPath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, optional: false)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.Build();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var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applicationName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configuration["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"];</a:t>
            </a:r>
          </a:p>
          <a:p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("Application name is {0}",                        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                      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applicationName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0800" y="1311965"/>
            <a:ext cx="4017836" cy="5400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AppName</a:t>
            </a:r>
            <a:r>
              <a:rPr lang="en-US" sz="1400" dirty="0">
                <a:solidFill>
                  <a:schemeClr val="tx1"/>
                </a:solidFill>
                <a:latin typeface="Consolas" panose="020B0609020204030204" pitchFamily="49" charset="0"/>
              </a:rPr>
              <a:t> = Configuration Demo </a:t>
            </a:r>
            <a:r>
              <a:rPr lang="en-US" sz="1400" dirty="0" err="1">
                <a:solidFill>
                  <a:schemeClr val="tx1"/>
                </a:solidFill>
                <a:latin typeface="Consolas" panose="020B0609020204030204" pitchFamily="49" charset="0"/>
              </a:rPr>
              <a:t>ini</a:t>
            </a:r>
            <a:endParaRPr lang="en-US" sz="14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12870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References and image </a:t>
            </a:r>
            <a:r>
              <a:rPr lang="da-DK" dirty="0" err="1"/>
              <a:t>sources</a:t>
            </a:r>
            <a:endParaRPr lang="da-DK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a-DK" sz="1800" dirty="0"/>
              <a:t>Images:</a:t>
            </a:r>
          </a:p>
          <a:p>
            <a:pPr marL="0" indent="0">
              <a:buNone/>
            </a:pPr>
            <a:r>
              <a:rPr lang="da-DK" sz="1800" dirty="0"/>
              <a:t>Alarm </a:t>
            </a:r>
            <a:r>
              <a:rPr lang="da-DK" sz="1800" dirty="0" err="1"/>
              <a:t>clock</a:t>
            </a:r>
            <a:r>
              <a:rPr lang="da-DK" sz="1800" dirty="0"/>
              <a:t>: </a:t>
            </a:r>
            <a:r>
              <a:rPr lang="da-DK" sz="1800" dirty="0">
                <a:hlinkClick r:id="rId2"/>
              </a:rPr>
              <a:t>https://upload.wikimedia.org/wikipedia/commons/e/eb/Digital-clock-alarm.jpg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Computer keyboard: </a:t>
            </a:r>
            <a:r>
              <a:rPr lang="da-DK" sz="1800" dirty="0">
                <a:hlinkClick r:id="rId3"/>
              </a:rPr>
              <a:t>http://stockmedia.cc/computing_technology/slides/DSD_8790.jpg</a:t>
            </a:r>
            <a:endParaRPr lang="da-DK" sz="1800" dirty="0"/>
          </a:p>
          <a:p>
            <a:pPr marL="0" indent="0">
              <a:buNone/>
            </a:pPr>
            <a:r>
              <a:rPr lang="da-DK" sz="1800" dirty="0"/>
              <a:t>Bonus: </a:t>
            </a:r>
            <a:r>
              <a:rPr lang="da-DK" sz="1800" dirty="0">
                <a:hlinkClick r:id="rId4"/>
              </a:rPr>
              <a:t>http://wjreviews.com/reviews-cta/bonus.png</a:t>
            </a:r>
            <a:endParaRPr lang="da-DK" sz="1800" dirty="0"/>
          </a:p>
          <a:p>
            <a:pPr marL="0" indent="0">
              <a:buNone/>
            </a:pP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369278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08375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>
          <a:defRPr dirty="0" smtClean="0">
            <a:latin typeface="Gill Sans MT" panose="020B0502020104020203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6836BC33D1E5846BD77C269C61838DB" ma:contentTypeVersion="17" ma:contentTypeDescription="Opret et nyt dokument." ma:contentTypeScope="" ma:versionID="c7a7960aa9cabac888865345eee70e88">
  <xsd:schema xmlns:xsd="http://www.w3.org/2001/XMLSchema" xmlns:xs="http://www.w3.org/2001/XMLSchema" xmlns:p="http://schemas.microsoft.com/office/2006/metadata/properties" xmlns:ns3="f659a008-7c21-4ee3-a745-e38581e13101" xmlns:ns4="e064323b-8959-406a-a3e9-bb6e93638192" targetNamespace="http://schemas.microsoft.com/office/2006/metadata/properties" ma:root="true" ma:fieldsID="f9c7cf85a0d1b0fe91c21a710a1f72dc" ns3:_="" ns4:_="">
    <xsd:import namespace="f659a008-7c21-4ee3-a745-e38581e13101"/>
    <xsd:import namespace="e064323b-8959-406a-a3e9-bb6e9363819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9a008-7c21-4ee3-a745-e38581e1310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Length (seconds)" ma:internalName="MediaLengthInSeconds" ma:readOnly="true">
      <xsd:simpleType>
        <xsd:restriction base="dms:Unknown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64323b-8959-406a-a3e9-bb6e93638192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Hashværdi for deling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659a008-7c21-4ee3-a745-e38581e13101" xsi:nil="true"/>
  </documentManagement>
</p:properties>
</file>

<file path=customXml/itemProps1.xml><?xml version="1.0" encoding="utf-8"?>
<ds:datastoreItem xmlns:ds="http://schemas.openxmlformats.org/officeDocument/2006/customXml" ds:itemID="{AE1F6106-C022-4D28-91C5-A026916BD28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F923E47-01FF-4E6D-83EE-B5ECC74669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59a008-7c21-4ee3-a745-e38581e13101"/>
    <ds:schemaRef ds:uri="e064323b-8959-406a-a3e9-bb6e936381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D22FC85-A980-4DCC-9AB4-AACD148128F1}">
  <ds:schemaRefs>
    <ds:schemaRef ds:uri="http://schemas.microsoft.com/office/2006/documentManagement/types"/>
    <ds:schemaRef ds:uri="http://schemas.microsoft.com/office/infopath/2007/PartnerControls"/>
    <ds:schemaRef ds:uri="f659a008-7c21-4ee3-a745-e38581e13101"/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e064323b-8959-406a-a3e9-bb6e93638192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14386</TotalTime>
  <Words>2382</Words>
  <Application>Microsoft Office PowerPoint</Application>
  <PresentationFormat>Widescreen</PresentationFormat>
  <Paragraphs>408</Paragraphs>
  <Slides>30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Arial</vt:lpstr>
      <vt:lpstr>AU Passata</vt:lpstr>
      <vt:lpstr>AU Passata Light</vt:lpstr>
      <vt:lpstr>Calibri</vt:lpstr>
      <vt:lpstr>Cascadia Mono</vt:lpstr>
      <vt:lpstr>Consolas</vt:lpstr>
      <vt:lpstr>Gill Sans MT</vt:lpstr>
      <vt:lpstr>Wingdings</vt:lpstr>
      <vt:lpstr>Office Theme</vt:lpstr>
      <vt:lpstr>PowerPoint Presentation</vt:lpstr>
      <vt:lpstr>Agenda</vt:lpstr>
      <vt:lpstr>Why do we need configuration files?</vt:lpstr>
      <vt:lpstr>Configuration – an example</vt:lpstr>
      <vt:lpstr>Or simply user settings</vt:lpstr>
      <vt:lpstr>Ways to work with configuration in .NET</vt:lpstr>
      <vt:lpstr>Structuring the configuration</vt:lpstr>
      <vt:lpstr>JsonSerializer</vt:lpstr>
      <vt:lpstr>JsonSerializer – Configuration object</vt:lpstr>
      <vt:lpstr>JsonSerializer – Save the configuration</vt:lpstr>
      <vt:lpstr>JsonSerializer – Load the configuration</vt:lpstr>
      <vt:lpstr>JsonSerializer – Lists</vt:lpstr>
      <vt:lpstr>JsonSerializer - Attributes</vt:lpstr>
      <vt:lpstr>JsonSerializer – Readable enums</vt:lpstr>
      <vt:lpstr>JsonSerializer – Error handling</vt:lpstr>
      <vt:lpstr>XMLSerializer</vt:lpstr>
      <vt:lpstr>XMLSerializer – Save the configuration</vt:lpstr>
      <vt:lpstr>XMLSerializer – Load the configuration</vt:lpstr>
      <vt:lpstr>XMLSerializer – Lists</vt:lpstr>
      <vt:lpstr>XMLSerializer - Attributes</vt:lpstr>
      <vt:lpstr>Your turn</vt:lpstr>
      <vt:lpstr>Extra stuff – just for informational purpose!</vt:lpstr>
      <vt:lpstr>Microsoft.Extensions.Configuration</vt:lpstr>
      <vt:lpstr>Microsoft.Extensions.Configuration</vt:lpstr>
      <vt:lpstr>Key/Value access</vt:lpstr>
      <vt:lpstr>Reading a JSON file</vt:lpstr>
      <vt:lpstr>Reading an XML file</vt:lpstr>
      <vt:lpstr>Reading an INI file</vt:lpstr>
      <vt:lpstr>References and image sources</vt:lpstr>
      <vt:lpstr>PowerPoint Presentation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 Sørensen Loft</dc:creator>
  <cp:lastModifiedBy>Michael Sørensen Loft</cp:lastModifiedBy>
  <cp:revision>229</cp:revision>
  <dcterms:created xsi:type="dcterms:W3CDTF">2017-09-19T09:05:55Z</dcterms:created>
  <dcterms:modified xsi:type="dcterms:W3CDTF">2025-11-06T12:09:53Z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0x01010056836BC33D1E5846BD77C269C61838DB</vt:lpwstr>
  </property>
</Properties>
</file>